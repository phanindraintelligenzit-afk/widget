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17_1E328B95.xml" ContentType="application/vnd.ms-powerpoint.comments+xml"/>
  <Override PartName="/ppt/notesSlides/notesSlide3.xml" ContentType="application/vnd.openxmlformats-officedocument.presentationml.notesSlide+xml"/>
  <Override PartName="/ppt/comments/modernComment_103_0.xml" ContentType="application/vnd.ms-powerpoint.comments+xml"/>
  <Override PartName="/ppt/notesSlides/notesSlide4.xml" ContentType="application/vnd.openxmlformats-officedocument.presentationml.notesSlide+xml"/>
  <Override PartName="/ppt/comments/modernComment_10F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70" r:id="rId3"/>
    <p:sldId id="280" r:id="rId4"/>
    <p:sldId id="279" r:id="rId5"/>
    <p:sldId id="259" r:id="rId6"/>
    <p:sldId id="271" r:id="rId7"/>
    <p:sldId id="264" r:id="rId8"/>
    <p:sldId id="283" r:id="rId9"/>
    <p:sldId id="285" r:id="rId10"/>
    <p:sldId id="263" r:id="rId11"/>
    <p:sldId id="267"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8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39A7858-1D77-BE20-C030-3E90BE361CD7}" name="Vinay Vijesh (Intelligenz IT)" initials="VV" userId="S::Vinay.Vijesh@Intelligenzit.com::158c8c48-5908-4b88-8130-09f702a41eb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51E"/>
    <a:srgbClr val="D3A518"/>
    <a:srgbClr val="E8531A"/>
    <a:srgbClr val="4F74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p:scale>
          <a:sx n="50" d="100"/>
          <a:sy n="50" d="100"/>
        </p:scale>
        <p:origin x="854" y="432"/>
      </p:cViewPr>
      <p:guideLst>
        <p:guide orient="horz" pos="3240"/>
        <p:guide pos="578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modernComment_10F_0.xml><?xml version="1.0" encoding="utf-8"?>
<p188:cmLst xmlns:a="http://schemas.openxmlformats.org/drawingml/2006/main" xmlns:r="http://schemas.openxmlformats.org/officeDocument/2006/relationships" xmlns:p188="http://schemas.microsoft.com/office/powerpoint/2018/8/main">
  <p188:cm id="{E0EDA305-DF1C-4D0B-ACA7-42389FF931DB}" authorId="{939A7858-1D77-BE20-C030-3E90BE361CD7}" created="2026-09-22T11:06:43.173">
    <pc:sldMkLst xmlns:pc="http://schemas.microsoft.com/office/powerpoint/2013/main/command">
      <pc:docMk/>
      <pc:sldMk cId="0" sldId="271"/>
    </pc:sldMkLst>
    <p188:txBody>
      <a:bodyPr/>
      <a:lstStyle/>
      <a:p>
        <a:r>
          <a:rPr lang="en-IN"/>
          <a:t>Out of 128 this is 4 agent- Border for aesthetics</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BCA25224-7BD6-4D16-956B-17C0BDC5EC8C}" authorId="{939A7858-1D77-BE20-C030-3E90BE361CD7}" created="2026-09-22T10:57:54.013">
    <pc:sldMkLst xmlns:pc="http://schemas.microsoft.com/office/powerpoint/2013/main/command">
      <pc:docMk/>
      <pc:sldMk cId="0" sldId="259"/>
    </pc:sldMkLst>
    <p188:txBody>
      <a:bodyPr/>
      <a:lstStyle/>
      <a:p>
        <a:r>
          <a:rPr lang="en-IN"/>
          <a:t>Colour coding for visual appeal</a:t>
        </a:r>
      </a:p>
    </p188:txBody>
  </p188:cm>
  <p188:cm id="{1EF46C5C-02AB-4EF6-BE68-B0F6DE011B00}" authorId="{939A7858-1D77-BE20-C030-3E90BE361CD7}" created="2026-09-22T11:02:13.422">
    <pc:sldMkLst xmlns:pc="http://schemas.microsoft.com/office/powerpoint/2013/main/command">
      <pc:docMk/>
      <pc:sldMk cId="0" sldId="259"/>
    </pc:sldMkLst>
    <p188:txBody>
      <a:bodyPr/>
      <a:lstStyle/>
      <a:p>
        <a:r>
          <a:rPr lang="en-IN"/>
          <a:t>Maintain the sequence in the Hierarchy too</a:t>
        </a:r>
      </a:p>
    </p188:txBody>
  </p188:cm>
</p188:cmLst>
</file>

<file path=ppt/comments/modernComment_117_1E328B95.xml><?xml version="1.0" encoding="utf-8"?>
<p188:cmLst xmlns:a="http://schemas.openxmlformats.org/drawingml/2006/main" xmlns:r="http://schemas.openxmlformats.org/officeDocument/2006/relationships" xmlns:p188="http://schemas.microsoft.com/office/powerpoint/2018/8/main">
  <p188:cm id="{ADB6FA5E-EACB-418E-871E-801578A8FDC7}" authorId="{939A7858-1D77-BE20-C030-3E90BE361CD7}" created="2026-09-22T10:38:05.900">
    <pc:sldMkLst xmlns:pc="http://schemas.microsoft.com/office/powerpoint/2013/main/command">
      <pc:docMk/>
      <pc:sldMk cId="506629013" sldId="279"/>
    </pc:sldMkLst>
    <p188:txBody>
      <a:bodyPr/>
      <a:lstStyle/>
      <a:p>
        <a:r>
          <a:rPr lang="en-IN"/>
          <a:t>Competency/capability, creative and collaborating and qualification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452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E44FD-B6CE-79E2-C699-D00067D3A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35D61-6C1F-FC2C-1400-FF279F7164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33DF7-00ED-CF43-6E0C-04A71242E120}"/>
              </a:ext>
            </a:extLst>
          </p:cNvPr>
          <p:cNvSpPr>
            <a:spLocks noGrp="1"/>
          </p:cNvSpPr>
          <p:nvPr>
            <p:ph type="body" idx="1"/>
          </p:nvPr>
        </p:nvSpPr>
        <p:spPr/>
        <p:txBody>
          <a:bodyPr/>
          <a:lstStyle/>
          <a:p>
            <a:r>
              <a:rPr lang="en-US" dirty="0"/>
              <a:t>Frame: this is not an agent explainer. The subject is what enterprises manage after agents arrive.</a:t>
            </a:r>
          </a:p>
        </p:txBody>
      </p:sp>
      <p:sp>
        <p:nvSpPr>
          <p:cNvPr id="4" name="Slide Number Placeholder 3">
            <a:extLst>
              <a:ext uri="{FF2B5EF4-FFF2-40B4-BE49-F238E27FC236}">
                <a16:creationId xmlns:a16="http://schemas.microsoft.com/office/drawing/2014/main" id="{C9AB33BE-429E-CBDE-FBCC-AAB50D191782}"/>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279714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very interesting is happening to the economics of artificial intelligence. The cost of delivering intelligence continues to collapse. Yet enterprise AI expenditure is moving in the opposite direction. Why? Because enterprises are no longer asking AI simply to answer questions. We are asking AI to reason. To plan. To retrieve information. To use tools. To access enterprise systems. To collaborate with other agents. To make decisions. And increasingly — to act. Every additional layer of reasoning and action creates another layer of computation. So we have arrived at an apparent contradiction: AI is becoming cheaper, but operating intelligence at enterprise scale is becoming more complex. [Pause] And that changes the question enterprises need to ask. The challenge is no longer AI. The challenge is Enterprise Intelligence.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an agent like any other critical enterprise resource: a multidimensional health profile, not uptime. If I say 82, your next question is why — so the dimensions and evidence must always be exposed.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interface instead of five products and five opinions. Scorecards configurable by role and domain; management experience consistent. Claims Agent still works — but validation deteriorating, security exceptions rising, token cost up 18%, business output flat.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another observability stack. An interpretation layer across evidence the enterprise already generates — connected through MCP, APIs and telemetry.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contract before the agent receives responsibility. The scoring engine measures the agent against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only three things, these are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 sentences, then the line: measure intelligence before you scale autonomy. Pause between each.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2FD2A-D41F-F327-D738-34975D2347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6B359-B724-4D8D-3A59-F9462B6D1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541E3-ED9C-E846-0F40-6E0D88314868}"/>
              </a:ext>
            </a:extLst>
          </p:cNvPr>
          <p:cNvSpPr>
            <a:spLocks noGrp="1"/>
          </p:cNvSpPr>
          <p:nvPr>
            <p:ph type="body" idx="1"/>
          </p:nvPr>
        </p:nvSpPr>
        <p:spPr/>
        <p:txBody>
          <a:bodyPr/>
          <a:lstStyle/>
          <a:p>
            <a:r>
              <a:rPr lang="en-US" dirty="0"/>
              <a:t>If the audience remembers only three things, these are them.</a:t>
            </a:r>
          </a:p>
        </p:txBody>
      </p:sp>
      <p:sp>
        <p:nvSpPr>
          <p:cNvPr id="4" name="Slide Number Placeholder 3">
            <a:extLst>
              <a:ext uri="{FF2B5EF4-FFF2-40B4-BE49-F238E27FC236}">
                <a16:creationId xmlns:a16="http://schemas.microsoft.com/office/drawing/2014/main" id="{AA39C9CB-AD2D-8349-B0DE-A7A4551849F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992690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microsoft.com/office/2018/10/relationships/comments" Target="../comments/modernComment_117_1E328B95.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a:extLst>
            <a:ext uri="{FF2B5EF4-FFF2-40B4-BE49-F238E27FC236}">
              <a16:creationId xmlns:a16="http://schemas.microsoft.com/office/drawing/2014/main" id="{49DD09C1-0746-B001-15EF-50F97BFBEC7F}"/>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5DD4E1EA-8507-359B-F99C-C0A66C0290AB}"/>
              </a:ext>
            </a:extLst>
          </p:cNvPr>
          <p:cNvPicPr>
            <a:picLocks noChangeAspect="1"/>
          </p:cNvPicPr>
          <p:nvPr/>
        </p:nvPicPr>
        <p:blipFill>
          <a:blip r:embed="rId3"/>
          <a:stretch>
            <a:fillRect/>
          </a:stretch>
        </p:blipFill>
        <p:spPr>
          <a:xfrm>
            <a:off x="7920681" y="3184208"/>
            <a:ext cx="10367319" cy="5498757"/>
          </a:xfrm>
          <a:prstGeom prst="rect">
            <a:avLst/>
          </a:prstGeom>
        </p:spPr>
      </p:pic>
      <p:pic>
        <p:nvPicPr>
          <p:cNvPr id="2" name="Image 0" descr="preencoded.png">
            <a:extLst>
              <a:ext uri="{FF2B5EF4-FFF2-40B4-BE49-F238E27FC236}">
                <a16:creationId xmlns:a16="http://schemas.microsoft.com/office/drawing/2014/main" id="{75FBEE16-01B3-5773-6E13-DB9AC6CC4D24}"/>
              </a:ext>
            </a:extLst>
          </p:cNvPr>
          <p:cNvPicPr>
            <a:picLocks noChangeAspect="1"/>
          </p:cNvPicPr>
          <p:nvPr/>
        </p:nvPicPr>
        <p:blipFill>
          <a:blip r:embed="rId4"/>
          <a:srcRect t="-3" b="-3"/>
          <a:stretch/>
        </p:blipFill>
        <p:spPr>
          <a:xfrm>
            <a:off x="708660" y="40894"/>
            <a:ext cx="5600700" cy="2076863"/>
          </a:xfrm>
          <a:prstGeom prst="rect">
            <a:avLst/>
          </a:prstGeom>
        </p:spPr>
      </p:pic>
      <p:sp>
        <p:nvSpPr>
          <p:cNvPr id="3" name="Shape 0">
            <a:extLst>
              <a:ext uri="{FF2B5EF4-FFF2-40B4-BE49-F238E27FC236}">
                <a16:creationId xmlns:a16="http://schemas.microsoft.com/office/drawing/2014/main" id="{08C7FD5E-55DB-21D1-C761-0AF237671095}"/>
              </a:ext>
            </a:extLst>
          </p:cNvPr>
          <p:cNvSpPr/>
          <p:nvPr/>
        </p:nvSpPr>
        <p:spPr>
          <a:xfrm>
            <a:off x="952500" y="4012406"/>
            <a:ext cx="1047750" cy="76200"/>
          </a:xfrm>
          <a:prstGeom prst="rect">
            <a:avLst/>
          </a:prstGeom>
          <a:solidFill>
            <a:srgbClr val="D3A518"/>
          </a:solidFill>
          <a:ln/>
        </p:spPr>
        <p:txBody>
          <a:bodyPr/>
          <a:lstStyle/>
          <a:p>
            <a:endParaRPr lang="en-IN" dirty="0">
              <a:latin typeface="Abadi" panose="020B0604020104020204" pitchFamily="34" charset="0"/>
            </a:endParaRPr>
          </a:p>
        </p:txBody>
      </p:sp>
      <p:sp>
        <p:nvSpPr>
          <p:cNvPr id="4" name="Text 1">
            <a:extLst>
              <a:ext uri="{FF2B5EF4-FFF2-40B4-BE49-F238E27FC236}">
                <a16:creationId xmlns:a16="http://schemas.microsoft.com/office/drawing/2014/main" id="{CA308BF2-375F-5F00-7548-9A50AC1860F2}"/>
              </a:ext>
            </a:extLst>
          </p:cNvPr>
          <p:cNvSpPr/>
          <p:nvPr/>
        </p:nvSpPr>
        <p:spPr>
          <a:xfrm>
            <a:off x="952501" y="4355306"/>
            <a:ext cx="7314170" cy="970717"/>
          </a:xfrm>
          <a:prstGeom prst="rect">
            <a:avLst/>
          </a:prstGeom>
          <a:noFill/>
          <a:ln/>
        </p:spPr>
        <p:txBody>
          <a:bodyPr wrap="square" lIns="25400" tIns="25400" rIns="25400" bIns="25400" rtlCol="0" anchor="ctr">
            <a:normAutofit/>
          </a:bodyPr>
          <a:lstStyle/>
          <a:p>
            <a:pPr marL="0" indent="0" algn="l">
              <a:lnSpc>
                <a:spcPct val="85000"/>
              </a:lnSpc>
              <a:buNone/>
            </a:pPr>
            <a:r>
              <a:rPr lang="en-US" sz="5400" b="1" kern="0" spc="300" dirty="0">
                <a:solidFill>
                  <a:srgbClr val="FFFFFF"/>
                </a:solidFill>
                <a:latin typeface="Abadi" panose="020B0604020104020204" pitchFamily="34" charset="0"/>
                <a:ea typeface="Lato" pitchFamily="34" charset="-122"/>
                <a:cs typeface="Lato" pitchFamily="34" charset="-120"/>
              </a:rPr>
              <a:t>BEYOND AI AGENTS</a:t>
            </a:r>
            <a:endParaRPr lang="en-US" sz="5400" spc="300" dirty="0">
              <a:latin typeface="Abadi" panose="020B0604020104020204" pitchFamily="34" charset="0"/>
            </a:endParaRPr>
          </a:p>
        </p:txBody>
      </p:sp>
      <p:sp>
        <p:nvSpPr>
          <p:cNvPr id="5" name="Text 2">
            <a:extLst>
              <a:ext uri="{FF2B5EF4-FFF2-40B4-BE49-F238E27FC236}">
                <a16:creationId xmlns:a16="http://schemas.microsoft.com/office/drawing/2014/main" id="{8FEC6EBD-2B73-DD44-7E8B-EC6E5F5ADF84}"/>
              </a:ext>
            </a:extLst>
          </p:cNvPr>
          <p:cNvSpPr/>
          <p:nvPr/>
        </p:nvSpPr>
        <p:spPr>
          <a:xfrm>
            <a:off x="952500" y="5554623"/>
            <a:ext cx="15716250" cy="54102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300" dirty="0">
                <a:solidFill>
                  <a:srgbClr val="D3A518"/>
                </a:solidFill>
                <a:latin typeface="Abadi" panose="020B0604020104020204" pitchFamily="34" charset="0"/>
                <a:ea typeface="Lato" pitchFamily="34" charset="-122"/>
                <a:cs typeface="Lato" pitchFamily="34" charset="-120"/>
              </a:rPr>
              <a:t>The Measurable AI Enterprise</a:t>
            </a:r>
            <a:endParaRPr lang="en-US" sz="3300" dirty="0">
              <a:latin typeface="Abadi" panose="020B0604020104020204" pitchFamily="34" charset="0"/>
            </a:endParaRPr>
          </a:p>
        </p:txBody>
      </p:sp>
      <p:sp>
        <p:nvSpPr>
          <p:cNvPr id="6" name="Text 3">
            <a:extLst>
              <a:ext uri="{FF2B5EF4-FFF2-40B4-BE49-F238E27FC236}">
                <a16:creationId xmlns:a16="http://schemas.microsoft.com/office/drawing/2014/main" id="{4268545A-5A76-B805-90F9-A33C4F7038C4}"/>
              </a:ext>
            </a:extLst>
          </p:cNvPr>
          <p:cNvSpPr/>
          <p:nvPr/>
        </p:nvSpPr>
        <p:spPr>
          <a:xfrm>
            <a:off x="952500" y="6324242"/>
            <a:ext cx="8228013" cy="748493"/>
          </a:xfrm>
          <a:prstGeom prst="rect">
            <a:avLst/>
          </a:prstGeom>
          <a:noFill/>
          <a:ln/>
        </p:spPr>
        <p:txBody>
          <a:bodyPr wrap="square" lIns="25400" tIns="25400" rIns="25400" bIns="25400" rtlCol="0" anchor="t">
            <a:noAutofit/>
          </a:bodyPr>
          <a:lstStyle/>
          <a:p>
            <a:pPr marL="0" indent="0" algn="l">
              <a:lnSpc>
                <a:spcPct val="125000"/>
              </a:lnSpc>
              <a:buNone/>
            </a:pPr>
            <a:r>
              <a:rPr lang="en-US" dirty="0">
                <a:solidFill>
                  <a:srgbClr val="FFFFFF">
                    <a:alpha val="86000"/>
                  </a:srgbClr>
                </a:solidFill>
                <a:latin typeface="Abadi" panose="020B0604020104020204" pitchFamily="34" charset="0"/>
                <a:ea typeface="Lato" pitchFamily="34" charset="-122"/>
                <a:cs typeface="Lato" pitchFamily="34" charset="-120"/>
              </a:rPr>
              <a:t>From agent deployment to performance optimization, efficiency gains, </a:t>
            </a:r>
          </a:p>
          <a:p>
            <a:pPr marL="0" indent="0" algn="l">
              <a:lnSpc>
                <a:spcPct val="125000"/>
              </a:lnSpc>
              <a:buNone/>
            </a:pPr>
            <a:r>
              <a:rPr lang="en-US" dirty="0">
                <a:solidFill>
                  <a:srgbClr val="FFFFFF">
                    <a:alpha val="86000"/>
                  </a:srgbClr>
                </a:solidFill>
                <a:latin typeface="Abadi" panose="020B0604020104020204" pitchFamily="34" charset="0"/>
                <a:ea typeface="Lato" pitchFamily="34" charset="-122"/>
                <a:cs typeface="Lato" pitchFamily="34" charset="-120"/>
              </a:rPr>
              <a:t>trust and accountable autonomy.</a:t>
            </a:r>
            <a:endParaRPr lang="en-US" dirty="0">
              <a:latin typeface="Abadi" panose="020B0604020104020204" pitchFamily="34" charset="0"/>
            </a:endParaRPr>
          </a:p>
        </p:txBody>
      </p:sp>
      <p:sp>
        <p:nvSpPr>
          <p:cNvPr id="7" name="Text 4">
            <a:extLst>
              <a:ext uri="{FF2B5EF4-FFF2-40B4-BE49-F238E27FC236}">
                <a16:creationId xmlns:a16="http://schemas.microsoft.com/office/drawing/2014/main" id="{BC0835E7-05E9-F0EB-6CAB-5CB70F53FD61}"/>
              </a:ext>
            </a:extLst>
          </p:cNvPr>
          <p:cNvSpPr/>
          <p:nvPr/>
        </p:nvSpPr>
        <p:spPr>
          <a:xfrm>
            <a:off x="952500" y="2670335"/>
            <a:ext cx="18021300"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300" dirty="0">
                <a:solidFill>
                  <a:schemeClr val="bg1">
                    <a:lumMod val="95000"/>
                  </a:schemeClr>
                </a:solidFill>
                <a:latin typeface="Abadi" panose="020B0604020104020204" pitchFamily="34" charset="0"/>
                <a:ea typeface="Lato" pitchFamily="34" charset="-122"/>
                <a:cs typeface="Lato" pitchFamily="34" charset="-120"/>
              </a:rPr>
              <a:t>MEASURE INTELLIGENCE BEFORE YOU SCALE AUTONOMY</a:t>
            </a:r>
            <a:endParaRPr lang="en-US" sz="1800" spc="300" dirty="0">
              <a:solidFill>
                <a:schemeClr val="bg1">
                  <a:lumMod val="95000"/>
                </a:schemeClr>
              </a:solidFill>
              <a:latin typeface="Abadi" panose="020B0604020104020204" pitchFamily="34" charset="0"/>
            </a:endParaRPr>
          </a:p>
        </p:txBody>
      </p:sp>
      <p:sp>
        <p:nvSpPr>
          <p:cNvPr id="8" name="TextBox 7">
            <a:extLst>
              <a:ext uri="{FF2B5EF4-FFF2-40B4-BE49-F238E27FC236}">
                <a16:creationId xmlns:a16="http://schemas.microsoft.com/office/drawing/2014/main" id="{97FB6859-B708-D5D0-E39F-6CAE8F1C6F3F}"/>
              </a:ext>
            </a:extLst>
          </p:cNvPr>
          <p:cNvSpPr txBox="1"/>
          <p:nvPr/>
        </p:nvSpPr>
        <p:spPr>
          <a:xfrm>
            <a:off x="952500" y="8432670"/>
            <a:ext cx="6202062" cy="461665"/>
          </a:xfrm>
          <a:prstGeom prst="rect">
            <a:avLst/>
          </a:prstGeom>
          <a:noFill/>
        </p:spPr>
        <p:txBody>
          <a:bodyPr wrap="square" rtlCol="0">
            <a:spAutoFit/>
          </a:bodyPr>
          <a:lstStyle/>
          <a:p>
            <a:r>
              <a:rPr lang="en-IN" sz="2400" b="1" i="1" dirty="0">
                <a:solidFill>
                  <a:schemeClr val="bg1"/>
                </a:solidFill>
                <a:latin typeface="Abadi" panose="020B0604020104020204" pitchFamily="34" charset="0"/>
              </a:rPr>
              <a:t>Speaker – PVR,  CEO &amp; Managing Director</a:t>
            </a:r>
          </a:p>
        </p:txBody>
      </p:sp>
      <p:sp>
        <p:nvSpPr>
          <p:cNvPr id="9" name="Rectangle 8">
            <a:extLst>
              <a:ext uri="{FF2B5EF4-FFF2-40B4-BE49-F238E27FC236}">
                <a16:creationId xmlns:a16="http://schemas.microsoft.com/office/drawing/2014/main" id="{821D01ED-80A0-37B7-7149-FFB71492F011}"/>
              </a:ext>
            </a:extLst>
          </p:cNvPr>
          <p:cNvSpPr/>
          <p:nvPr/>
        </p:nvSpPr>
        <p:spPr>
          <a:xfrm>
            <a:off x="952500" y="8133499"/>
            <a:ext cx="6337300" cy="11049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badi" panose="020B0604020104020204" pitchFamily="34" charset="0"/>
            </a:endParaRPr>
          </a:p>
        </p:txBody>
      </p:sp>
      <p:sp>
        <p:nvSpPr>
          <p:cNvPr id="10" name="Rectangle 9">
            <a:extLst>
              <a:ext uri="{FF2B5EF4-FFF2-40B4-BE49-F238E27FC236}">
                <a16:creationId xmlns:a16="http://schemas.microsoft.com/office/drawing/2014/main" id="{6D345791-2DFE-DEDF-95B5-EE60777F540F}"/>
              </a:ext>
            </a:extLst>
          </p:cNvPr>
          <p:cNvSpPr/>
          <p:nvPr/>
        </p:nvSpPr>
        <p:spPr>
          <a:xfrm>
            <a:off x="3327400" y="9168106"/>
            <a:ext cx="1117600" cy="17305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badi" panose="020B0604020104020204" pitchFamily="34" charset="0"/>
            </a:endParaRPr>
          </a:p>
        </p:txBody>
      </p:sp>
    </p:spTree>
    <p:extLst>
      <p:ext uri="{BB962C8B-B14F-4D97-AF65-F5344CB8AC3E}">
        <p14:creationId xmlns:p14="http://schemas.microsoft.com/office/powerpoint/2010/main" val="4132752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p:nvSpPr>
          <p:cNvPr id="2" name="Text 0"/>
          <p:cNvSpPr/>
          <p:nvPr/>
        </p:nvSpPr>
        <p:spPr>
          <a:xfrm>
            <a:off x="1047750" y="834390"/>
            <a:ext cx="4181047"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88" dirty="0">
                <a:solidFill>
                  <a:srgbClr val="D3A518"/>
                </a:solidFill>
                <a:latin typeface="Abadi" panose="020B0604020104020204" pitchFamily="34" charset="0"/>
                <a:ea typeface="Lato" pitchFamily="34" charset="-122"/>
                <a:cs typeface="Lato" pitchFamily="34" charset="-120"/>
              </a:rPr>
              <a:t>THE AI COST PARADOX</a:t>
            </a:r>
            <a:endParaRPr lang="en-US" sz="1800" dirty="0">
              <a:latin typeface="Abadi" panose="020B0604020104020204" pitchFamily="34" charset="0"/>
            </a:endParaRPr>
          </a:p>
        </p:txBody>
      </p:sp>
      <p:sp>
        <p:nvSpPr>
          <p:cNvPr id="4" name="Text 1"/>
          <p:cNvSpPr/>
          <p:nvPr/>
        </p:nvSpPr>
        <p:spPr>
          <a:xfrm>
            <a:off x="1047750" y="1428750"/>
            <a:ext cx="17811750" cy="593527"/>
          </a:xfrm>
          <a:prstGeom prst="rect">
            <a:avLst/>
          </a:prstGeom>
          <a:noFill/>
          <a:ln/>
        </p:spPr>
        <p:txBody>
          <a:bodyPr wrap="square" lIns="25400" tIns="25400" rIns="25400" bIns="25400" rtlCol="0" anchor="ctr">
            <a:normAutofit lnSpcReduction="10000"/>
          </a:bodyPr>
          <a:lstStyle/>
          <a:p>
            <a:pPr marL="0" indent="0" algn="l">
              <a:lnSpc>
                <a:spcPct val="90000"/>
              </a:lnSpc>
              <a:buNone/>
            </a:pPr>
            <a:r>
              <a:rPr lang="en-US" sz="4050" b="1" kern="0" spc="300" dirty="0">
                <a:solidFill>
                  <a:schemeClr val="bg1"/>
                </a:solidFill>
                <a:latin typeface="Abadi" panose="020B0604020104020204" pitchFamily="34" charset="0"/>
                <a:ea typeface="Lato" pitchFamily="34" charset="-122"/>
                <a:cs typeface="Lato" pitchFamily="34" charset="-120"/>
              </a:rPr>
              <a:t>AI</a:t>
            </a:r>
            <a:r>
              <a:rPr lang="en-US" sz="4050" b="1" kern="0" dirty="0">
                <a:solidFill>
                  <a:schemeClr val="bg1"/>
                </a:solidFill>
                <a:latin typeface="Abadi" panose="020B0604020104020204" pitchFamily="34" charset="0"/>
                <a:ea typeface="Lato" pitchFamily="34" charset="-122"/>
                <a:cs typeface="Lato" pitchFamily="34" charset="-120"/>
              </a:rPr>
              <a:t> is Getting Cheaper.</a:t>
            </a:r>
            <a:endParaRPr lang="en-US" sz="4050" dirty="0">
              <a:solidFill>
                <a:schemeClr val="bg1"/>
              </a:solidFill>
              <a:latin typeface="Abadi" panose="020B0604020104020204" pitchFamily="34" charset="0"/>
            </a:endParaRPr>
          </a:p>
        </p:txBody>
      </p:sp>
      <p:sp>
        <p:nvSpPr>
          <p:cNvPr id="5" name="Text 2"/>
          <p:cNvSpPr/>
          <p:nvPr/>
        </p:nvSpPr>
        <p:spPr>
          <a:xfrm>
            <a:off x="1047749" y="1984880"/>
            <a:ext cx="15881007" cy="1148953"/>
          </a:xfrm>
          <a:prstGeom prst="rect">
            <a:avLst/>
          </a:prstGeom>
          <a:noFill/>
          <a:ln/>
        </p:spPr>
        <p:txBody>
          <a:bodyPr wrap="square" lIns="25400" tIns="25400" rIns="25400" bIns="25400" rtlCol="0" anchor="ctr">
            <a:normAutofit/>
          </a:bodyPr>
          <a:lstStyle/>
          <a:p>
            <a:pPr marL="0" indent="0" algn="l">
              <a:lnSpc>
                <a:spcPct val="90000"/>
              </a:lnSpc>
              <a:buNone/>
            </a:pPr>
            <a:r>
              <a:rPr lang="en-US" sz="3600" b="1" kern="0" dirty="0">
                <a:solidFill>
                  <a:srgbClr val="D3A518"/>
                </a:solidFill>
                <a:latin typeface="Abadi" panose="020B0604020104020204" pitchFamily="34" charset="0"/>
                <a:ea typeface="Lato" pitchFamily="34" charset="-122"/>
                <a:cs typeface="Lato" pitchFamily="34" charset="-120"/>
              </a:rPr>
              <a:t>But Enterprise Intelligence Is Getting More Expensive.</a:t>
            </a:r>
            <a:endParaRPr lang="en-US" sz="3600" dirty="0">
              <a:latin typeface="Abadi" panose="020B0604020104020204" pitchFamily="34" charset="0"/>
            </a:endParaRPr>
          </a:p>
        </p:txBody>
      </p:sp>
      <p:sp>
        <p:nvSpPr>
          <p:cNvPr id="6" name="Text 3"/>
          <p:cNvSpPr/>
          <p:nvPr/>
        </p:nvSpPr>
        <p:spPr>
          <a:xfrm>
            <a:off x="1047750" y="3441687"/>
            <a:ext cx="4786122" cy="320040"/>
          </a:xfrm>
          <a:prstGeom prst="rect">
            <a:avLst/>
          </a:prstGeom>
          <a:noFill/>
          <a:ln/>
        </p:spPr>
        <p:txBody>
          <a:bodyPr wrap="square" lIns="25400" tIns="25400" rIns="25400" bIns="25400" rtlCol="0" anchor="t">
            <a:noAutofit/>
          </a:bodyPr>
          <a:lstStyle/>
          <a:p>
            <a:pPr marL="0" indent="0" algn="l">
              <a:buNone/>
            </a:pPr>
            <a:r>
              <a:rPr lang="en-US" sz="2000" b="1" kern="0" spc="144" dirty="0">
                <a:solidFill>
                  <a:schemeClr val="accent5">
                    <a:lumMod val="20000"/>
                    <a:lumOff val="80000"/>
                  </a:schemeClr>
                </a:solidFill>
                <a:latin typeface="Abadi" panose="020B0604020104020204" pitchFamily="34" charset="0"/>
                <a:ea typeface="Lato" pitchFamily="34" charset="-122"/>
                <a:cs typeface="Lato" pitchFamily="34" charset="-120"/>
              </a:rPr>
              <a:t>↓ COST PER UNIT OF INTELLIGENCE</a:t>
            </a:r>
            <a:endParaRPr lang="en-US" sz="2000" dirty="0">
              <a:solidFill>
                <a:schemeClr val="accent5">
                  <a:lumMod val="20000"/>
                  <a:lumOff val="80000"/>
                </a:schemeClr>
              </a:solidFill>
              <a:latin typeface="Abadi" panose="020B0604020104020204" pitchFamily="34" charset="0"/>
            </a:endParaRPr>
          </a:p>
        </p:txBody>
      </p:sp>
      <p:sp>
        <p:nvSpPr>
          <p:cNvPr id="7" name="Text 4"/>
          <p:cNvSpPr/>
          <p:nvPr/>
        </p:nvSpPr>
        <p:spPr>
          <a:xfrm>
            <a:off x="12354877" y="3441687"/>
            <a:ext cx="5373910" cy="320040"/>
          </a:xfrm>
          <a:prstGeom prst="rect">
            <a:avLst/>
          </a:prstGeom>
          <a:noFill/>
          <a:ln/>
        </p:spPr>
        <p:txBody>
          <a:bodyPr wrap="square" lIns="25400" tIns="25400" rIns="25400" bIns="25400" rtlCol="0" anchor="t">
            <a:noAutofit/>
          </a:bodyPr>
          <a:lstStyle/>
          <a:p>
            <a:pPr marL="0" indent="0" algn="l">
              <a:buNone/>
            </a:pPr>
            <a:r>
              <a:rPr lang="en-US" sz="2000" b="1" kern="0" spc="144" dirty="0">
                <a:solidFill>
                  <a:schemeClr val="accent6">
                    <a:lumMod val="20000"/>
                    <a:lumOff val="80000"/>
                  </a:schemeClr>
                </a:solidFill>
                <a:latin typeface="Abadi" panose="020B0604020104020204" pitchFamily="34" charset="0"/>
                <a:ea typeface="Lato" pitchFamily="34" charset="-122"/>
                <a:cs typeface="Lato" pitchFamily="34" charset="-120"/>
              </a:rPr>
              <a:t>COMPUTATIONAL ACTIVITY PER TASK ↑</a:t>
            </a:r>
            <a:endParaRPr lang="en-US" sz="2000" dirty="0">
              <a:solidFill>
                <a:schemeClr val="accent6">
                  <a:lumMod val="20000"/>
                  <a:lumOff val="80000"/>
                </a:schemeClr>
              </a:solidFill>
              <a:latin typeface="Abadi" panose="020B0604020104020204" pitchFamily="34" charset="0"/>
            </a:endParaRPr>
          </a:p>
        </p:txBody>
      </p:sp>
      <p:pic>
        <p:nvPicPr>
          <p:cNvPr id="8" name="Image 1" descr="preencoded.png"/>
          <p:cNvPicPr>
            <a:picLocks noChangeAspect="1"/>
          </p:cNvPicPr>
          <p:nvPr/>
        </p:nvPicPr>
        <p:blipFill>
          <a:blip>
            <a:alphaModFix amt="93000"/>
            <a:extLst>
              <a:ext uri="{96DAC541-7B7A-43D3-8B79-37D633B846F1}">
                <asvg:svgBlip xmlns:asvg="http://schemas.microsoft.com/office/drawing/2016/SVG/main" r:embed="rId3"/>
              </a:ext>
            </a:extLst>
          </a:blip>
          <a:stretch>
            <a:fillRect/>
          </a:stretch>
        </p:blipFill>
        <p:spPr>
          <a:xfrm>
            <a:off x="1047750" y="3768061"/>
            <a:ext cx="16192500" cy="1587460"/>
          </a:xfrm>
          <a:prstGeom prst="rect">
            <a:avLst/>
          </a:prstGeom>
        </p:spPr>
      </p:pic>
      <p:sp>
        <p:nvSpPr>
          <p:cNvPr id="9" name="Shape 5"/>
          <p:cNvSpPr/>
          <p:nvPr/>
        </p:nvSpPr>
        <p:spPr>
          <a:xfrm>
            <a:off x="1047750" y="5538168"/>
            <a:ext cx="16192500" cy="9525"/>
          </a:xfrm>
          <a:prstGeom prst="rect">
            <a:avLst/>
          </a:prstGeom>
          <a:solidFill>
            <a:srgbClr val="2E3349">
              <a:alpha val="86000"/>
            </a:srgbClr>
          </a:solidFill>
          <a:ln/>
        </p:spPr>
        <p:txBody>
          <a:bodyPr/>
          <a:lstStyle/>
          <a:p>
            <a:endParaRPr lang="en-IN" dirty="0">
              <a:latin typeface="Abadi" panose="020B0604020104020204" pitchFamily="34" charset="0"/>
            </a:endParaRPr>
          </a:p>
        </p:txBody>
      </p:sp>
      <p:sp>
        <p:nvSpPr>
          <p:cNvPr id="10" name="Text 6"/>
          <p:cNvSpPr/>
          <p:nvPr/>
        </p:nvSpPr>
        <p:spPr>
          <a:xfrm>
            <a:off x="1047750"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FFFFFF">
                    <a:alpha val="86000"/>
                  </a:srgbClr>
                </a:solidFill>
                <a:latin typeface="Abadi" panose="020B0604020104020204" pitchFamily="34" charset="0"/>
                <a:ea typeface="Lato" pitchFamily="34" charset="-122"/>
                <a:cs typeface="Lato" pitchFamily="34" charset="-120"/>
              </a:rPr>
              <a:t>280×</a:t>
            </a:r>
            <a:endParaRPr lang="en-US" sz="5700" dirty="0">
              <a:latin typeface="Abadi" panose="020B0604020104020204" pitchFamily="34" charset="0"/>
            </a:endParaRPr>
          </a:p>
        </p:txBody>
      </p:sp>
      <p:sp>
        <p:nvSpPr>
          <p:cNvPr id="11" name="Text 7"/>
          <p:cNvSpPr/>
          <p:nvPr/>
        </p:nvSpPr>
        <p:spPr>
          <a:xfrm>
            <a:off x="1047750" y="6612588"/>
            <a:ext cx="3816382" cy="655320"/>
          </a:xfrm>
          <a:prstGeom prst="rect">
            <a:avLst/>
          </a:prstGeom>
          <a:noFill/>
          <a:ln/>
        </p:spPr>
        <p:txBody>
          <a:bodyPr wrap="square" lIns="25400" tIns="25400" rIns="25400" bIns="25400" rtlCol="0" anchor="ctr">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Fall in the price of a fixed level of AI performance, in about 18 months</a:t>
            </a:r>
            <a:endParaRPr lang="en-US" sz="1800" dirty="0">
              <a:solidFill>
                <a:schemeClr val="bg1"/>
              </a:solidFill>
              <a:latin typeface="Abadi" panose="020B0604020104020204" pitchFamily="34" charset="0"/>
            </a:endParaRPr>
          </a:p>
        </p:txBody>
      </p:sp>
      <p:sp>
        <p:nvSpPr>
          <p:cNvPr id="12" name="Text 8"/>
          <p:cNvSpPr/>
          <p:nvPr/>
        </p:nvSpPr>
        <p:spPr>
          <a:xfrm>
            <a:off x="5210175"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FFFFFF">
                    <a:alpha val="86000"/>
                  </a:srgbClr>
                </a:solidFill>
                <a:latin typeface="Abadi" panose="020B0604020104020204" pitchFamily="34" charset="0"/>
                <a:ea typeface="Lato" pitchFamily="34" charset="-122"/>
                <a:cs typeface="Lato" pitchFamily="34" charset="-120"/>
              </a:rPr>
              <a:t>320×</a:t>
            </a:r>
            <a:endParaRPr lang="en-US" sz="5700" dirty="0">
              <a:latin typeface="Abadi" panose="020B0604020104020204" pitchFamily="34" charset="0"/>
            </a:endParaRPr>
          </a:p>
        </p:txBody>
      </p:sp>
      <p:sp>
        <p:nvSpPr>
          <p:cNvPr id="13" name="Text 9"/>
          <p:cNvSpPr/>
          <p:nvPr/>
        </p:nvSpPr>
        <p:spPr>
          <a:xfrm>
            <a:off x="5210175" y="6612588"/>
            <a:ext cx="3816382" cy="96393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Growth in reasoning-token consumption per organization over 12 months</a:t>
            </a:r>
            <a:endParaRPr lang="en-US" sz="1800" dirty="0">
              <a:solidFill>
                <a:schemeClr val="bg1"/>
              </a:solidFill>
              <a:latin typeface="Abadi" panose="020B0604020104020204" pitchFamily="34" charset="0"/>
            </a:endParaRPr>
          </a:p>
        </p:txBody>
      </p:sp>
      <p:sp>
        <p:nvSpPr>
          <p:cNvPr id="14" name="Text 10"/>
          <p:cNvSpPr/>
          <p:nvPr/>
        </p:nvSpPr>
        <p:spPr>
          <a:xfrm>
            <a:off x="9372600"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FFFFFF">
                    <a:alpha val="86000"/>
                  </a:srgbClr>
                </a:solidFill>
                <a:latin typeface="Abadi" panose="020B0604020104020204" pitchFamily="34" charset="0"/>
                <a:ea typeface="Lato" pitchFamily="34" charset="-122"/>
                <a:cs typeface="Lato" pitchFamily="34" charset="-120"/>
              </a:rPr>
              <a:t>1,000×</a:t>
            </a:r>
            <a:endParaRPr lang="en-US" sz="5700" dirty="0">
              <a:latin typeface="Abadi" panose="020B0604020104020204" pitchFamily="34" charset="0"/>
            </a:endParaRPr>
          </a:p>
        </p:txBody>
      </p:sp>
      <p:sp>
        <p:nvSpPr>
          <p:cNvPr id="15" name="Text 11"/>
          <p:cNvSpPr/>
          <p:nvPr/>
        </p:nvSpPr>
        <p:spPr>
          <a:xfrm>
            <a:off x="9372600" y="6612588"/>
            <a:ext cx="3816382"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Token intensity of agentic coding tasks vs. code chat and reasoning</a:t>
            </a:r>
            <a:endParaRPr lang="en-US" sz="1800" dirty="0">
              <a:solidFill>
                <a:schemeClr val="bg1"/>
              </a:solidFill>
              <a:latin typeface="Abadi" panose="020B0604020104020204" pitchFamily="34" charset="0"/>
            </a:endParaRPr>
          </a:p>
        </p:txBody>
      </p:sp>
      <p:sp>
        <p:nvSpPr>
          <p:cNvPr id="16" name="Text 12"/>
          <p:cNvSpPr/>
          <p:nvPr/>
        </p:nvSpPr>
        <p:spPr>
          <a:xfrm>
            <a:off x="13535025"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D3A518">
                    <a:alpha val="86000"/>
                  </a:srgbClr>
                </a:solidFill>
                <a:latin typeface="Abadi" panose="020B0604020104020204" pitchFamily="34" charset="0"/>
                <a:ea typeface="Lato" pitchFamily="34" charset="-122"/>
                <a:cs typeface="Lato" pitchFamily="34" charset="-120"/>
              </a:rPr>
              <a:t>73%</a:t>
            </a:r>
            <a:endParaRPr lang="en-US" sz="5700" dirty="0">
              <a:latin typeface="Abadi" panose="020B0604020104020204" pitchFamily="34" charset="0"/>
            </a:endParaRPr>
          </a:p>
        </p:txBody>
      </p:sp>
      <p:sp>
        <p:nvSpPr>
          <p:cNvPr id="17" name="Text 13"/>
          <p:cNvSpPr/>
          <p:nvPr/>
        </p:nvSpPr>
        <p:spPr>
          <a:xfrm>
            <a:off x="13535025" y="6612588"/>
            <a:ext cx="3816382"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Of organizations exceeded their AI budgets in the past year</a:t>
            </a:r>
            <a:endParaRPr lang="en-US" sz="1800" dirty="0">
              <a:solidFill>
                <a:schemeClr val="bg1"/>
              </a:solidFill>
              <a:latin typeface="Abadi" panose="020B0604020104020204" pitchFamily="34" charset="0"/>
            </a:endParaRPr>
          </a:p>
        </p:txBody>
      </p:sp>
      <p:sp>
        <p:nvSpPr>
          <p:cNvPr id="18" name="Text 14"/>
          <p:cNvSpPr/>
          <p:nvPr/>
        </p:nvSpPr>
        <p:spPr>
          <a:xfrm>
            <a:off x="1047750" y="7823988"/>
            <a:ext cx="13038953" cy="838200"/>
          </a:xfrm>
          <a:prstGeom prst="rect">
            <a:avLst/>
          </a:prstGeom>
          <a:noFill/>
          <a:ln/>
        </p:spPr>
        <p:txBody>
          <a:bodyPr wrap="square" lIns="25400" tIns="25400" rIns="25400" bIns="25400" rtlCol="0" anchor="ctr">
            <a:normAutofit/>
          </a:bodyPr>
          <a:lstStyle/>
          <a:p>
            <a:pPr marL="0" indent="0" algn="l">
              <a:lnSpc>
                <a:spcPct val="116667"/>
              </a:lnSpc>
              <a:buNone/>
            </a:pPr>
            <a:r>
              <a:rPr lang="en-US" sz="2250" dirty="0">
                <a:solidFill>
                  <a:schemeClr val="bg1"/>
                </a:solidFill>
                <a:latin typeface="Abadi" panose="020B0604020104020204" pitchFamily="34" charset="0"/>
                <a:ea typeface="Lato" pitchFamily="34" charset="-122"/>
                <a:cs typeface="Lato" pitchFamily="34" charset="-120"/>
              </a:rPr>
              <a:t>The problem is no longer the cost of intelligence. It is the cost of coordinating intelligence at scale.</a:t>
            </a:r>
            <a:endParaRPr lang="en-US" sz="2250" dirty="0">
              <a:solidFill>
                <a:schemeClr val="bg1"/>
              </a:solidFill>
              <a:latin typeface="Abadi" panose="020B0604020104020204" pitchFamily="34" charset="0"/>
            </a:endParaRPr>
          </a:p>
        </p:txBody>
      </p:sp>
      <p:sp>
        <p:nvSpPr>
          <p:cNvPr id="3" name="Rectangle 2">
            <a:extLst>
              <a:ext uri="{FF2B5EF4-FFF2-40B4-BE49-F238E27FC236}">
                <a16:creationId xmlns:a16="http://schemas.microsoft.com/office/drawing/2014/main" id="{030317F5-EE28-423C-D894-E855FFC80926}"/>
              </a:ext>
            </a:extLst>
          </p:cNvPr>
          <p:cNvSpPr/>
          <p:nvPr/>
        </p:nvSpPr>
        <p:spPr>
          <a:xfrm>
            <a:off x="8054340" y="4884420"/>
            <a:ext cx="2202180" cy="352938"/>
          </a:xfrm>
          <a:prstGeom prst="rect">
            <a:avLst/>
          </a:prstGeom>
          <a:solidFill>
            <a:srgbClr val="0005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badi" panose="020B0604020104020204" pitchFamily="34" charset="0"/>
            </a:endParaRPr>
          </a:p>
        </p:txBody>
      </p:sp>
      <p:sp>
        <p:nvSpPr>
          <p:cNvPr id="19" name="TextBox 18">
            <a:extLst>
              <a:ext uri="{FF2B5EF4-FFF2-40B4-BE49-F238E27FC236}">
                <a16:creationId xmlns:a16="http://schemas.microsoft.com/office/drawing/2014/main" id="{4BA7DB29-2E09-E0A8-4C62-9916E60E008D}"/>
              </a:ext>
            </a:extLst>
          </p:cNvPr>
          <p:cNvSpPr txBox="1"/>
          <p:nvPr/>
        </p:nvSpPr>
        <p:spPr>
          <a:xfrm>
            <a:off x="7664128" y="4947557"/>
            <a:ext cx="2937970" cy="461665"/>
          </a:xfrm>
          <a:prstGeom prst="rect">
            <a:avLst/>
          </a:prstGeom>
          <a:noFill/>
        </p:spPr>
        <p:txBody>
          <a:bodyPr wrap="square" rtlCol="0">
            <a:spAutoFit/>
          </a:bodyPr>
          <a:lstStyle/>
          <a:p>
            <a:pPr algn="ctr"/>
            <a:r>
              <a:rPr lang="en-IN" sz="2400" dirty="0">
                <a:solidFill>
                  <a:srgbClr val="FFC000"/>
                </a:solidFill>
                <a:latin typeface="Abadi" panose="020B0604020104020204" pitchFamily="34" charset="0"/>
              </a:rPr>
              <a:t>The A I Cost Paradox</a:t>
            </a:r>
          </a:p>
        </p:txBody>
      </p:sp>
      <p:sp>
        <p:nvSpPr>
          <p:cNvPr id="21" name="TextBox 20">
            <a:extLst>
              <a:ext uri="{FF2B5EF4-FFF2-40B4-BE49-F238E27FC236}">
                <a16:creationId xmlns:a16="http://schemas.microsoft.com/office/drawing/2014/main" id="{F52B34BA-D1E7-C273-D876-DD543F36AF5B}"/>
              </a:ext>
            </a:extLst>
          </p:cNvPr>
          <p:cNvSpPr txBox="1"/>
          <p:nvPr/>
        </p:nvSpPr>
        <p:spPr>
          <a:xfrm rot="10800000">
            <a:off x="457199" y="5797274"/>
            <a:ext cx="624991" cy="646331"/>
          </a:xfrm>
          <a:prstGeom prst="rect">
            <a:avLst/>
          </a:prstGeom>
          <a:noFill/>
        </p:spPr>
        <p:txBody>
          <a:bodyPr wrap="square">
            <a:spAutoFit/>
          </a:bodyPr>
          <a:lstStyle/>
          <a:p>
            <a:r>
              <a:rPr lang="en-US" sz="3600" b="1" kern="0" spc="144" dirty="0">
                <a:solidFill>
                  <a:srgbClr val="D3A518"/>
                </a:solidFill>
                <a:latin typeface="Abadi" panose="020B0604020104020204" pitchFamily="34" charset="0"/>
                <a:ea typeface="Lato" pitchFamily="34" charset="-122"/>
                <a:cs typeface="Lato" pitchFamily="34" charset="-120"/>
              </a:rPr>
              <a:t>↑</a:t>
            </a:r>
            <a:endParaRPr lang="en-IN" sz="3600" dirty="0">
              <a:solidFill>
                <a:srgbClr val="D3A518"/>
              </a:solidFill>
            </a:endParaRPr>
          </a:p>
        </p:txBody>
      </p:sp>
      <p:sp>
        <p:nvSpPr>
          <p:cNvPr id="23" name="TextBox 22">
            <a:extLst>
              <a:ext uri="{FF2B5EF4-FFF2-40B4-BE49-F238E27FC236}">
                <a16:creationId xmlns:a16="http://schemas.microsoft.com/office/drawing/2014/main" id="{04F8A7C8-3240-BD44-F600-95791936ED4D}"/>
              </a:ext>
            </a:extLst>
          </p:cNvPr>
          <p:cNvSpPr txBox="1"/>
          <p:nvPr/>
        </p:nvSpPr>
        <p:spPr>
          <a:xfrm>
            <a:off x="4864132" y="5714856"/>
            <a:ext cx="624991" cy="646331"/>
          </a:xfrm>
          <a:prstGeom prst="rect">
            <a:avLst/>
          </a:prstGeom>
          <a:noFill/>
        </p:spPr>
        <p:txBody>
          <a:bodyPr wrap="square">
            <a:spAutoFit/>
          </a:bodyPr>
          <a:lstStyle/>
          <a:p>
            <a:r>
              <a:rPr lang="en-US" sz="3600" b="1" kern="0" spc="144" dirty="0">
                <a:solidFill>
                  <a:srgbClr val="D3A518"/>
                </a:solidFill>
                <a:latin typeface="Abadi" panose="020B0604020104020204" pitchFamily="34" charset="0"/>
                <a:ea typeface="Lato" pitchFamily="34" charset="-122"/>
                <a:cs typeface="Lato" pitchFamily="34" charset="-120"/>
              </a:rPr>
              <a:t>↑</a:t>
            </a:r>
            <a:endParaRPr lang="en-IN" sz="3600" dirty="0">
              <a:solidFill>
                <a:srgbClr val="D3A518"/>
              </a:solidFill>
            </a:endParaRPr>
          </a:p>
        </p:txBody>
      </p:sp>
      <p:sp>
        <p:nvSpPr>
          <p:cNvPr id="25" name="TextBox 24">
            <a:extLst>
              <a:ext uri="{FF2B5EF4-FFF2-40B4-BE49-F238E27FC236}">
                <a16:creationId xmlns:a16="http://schemas.microsoft.com/office/drawing/2014/main" id="{969E3C29-533C-B18B-8FCB-3308121DCC71}"/>
              </a:ext>
            </a:extLst>
          </p:cNvPr>
          <p:cNvSpPr txBox="1"/>
          <p:nvPr/>
        </p:nvSpPr>
        <p:spPr>
          <a:xfrm>
            <a:off x="8988252" y="5756975"/>
            <a:ext cx="624991" cy="646331"/>
          </a:xfrm>
          <a:prstGeom prst="rect">
            <a:avLst/>
          </a:prstGeom>
          <a:noFill/>
        </p:spPr>
        <p:txBody>
          <a:bodyPr wrap="square">
            <a:spAutoFit/>
          </a:bodyPr>
          <a:lstStyle/>
          <a:p>
            <a:r>
              <a:rPr lang="en-US" sz="3600" b="1" kern="0" spc="144" dirty="0">
                <a:solidFill>
                  <a:srgbClr val="D3A518"/>
                </a:solidFill>
                <a:latin typeface="Abadi" panose="020B0604020104020204" pitchFamily="34" charset="0"/>
                <a:ea typeface="Lato" pitchFamily="34" charset="-122"/>
                <a:cs typeface="Lato" pitchFamily="34" charset="-120"/>
              </a:rPr>
              <a:t>↑</a:t>
            </a:r>
            <a:endParaRPr lang="en-IN" sz="3600" dirty="0">
              <a:solidFill>
                <a:srgbClr val="D3A518"/>
              </a:solidFill>
            </a:endParaRPr>
          </a:p>
        </p:txBody>
      </p:sp>
      <p:sp>
        <p:nvSpPr>
          <p:cNvPr id="27" name="TextBox 26">
            <a:extLst>
              <a:ext uri="{FF2B5EF4-FFF2-40B4-BE49-F238E27FC236}">
                <a16:creationId xmlns:a16="http://schemas.microsoft.com/office/drawing/2014/main" id="{1121D9A0-5FAD-052B-34D6-1AD40F7D109A}"/>
              </a:ext>
            </a:extLst>
          </p:cNvPr>
          <p:cNvSpPr txBox="1"/>
          <p:nvPr/>
        </p:nvSpPr>
        <p:spPr>
          <a:xfrm>
            <a:off x="13188982" y="5712653"/>
            <a:ext cx="624991" cy="646331"/>
          </a:xfrm>
          <a:prstGeom prst="rect">
            <a:avLst/>
          </a:prstGeom>
          <a:noFill/>
        </p:spPr>
        <p:txBody>
          <a:bodyPr wrap="square">
            <a:spAutoFit/>
          </a:bodyPr>
          <a:lstStyle/>
          <a:p>
            <a:r>
              <a:rPr lang="en-US" sz="3600" b="1" kern="0" spc="144" dirty="0">
                <a:solidFill>
                  <a:srgbClr val="D3A518"/>
                </a:solidFill>
                <a:latin typeface="Abadi" panose="020B0604020104020204" pitchFamily="34" charset="0"/>
                <a:ea typeface="Lato" pitchFamily="34" charset="-122"/>
                <a:cs typeface="Lato" pitchFamily="34" charset="-120"/>
              </a:rPr>
              <a:t>↑</a:t>
            </a:r>
            <a:endParaRPr lang="en-IN" sz="3600" dirty="0">
              <a:solidFill>
                <a:srgbClr val="D3A51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9E828145-F3A0-8086-772E-252DC91B1B60}"/>
              </a:ext>
            </a:extLst>
          </p:cNvPr>
          <p:cNvSpPr/>
          <p:nvPr/>
        </p:nvSpPr>
        <p:spPr>
          <a:xfrm>
            <a:off x="13790142" y="1533267"/>
            <a:ext cx="4205415" cy="7697230"/>
          </a:xfrm>
          <a:prstGeom prst="roundRect">
            <a:avLst/>
          </a:prstGeom>
          <a:solidFill>
            <a:srgbClr val="D3A51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ED05A0B3-1F0E-69D7-C3A8-058664B66A1E}"/>
              </a:ext>
            </a:extLst>
          </p:cNvPr>
          <p:cNvPicPr>
            <a:picLocks noChangeAspect="1"/>
          </p:cNvPicPr>
          <p:nvPr/>
        </p:nvPicPr>
        <p:blipFill>
          <a:blip r:embed="rId2"/>
          <a:stretch>
            <a:fillRect/>
          </a:stretch>
        </p:blipFill>
        <p:spPr>
          <a:xfrm>
            <a:off x="978554" y="2422957"/>
            <a:ext cx="12403810" cy="7220466"/>
          </a:xfrm>
          <a:prstGeom prst="rect">
            <a:avLst/>
          </a:prstGeom>
        </p:spPr>
      </p:pic>
      <p:sp>
        <p:nvSpPr>
          <p:cNvPr id="10" name="Rectangle: Rounded Corners 9">
            <a:extLst>
              <a:ext uri="{FF2B5EF4-FFF2-40B4-BE49-F238E27FC236}">
                <a16:creationId xmlns:a16="http://schemas.microsoft.com/office/drawing/2014/main" id="{E377B07C-C1BA-3E84-0E87-58058BACBB11}"/>
              </a:ext>
            </a:extLst>
          </p:cNvPr>
          <p:cNvSpPr/>
          <p:nvPr/>
        </p:nvSpPr>
        <p:spPr>
          <a:xfrm>
            <a:off x="13790142" y="2236574"/>
            <a:ext cx="4205415" cy="2483711"/>
          </a:xfrm>
          <a:prstGeom prst="roundRect">
            <a:avLst/>
          </a:prstGeom>
          <a:solidFill>
            <a:srgbClr val="D3A51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CEA113A-0D62-8B1B-DDE6-21C145FB23AD}"/>
              </a:ext>
            </a:extLst>
          </p:cNvPr>
          <p:cNvSpPr txBox="1"/>
          <p:nvPr/>
        </p:nvSpPr>
        <p:spPr>
          <a:xfrm>
            <a:off x="14000209" y="2236574"/>
            <a:ext cx="3756454" cy="2031325"/>
          </a:xfrm>
          <a:prstGeom prst="rect">
            <a:avLst/>
          </a:prstGeom>
          <a:noFill/>
        </p:spPr>
        <p:txBody>
          <a:bodyPr wrap="square" rtlCol="0">
            <a:spAutoFit/>
          </a:bodyPr>
          <a:lstStyle/>
          <a:p>
            <a:pPr algn="ctr"/>
            <a:r>
              <a:rPr lang="en-US" sz="2400" b="1" dirty="0">
                <a:solidFill>
                  <a:srgbClr val="00051E"/>
                </a:solidFill>
                <a:latin typeface="Abadi" panose="020B0604020104020204" pitchFamily="34" charset="0"/>
              </a:rPr>
              <a:t>THE REALITY</a:t>
            </a:r>
          </a:p>
          <a:p>
            <a:pPr algn="ctr"/>
            <a:endParaRPr lang="en-US" dirty="0">
              <a:solidFill>
                <a:schemeClr val="bg1"/>
              </a:solidFill>
              <a:latin typeface="Abadi" panose="020B0604020104020204" pitchFamily="34" charset="0"/>
            </a:endParaRPr>
          </a:p>
          <a:p>
            <a:pPr algn="ctr"/>
            <a:r>
              <a:rPr lang="en-US" sz="2100" dirty="0">
                <a:solidFill>
                  <a:srgbClr val="00051E"/>
                </a:solidFill>
                <a:latin typeface="Abadi" panose="020B0604020104020204" pitchFamily="34" charset="0"/>
              </a:rPr>
              <a:t>No single team sees the whole elephant - the complete health, performance, risk, cost and business value of the AI agent.</a:t>
            </a:r>
          </a:p>
        </p:txBody>
      </p:sp>
      <p:sp>
        <p:nvSpPr>
          <p:cNvPr id="12" name="Rectangle: Rounded Corners 11">
            <a:extLst>
              <a:ext uri="{FF2B5EF4-FFF2-40B4-BE49-F238E27FC236}">
                <a16:creationId xmlns:a16="http://schemas.microsoft.com/office/drawing/2014/main" id="{78799B7E-0368-DBCA-2CBF-B4569A62F8B3}"/>
              </a:ext>
            </a:extLst>
          </p:cNvPr>
          <p:cNvSpPr/>
          <p:nvPr/>
        </p:nvSpPr>
        <p:spPr>
          <a:xfrm>
            <a:off x="13775728" y="6310692"/>
            <a:ext cx="4205415" cy="2483711"/>
          </a:xfrm>
          <a:prstGeom prst="roundRect">
            <a:avLst/>
          </a:prstGeom>
          <a:solidFill>
            <a:srgbClr val="D3A51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8502AFCF-6905-05F9-6361-A94DB83D1514}"/>
              </a:ext>
            </a:extLst>
          </p:cNvPr>
          <p:cNvSpPr txBox="1"/>
          <p:nvPr/>
        </p:nvSpPr>
        <p:spPr>
          <a:xfrm>
            <a:off x="14041391" y="6399242"/>
            <a:ext cx="3756454" cy="2308324"/>
          </a:xfrm>
          <a:prstGeom prst="rect">
            <a:avLst/>
          </a:prstGeom>
          <a:noFill/>
        </p:spPr>
        <p:txBody>
          <a:bodyPr wrap="square" rtlCol="0">
            <a:spAutoFit/>
          </a:bodyPr>
          <a:lstStyle/>
          <a:p>
            <a:pPr algn="ctr"/>
            <a:r>
              <a:rPr lang="en-US" sz="2400" b="1" dirty="0">
                <a:solidFill>
                  <a:srgbClr val="00051E"/>
                </a:solidFill>
                <a:latin typeface="Abadi" panose="020B0604020104020204" pitchFamily="34" charset="0"/>
              </a:rPr>
              <a:t>DPI</a:t>
            </a:r>
          </a:p>
          <a:p>
            <a:endParaRPr lang="en-US" sz="2400" b="1" dirty="0">
              <a:solidFill>
                <a:srgbClr val="FFC000"/>
              </a:solidFill>
              <a:latin typeface="Abadi" panose="020B0604020104020204" pitchFamily="34" charset="0"/>
            </a:endParaRPr>
          </a:p>
          <a:p>
            <a:pPr algn="ctr"/>
            <a:r>
              <a:rPr lang="en-US" sz="2400" dirty="0">
                <a:solidFill>
                  <a:srgbClr val="00051E"/>
                </a:solidFill>
                <a:latin typeface="Abadi" panose="020B0604020104020204" pitchFamily="34" charset="0"/>
              </a:rPr>
              <a:t>A unified, multi-dimensional framework to see the full picture and scale with confidence.</a:t>
            </a:r>
          </a:p>
        </p:txBody>
      </p:sp>
      <p:sp>
        <p:nvSpPr>
          <p:cNvPr id="15" name="Shape 0">
            <a:extLst>
              <a:ext uri="{FF2B5EF4-FFF2-40B4-BE49-F238E27FC236}">
                <a16:creationId xmlns:a16="http://schemas.microsoft.com/office/drawing/2014/main" id="{D00AB782-59DA-0A92-652F-659C3D86204B}"/>
              </a:ext>
            </a:extLst>
          </p:cNvPr>
          <p:cNvSpPr/>
          <p:nvPr/>
        </p:nvSpPr>
        <p:spPr>
          <a:xfrm>
            <a:off x="15008722" y="2653163"/>
            <a:ext cx="1716560" cy="45719"/>
          </a:xfrm>
          <a:prstGeom prst="rect">
            <a:avLst/>
          </a:prstGeom>
          <a:solidFill>
            <a:schemeClr val="tx1"/>
          </a:solidFill>
          <a:ln/>
        </p:spPr>
        <p:txBody>
          <a:bodyPr/>
          <a:lstStyle/>
          <a:p>
            <a:endParaRPr lang="en-IN" dirty="0">
              <a:latin typeface="Abadi" panose="020B0604020104020204" pitchFamily="34" charset="0"/>
            </a:endParaRPr>
          </a:p>
        </p:txBody>
      </p:sp>
      <p:sp>
        <p:nvSpPr>
          <p:cNvPr id="17" name="Shape 0">
            <a:extLst>
              <a:ext uri="{FF2B5EF4-FFF2-40B4-BE49-F238E27FC236}">
                <a16:creationId xmlns:a16="http://schemas.microsoft.com/office/drawing/2014/main" id="{21B7F6BF-76DC-1011-19BF-DD373828ED0C}"/>
              </a:ext>
            </a:extLst>
          </p:cNvPr>
          <p:cNvSpPr/>
          <p:nvPr/>
        </p:nvSpPr>
        <p:spPr>
          <a:xfrm>
            <a:off x="15711616" y="6838231"/>
            <a:ext cx="443815" cy="45719"/>
          </a:xfrm>
          <a:prstGeom prst="rect">
            <a:avLst/>
          </a:prstGeom>
          <a:solidFill>
            <a:schemeClr val="tx1"/>
          </a:solidFill>
          <a:ln/>
        </p:spPr>
        <p:txBody>
          <a:bodyPr/>
          <a:lstStyle/>
          <a:p>
            <a:pPr algn="ctr"/>
            <a:endParaRPr lang="en-IN" dirty="0">
              <a:latin typeface="Abadi" panose="020B0604020104020204" pitchFamily="34" charset="0"/>
            </a:endParaRPr>
          </a:p>
        </p:txBody>
      </p:sp>
      <p:sp>
        <p:nvSpPr>
          <p:cNvPr id="18" name="Arrow: Down 17">
            <a:extLst>
              <a:ext uri="{FF2B5EF4-FFF2-40B4-BE49-F238E27FC236}">
                <a16:creationId xmlns:a16="http://schemas.microsoft.com/office/drawing/2014/main" id="{D095EDB8-41EA-1CCA-7BCA-C0496A0778A2}"/>
              </a:ext>
            </a:extLst>
          </p:cNvPr>
          <p:cNvSpPr/>
          <p:nvPr/>
        </p:nvSpPr>
        <p:spPr>
          <a:xfrm>
            <a:off x="15764750" y="4849505"/>
            <a:ext cx="259492" cy="975651"/>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 1">
            <a:extLst>
              <a:ext uri="{FF2B5EF4-FFF2-40B4-BE49-F238E27FC236}">
                <a16:creationId xmlns:a16="http://schemas.microsoft.com/office/drawing/2014/main" id="{CD81E958-FD95-73D0-27C2-AB7CC99ED411}"/>
              </a:ext>
            </a:extLst>
          </p:cNvPr>
          <p:cNvSpPr/>
          <p:nvPr/>
        </p:nvSpPr>
        <p:spPr>
          <a:xfrm>
            <a:off x="940143" y="358343"/>
            <a:ext cx="8228013" cy="430839"/>
          </a:xfrm>
          <a:prstGeom prst="rect">
            <a:avLst/>
          </a:prstGeom>
          <a:noFill/>
          <a:ln/>
        </p:spPr>
        <p:txBody>
          <a:bodyPr wrap="square" lIns="25400" tIns="25400" rIns="25400" bIns="25400" rtlCol="0" anchor="ctr">
            <a:normAutofit/>
          </a:bodyPr>
          <a:lstStyle/>
          <a:p>
            <a:pPr marL="0" indent="0" algn="l">
              <a:buNone/>
            </a:pPr>
            <a:r>
              <a:rPr lang="en-US" sz="1800" b="1" kern="0" spc="288" dirty="0">
                <a:solidFill>
                  <a:schemeClr val="bg1"/>
                </a:solidFill>
                <a:latin typeface="Abadi" panose="020B0604020104020204" pitchFamily="34" charset="0"/>
                <a:ea typeface="Lato" pitchFamily="34" charset="-122"/>
                <a:cs typeface="Lato" pitchFamily="34" charset="-120"/>
              </a:rPr>
              <a:t>THE NEW OBSERVABILITY GAP</a:t>
            </a:r>
            <a:endParaRPr lang="en-US" sz="1800" dirty="0">
              <a:solidFill>
                <a:schemeClr val="bg1"/>
              </a:solidFill>
              <a:latin typeface="Abadi" panose="020B0604020104020204" pitchFamily="34" charset="0"/>
            </a:endParaRPr>
          </a:p>
        </p:txBody>
      </p:sp>
      <p:sp>
        <p:nvSpPr>
          <p:cNvPr id="21" name="Text 1">
            <a:extLst>
              <a:ext uri="{FF2B5EF4-FFF2-40B4-BE49-F238E27FC236}">
                <a16:creationId xmlns:a16="http://schemas.microsoft.com/office/drawing/2014/main" id="{018A62E2-C8AD-648E-40C6-C15DED0FC563}"/>
              </a:ext>
            </a:extLst>
          </p:cNvPr>
          <p:cNvSpPr/>
          <p:nvPr/>
        </p:nvSpPr>
        <p:spPr>
          <a:xfrm>
            <a:off x="952499" y="1171005"/>
            <a:ext cx="8228013" cy="430839"/>
          </a:xfrm>
          <a:prstGeom prst="rect">
            <a:avLst/>
          </a:prstGeom>
          <a:noFill/>
          <a:ln/>
        </p:spPr>
        <p:txBody>
          <a:bodyPr wrap="square" lIns="25400" tIns="25400" rIns="25400" bIns="25400" rtlCol="0" anchor="ctr">
            <a:normAutofit/>
          </a:bodyPr>
          <a:lstStyle/>
          <a:p>
            <a:r>
              <a:rPr lang="en-US" sz="2400" b="1" kern="0" dirty="0">
                <a:solidFill>
                  <a:schemeClr val="bg1"/>
                </a:solidFill>
                <a:latin typeface="Abadi" panose="020B0604020104020204" pitchFamily="34" charset="0"/>
                <a:ea typeface="Lato" pitchFamily="34" charset="-122"/>
                <a:cs typeface="Lato" pitchFamily="34" charset="-120"/>
              </a:rPr>
              <a:t>Different Views. An Incomplete Picture. </a:t>
            </a:r>
          </a:p>
        </p:txBody>
      </p:sp>
      <p:sp>
        <p:nvSpPr>
          <p:cNvPr id="23" name="Shape 0">
            <a:extLst>
              <a:ext uri="{FF2B5EF4-FFF2-40B4-BE49-F238E27FC236}">
                <a16:creationId xmlns:a16="http://schemas.microsoft.com/office/drawing/2014/main" id="{F4D36926-02DC-E2F6-70D2-4AD1C1375B04}"/>
              </a:ext>
            </a:extLst>
          </p:cNvPr>
          <p:cNvSpPr/>
          <p:nvPr/>
        </p:nvSpPr>
        <p:spPr>
          <a:xfrm>
            <a:off x="952500" y="914400"/>
            <a:ext cx="838200" cy="57150"/>
          </a:xfrm>
          <a:prstGeom prst="rect">
            <a:avLst/>
          </a:prstGeom>
          <a:solidFill>
            <a:srgbClr val="D3A518"/>
          </a:solidFill>
          <a:ln/>
        </p:spPr>
        <p:txBody>
          <a:bodyPr/>
          <a:lstStyle/>
          <a:p>
            <a:endParaRPr lang="en-IN" dirty="0">
              <a:solidFill>
                <a:schemeClr val="bg1"/>
              </a:solidFill>
              <a:latin typeface="Abadi" panose="020B0604020104020204" pitchFamily="34" charset="0"/>
            </a:endParaRPr>
          </a:p>
        </p:txBody>
      </p:sp>
      <p:sp>
        <p:nvSpPr>
          <p:cNvPr id="24" name="Text 1">
            <a:extLst>
              <a:ext uri="{FF2B5EF4-FFF2-40B4-BE49-F238E27FC236}">
                <a16:creationId xmlns:a16="http://schemas.microsoft.com/office/drawing/2014/main" id="{32FB8612-88EE-A31B-DFF7-6286C5AF2C62}"/>
              </a:ext>
            </a:extLst>
          </p:cNvPr>
          <p:cNvSpPr/>
          <p:nvPr/>
        </p:nvSpPr>
        <p:spPr>
          <a:xfrm>
            <a:off x="915987" y="1754244"/>
            <a:ext cx="12108035" cy="430839"/>
          </a:xfrm>
          <a:prstGeom prst="rect">
            <a:avLst/>
          </a:prstGeom>
          <a:noFill/>
          <a:ln/>
        </p:spPr>
        <p:txBody>
          <a:bodyPr wrap="square" lIns="25400" tIns="25400" rIns="25400" bIns="25400" rtlCol="0" anchor="ctr">
            <a:noAutofit/>
          </a:bodyPr>
          <a:lstStyle/>
          <a:p>
            <a:r>
              <a:rPr lang="en-US" sz="2400" b="1" kern="0" dirty="0">
                <a:solidFill>
                  <a:schemeClr val="bg1"/>
                </a:solidFill>
                <a:latin typeface="Abadi" panose="020B0604020104020204" pitchFamily="34" charset="0"/>
                <a:ea typeface="Lato" pitchFamily="34" charset="-122"/>
                <a:cs typeface="Lato" pitchFamily="34" charset="-120"/>
              </a:rPr>
              <a:t>Each team sees only a part of the AI agent, leading to siloed evaluation and decisions.</a:t>
            </a:r>
          </a:p>
        </p:txBody>
      </p:sp>
    </p:spTree>
    <p:extLst>
      <p:ext uri="{BB962C8B-B14F-4D97-AF65-F5344CB8AC3E}">
        <p14:creationId xmlns:p14="http://schemas.microsoft.com/office/powerpoint/2010/main" val="2036089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p:nvSpPr>
          <p:cNvPr id="4" name="TriangleOutline">
            <a:extLst>
              <a:ext uri="{FF2B5EF4-FFF2-40B4-BE49-F238E27FC236}">
                <a16:creationId xmlns:a16="http://schemas.microsoft.com/office/drawing/2014/main" id="{169EC839-4277-48F8-B0D4-3343395BD8B5}"/>
              </a:ext>
            </a:extLst>
          </p:cNvPr>
          <p:cNvSpPr/>
          <p:nvPr/>
        </p:nvSpPr>
        <p:spPr>
          <a:xfrm>
            <a:off x="5969000" y="3614170"/>
            <a:ext cx="6350000" cy="4953000"/>
          </a:xfrm>
          <a:prstGeom prst="triangle">
            <a:avLst/>
          </a:prstGeom>
          <a:noFill/>
          <a:ln w="31750" cap="flat" cmpd="sng" algn="ctr">
            <a:solidFill>
              <a:srgbClr val="C9CDD3"/>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latin typeface="Abadi" panose="020B0604020104020204" pitchFamily="34" charset="0"/>
            </a:endParaRPr>
          </a:p>
        </p:txBody>
      </p:sp>
      <p:sp>
        <p:nvSpPr>
          <p:cNvPr id="5" name="CenterCircle">
            <a:extLst>
              <a:ext uri="{FF2B5EF4-FFF2-40B4-BE49-F238E27FC236}">
                <a16:creationId xmlns:a16="http://schemas.microsoft.com/office/drawing/2014/main" id="{9C82FEBA-58F1-4000-A6BF-EC16345D3B0D}"/>
              </a:ext>
            </a:extLst>
          </p:cNvPr>
          <p:cNvSpPr/>
          <p:nvPr/>
        </p:nvSpPr>
        <p:spPr>
          <a:xfrm>
            <a:off x="8255000" y="5783330"/>
            <a:ext cx="1778000" cy="1778000"/>
          </a:xfrm>
          <a:prstGeom prst="ellipse">
            <a:avLst/>
          </a:prstGeom>
          <a:solidFill>
            <a:srgbClr val="1A1A2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latin typeface="Abadi" panose="020B0604020104020204" pitchFamily="34" charset="0"/>
            </a:endParaRPr>
          </a:p>
        </p:txBody>
      </p:sp>
      <p:sp>
        <p:nvSpPr>
          <p:cNvPr id="6" name="TopCircle">
            <a:extLst>
              <a:ext uri="{FF2B5EF4-FFF2-40B4-BE49-F238E27FC236}">
                <a16:creationId xmlns:a16="http://schemas.microsoft.com/office/drawing/2014/main" id="{7215E537-13B0-4727-95F6-11A912F7D46B}"/>
              </a:ext>
            </a:extLst>
          </p:cNvPr>
          <p:cNvSpPr/>
          <p:nvPr/>
        </p:nvSpPr>
        <p:spPr>
          <a:xfrm>
            <a:off x="8445500" y="2915670"/>
            <a:ext cx="1397000" cy="1397000"/>
          </a:xfrm>
          <a:prstGeom prst="ellipse">
            <a:avLst/>
          </a:prstGeom>
          <a:solidFill>
            <a:srgbClr val="2E5EA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latin typeface="Abadi" panose="020B0604020104020204" pitchFamily="34" charset="0"/>
            </a:endParaRPr>
          </a:p>
        </p:txBody>
      </p:sp>
      <p:sp>
        <p:nvSpPr>
          <p:cNvPr id="7" name="LeftCircle">
            <a:extLst>
              <a:ext uri="{FF2B5EF4-FFF2-40B4-BE49-F238E27FC236}">
                <a16:creationId xmlns:a16="http://schemas.microsoft.com/office/drawing/2014/main" id="{A0FF74A0-5F97-43DF-B622-B9DDA7D933AD}"/>
              </a:ext>
            </a:extLst>
          </p:cNvPr>
          <p:cNvSpPr/>
          <p:nvPr/>
        </p:nvSpPr>
        <p:spPr>
          <a:xfrm>
            <a:off x="5270500" y="7868670"/>
            <a:ext cx="1397000" cy="1397000"/>
          </a:xfrm>
          <a:prstGeom prst="ellipse">
            <a:avLst/>
          </a:prstGeom>
          <a:solidFill>
            <a:srgbClr val="E887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latin typeface="Abadi" panose="020B0604020104020204" pitchFamily="34" charset="0"/>
            </a:endParaRPr>
          </a:p>
        </p:txBody>
      </p:sp>
      <p:sp>
        <p:nvSpPr>
          <p:cNvPr id="8" name="RightCircle">
            <a:extLst>
              <a:ext uri="{FF2B5EF4-FFF2-40B4-BE49-F238E27FC236}">
                <a16:creationId xmlns:a16="http://schemas.microsoft.com/office/drawing/2014/main" id="{A97BF764-06CF-4813-8E79-3DC88F62F6BA}"/>
              </a:ext>
            </a:extLst>
          </p:cNvPr>
          <p:cNvSpPr/>
          <p:nvPr/>
        </p:nvSpPr>
        <p:spPr>
          <a:xfrm>
            <a:off x="11620500" y="7868670"/>
            <a:ext cx="1397000" cy="1397000"/>
          </a:xfrm>
          <a:prstGeom prst="ellipse">
            <a:avLst/>
          </a:prstGeom>
          <a:solidFill>
            <a:srgbClr val="2E9E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dirty="0">
              <a:latin typeface="Abadi" panose="020B0604020104020204" pitchFamily="34" charset="0"/>
            </a:endParaRPr>
          </a:p>
        </p:txBody>
      </p:sp>
      <p:sp>
        <p:nvSpPr>
          <p:cNvPr id="9" name="TopText">
            <a:extLst>
              <a:ext uri="{FF2B5EF4-FFF2-40B4-BE49-F238E27FC236}">
                <a16:creationId xmlns:a16="http://schemas.microsoft.com/office/drawing/2014/main" id="{2AA57F3E-46CF-4E2E-988C-C0647184E78E}"/>
              </a:ext>
            </a:extLst>
          </p:cNvPr>
          <p:cNvSpPr txBox="1"/>
          <p:nvPr/>
        </p:nvSpPr>
        <p:spPr>
          <a:xfrm>
            <a:off x="7149236" y="1596103"/>
            <a:ext cx="4083060" cy="1225977"/>
          </a:xfrm>
          <a:prstGeom prst="rect">
            <a:avLst/>
          </a:prstGeom>
          <a:noFill/>
        </p:spPr>
        <p:txBody>
          <a:bodyPr vertOverflow="overflow" vert="horz" wrap="square" rtlCol="0" anchor="t">
            <a:spAutoFit/>
          </a:bodyPr>
          <a:lstStyle/>
          <a:p>
            <a:pPr>
              <a:spcAft>
                <a:spcPts val="200"/>
              </a:spcAft>
            </a:pPr>
            <a:r>
              <a:rPr lang="en-US" sz="2400" b="1" dirty="0">
                <a:solidFill>
                  <a:srgbClr val="2E5EAA"/>
                </a:solidFill>
                <a:latin typeface="Abadi" panose="020B0604020104020204" pitchFamily="34" charset="0"/>
              </a:rPr>
              <a:t>1. Science - Competency</a:t>
            </a:r>
          </a:p>
          <a:p>
            <a:r>
              <a:rPr lang="en-US" sz="2400" dirty="0">
                <a:solidFill>
                  <a:schemeClr val="bg1"/>
                </a:solidFill>
                <a:latin typeface="Abadi" panose="020B0604020104020204" pitchFamily="34" charset="0"/>
              </a:rPr>
              <a:t>The foundational engineering, LLMs / JEV and compute.</a:t>
            </a:r>
          </a:p>
        </p:txBody>
      </p:sp>
      <p:sp>
        <p:nvSpPr>
          <p:cNvPr id="10" name="LeftText">
            <a:extLst>
              <a:ext uri="{FF2B5EF4-FFF2-40B4-BE49-F238E27FC236}">
                <a16:creationId xmlns:a16="http://schemas.microsoft.com/office/drawing/2014/main" id="{CB8FD6F8-9DCF-4028-BE76-46690B91C873}"/>
              </a:ext>
            </a:extLst>
          </p:cNvPr>
          <p:cNvSpPr txBox="1"/>
          <p:nvPr/>
        </p:nvSpPr>
        <p:spPr>
          <a:xfrm>
            <a:off x="1016000" y="7741670"/>
            <a:ext cx="4000500" cy="1225977"/>
          </a:xfrm>
          <a:prstGeom prst="rect">
            <a:avLst/>
          </a:prstGeom>
          <a:noFill/>
        </p:spPr>
        <p:txBody>
          <a:bodyPr vertOverflow="overflow" vert="horz" wrap="square" rtlCol="0" anchor="t">
            <a:spAutoFit/>
          </a:bodyPr>
          <a:lstStyle/>
          <a:p>
            <a:pPr algn="r">
              <a:spcAft>
                <a:spcPts val="200"/>
              </a:spcAft>
            </a:pPr>
            <a:r>
              <a:rPr lang="en-US" sz="2400" b="1" dirty="0">
                <a:solidFill>
                  <a:srgbClr val="E8873A"/>
                </a:solidFill>
                <a:latin typeface="Abadi" panose="020B0604020104020204" pitchFamily="34" charset="0"/>
              </a:rPr>
              <a:t>2. Art - Collaboration</a:t>
            </a:r>
          </a:p>
          <a:p>
            <a:pPr algn="r"/>
            <a:r>
              <a:rPr lang="en-US" sz="2400" dirty="0">
                <a:solidFill>
                  <a:schemeClr val="bg1"/>
                </a:solidFill>
                <a:latin typeface="Abadi" panose="020B0604020104020204" pitchFamily="34" charset="0"/>
              </a:rPr>
              <a:t>Prompting, agentic behaviors, and workflows.</a:t>
            </a:r>
          </a:p>
        </p:txBody>
      </p:sp>
      <p:sp>
        <p:nvSpPr>
          <p:cNvPr id="11" name="RightText">
            <a:extLst>
              <a:ext uri="{FF2B5EF4-FFF2-40B4-BE49-F238E27FC236}">
                <a16:creationId xmlns:a16="http://schemas.microsoft.com/office/drawing/2014/main" id="{18E61FA0-FC80-4419-BA28-215A46FD7DA7}"/>
              </a:ext>
            </a:extLst>
          </p:cNvPr>
          <p:cNvSpPr txBox="1"/>
          <p:nvPr/>
        </p:nvSpPr>
        <p:spPr>
          <a:xfrm>
            <a:off x="13271500" y="7889160"/>
            <a:ext cx="4000500" cy="1225977"/>
          </a:xfrm>
          <a:prstGeom prst="rect">
            <a:avLst/>
          </a:prstGeom>
          <a:noFill/>
        </p:spPr>
        <p:txBody>
          <a:bodyPr vertOverflow="overflow" vert="horz" wrap="square" rtlCol="0" anchor="t">
            <a:spAutoFit/>
          </a:bodyPr>
          <a:lstStyle/>
          <a:p>
            <a:pPr algn="l">
              <a:spcAft>
                <a:spcPts val="200"/>
              </a:spcAft>
            </a:pPr>
            <a:r>
              <a:rPr lang="en-US" sz="2400" b="1" dirty="0">
                <a:solidFill>
                  <a:srgbClr val="2E9E64"/>
                </a:solidFill>
                <a:latin typeface="Abadi" panose="020B0604020104020204" pitchFamily="34" charset="0"/>
              </a:rPr>
              <a:t>3. Security - Controlling</a:t>
            </a:r>
          </a:p>
          <a:p>
            <a:pPr algn="l"/>
            <a:r>
              <a:rPr lang="en-US" sz="2400" dirty="0">
                <a:solidFill>
                  <a:schemeClr val="bg1"/>
                </a:solidFill>
                <a:latin typeface="Abadi" panose="020B0604020104020204" pitchFamily="34" charset="0"/>
              </a:rPr>
              <a:t>Governance, risk, and compliance.</a:t>
            </a:r>
          </a:p>
        </p:txBody>
      </p:sp>
      <p:sp>
        <p:nvSpPr>
          <p:cNvPr id="12" name="CenterText">
            <a:extLst>
              <a:ext uri="{FF2B5EF4-FFF2-40B4-BE49-F238E27FC236}">
                <a16:creationId xmlns:a16="http://schemas.microsoft.com/office/drawing/2014/main" id="{17205E34-B447-4D9A-861F-35238C0E1072}"/>
              </a:ext>
            </a:extLst>
          </p:cNvPr>
          <p:cNvSpPr txBox="1"/>
          <p:nvPr/>
        </p:nvSpPr>
        <p:spPr>
          <a:xfrm>
            <a:off x="6385560" y="7773980"/>
            <a:ext cx="5588000" cy="671979"/>
          </a:xfrm>
          <a:prstGeom prst="rect">
            <a:avLst/>
          </a:prstGeom>
          <a:noFill/>
        </p:spPr>
        <p:txBody>
          <a:bodyPr vertOverflow="overflow" vert="horz" wrap="square" rtlCol="0" anchor="t">
            <a:spAutoFit/>
          </a:bodyPr>
          <a:lstStyle/>
          <a:p>
            <a:pPr algn="ctr">
              <a:spcAft>
                <a:spcPts val="200"/>
              </a:spcAft>
            </a:pPr>
            <a:r>
              <a:rPr lang="en-US" b="1" dirty="0">
                <a:solidFill>
                  <a:schemeClr val="bg1"/>
                </a:solidFill>
                <a:latin typeface="Abadi" panose="020B0604020104020204" pitchFamily="34" charset="0"/>
              </a:rPr>
              <a:t>DPI = ƒ(Science, Art, Security)</a:t>
            </a:r>
          </a:p>
          <a:p>
            <a:pPr algn="ctr"/>
            <a:r>
              <a:rPr lang="en-US" i="1" dirty="0">
                <a:solidFill>
                  <a:schemeClr val="bg1"/>
                </a:solidFill>
                <a:latin typeface="Abadi" panose="020B0604020104020204" pitchFamily="34" charset="0"/>
              </a:rPr>
              <a:t>Measuring the balance of all three</a:t>
            </a:r>
          </a:p>
        </p:txBody>
      </p:sp>
      <p:sp>
        <p:nvSpPr>
          <p:cNvPr id="3" name="TitleBox">
            <a:extLst>
              <a:ext uri="{FF2B5EF4-FFF2-40B4-BE49-F238E27FC236}">
                <a16:creationId xmlns:a16="http://schemas.microsoft.com/office/drawing/2014/main" id="{4134D0A2-A3BE-406F-823B-D92C42A0869B}"/>
              </a:ext>
            </a:extLst>
          </p:cNvPr>
          <p:cNvSpPr txBox="1"/>
          <p:nvPr/>
        </p:nvSpPr>
        <p:spPr>
          <a:xfrm>
            <a:off x="762000" y="457200"/>
            <a:ext cx="16032480" cy="954107"/>
          </a:xfrm>
          <a:prstGeom prst="rect">
            <a:avLst/>
          </a:prstGeom>
          <a:noFill/>
        </p:spPr>
        <p:txBody>
          <a:bodyPr vertOverflow="overflow" vert="horz" wrap="square" rtlCol="0" anchor="t">
            <a:spAutoFit/>
          </a:bodyPr>
          <a:lstStyle/>
          <a:p>
            <a:pPr algn="l"/>
            <a:r>
              <a:rPr lang="en-US" sz="2800" b="1" dirty="0">
                <a:solidFill>
                  <a:srgbClr val="FFC000"/>
                </a:solidFill>
                <a:latin typeface="Abadi" panose="020B0604020104020204" pitchFamily="34" charset="0"/>
              </a:rPr>
              <a:t>The Agent Ecosystem needs to be Observed, Measured and Scaled based on not just the token cost but holistically across multiple dimensions.</a:t>
            </a:r>
          </a:p>
        </p:txBody>
      </p:sp>
      <p:pic>
        <p:nvPicPr>
          <p:cNvPr id="13" name="Graphic 13" descr="Science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26500" y="3296670"/>
            <a:ext cx="635000" cy="635000"/>
          </a:xfrm>
          <a:prstGeom prst="rect">
            <a:avLst/>
          </a:prstGeom>
        </p:spPr>
      </p:pic>
      <p:pic>
        <p:nvPicPr>
          <p:cNvPr id="14" name="Graphic 14" descr="Art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51500" y="8249670"/>
            <a:ext cx="635000" cy="635000"/>
          </a:xfrm>
          <a:prstGeom prst="rect">
            <a:avLst/>
          </a:prstGeom>
        </p:spPr>
      </p:pic>
      <p:pic>
        <p:nvPicPr>
          <p:cNvPr id="15" name="Graphic 15" descr="Security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001500" y="8249670"/>
            <a:ext cx="635000" cy="635000"/>
          </a:xfrm>
          <a:prstGeom prst="rect">
            <a:avLst/>
          </a:prstGeom>
        </p:spPr>
      </p:pic>
      <p:pic>
        <p:nvPicPr>
          <p:cNvPr id="16" name="Graphic 16" descr="DPI gauge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63000" y="6291330"/>
            <a:ext cx="762000" cy="762000"/>
          </a:xfrm>
          <a:prstGeom prst="rect">
            <a:avLst/>
          </a:prstGeom>
        </p:spPr>
      </p:pic>
    </p:spTree>
    <p:extLst>
      <p:ext uri="{BB962C8B-B14F-4D97-AF65-F5344CB8AC3E}">
        <p14:creationId xmlns:p14="http://schemas.microsoft.com/office/powerpoint/2010/main" val="506629013"/>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flipV="1">
            <a:off x="4779991" y="1371600"/>
            <a:ext cx="2514201" cy="128348"/>
          </a:xfrm>
          <a:prstGeom prst="rect">
            <a:avLst/>
          </a:prstGeom>
          <a:solidFill>
            <a:schemeClr val="accent6">
              <a:lumMod val="75000"/>
            </a:schemeClr>
          </a:solidFill>
          <a:ln/>
        </p:spPr>
        <p:txBody>
          <a:bodyPr/>
          <a:lstStyle/>
          <a:p>
            <a:endParaRPr lang="en-IN" dirty="0">
              <a:solidFill>
                <a:schemeClr val="bg1"/>
              </a:solidFill>
              <a:latin typeface="Abadi" panose="020B0604020104020204" pitchFamily="34" charset="0"/>
            </a:endParaRPr>
          </a:p>
        </p:txBody>
      </p:sp>
      <p:sp>
        <p:nvSpPr>
          <p:cNvPr id="3" name="Text 1"/>
          <p:cNvSpPr/>
          <p:nvPr/>
        </p:nvSpPr>
        <p:spPr>
          <a:xfrm>
            <a:off x="953215" y="1652824"/>
            <a:ext cx="8191500" cy="353616"/>
          </a:xfrm>
          <a:prstGeom prst="rect">
            <a:avLst/>
          </a:prstGeom>
          <a:noFill/>
          <a:ln/>
        </p:spPr>
        <p:txBody>
          <a:bodyPr wrap="square" lIns="25400" tIns="25400" rIns="25400" bIns="25400" rtlCol="0" anchor="t">
            <a:normAutofit/>
          </a:bodyPr>
          <a:lstStyle/>
          <a:p>
            <a:pPr marL="0" indent="0" algn="l">
              <a:buNone/>
            </a:pPr>
            <a:endParaRPr lang="en-US" sz="1800" dirty="0">
              <a:solidFill>
                <a:schemeClr val="bg1"/>
              </a:solidFill>
              <a:latin typeface="Abadi" panose="020B0604020104020204" pitchFamily="34" charset="0"/>
            </a:endParaRPr>
          </a:p>
        </p:txBody>
      </p:sp>
      <p:sp>
        <p:nvSpPr>
          <p:cNvPr id="4" name="Text 2"/>
          <p:cNvSpPr/>
          <p:nvPr/>
        </p:nvSpPr>
        <p:spPr>
          <a:xfrm>
            <a:off x="952500" y="1694361"/>
            <a:ext cx="13452277" cy="696397"/>
          </a:xfrm>
          <a:prstGeom prst="rect">
            <a:avLst/>
          </a:prstGeom>
          <a:noFill/>
          <a:ln/>
        </p:spPr>
        <p:txBody>
          <a:bodyPr wrap="square" lIns="25400" tIns="25400" rIns="25400" bIns="25400" rtlCol="0" anchor="ctr">
            <a:normAutofit/>
          </a:bodyPr>
          <a:lstStyle/>
          <a:p>
            <a:pPr marL="0" indent="0" algn="l">
              <a:lnSpc>
                <a:spcPct val="90000"/>
              </a:lnSpc>
              <a:buNone/>
            </a:pPr>
            <a:r>
              <a:rPr lang="en-US" sz="2800" b="1" kern="0" dirty="0">
                <a:solidFill>
                  <a:schemeClr val="bg1"/>
                </a:solidFill>
                <a:latin typeface="Abadi" panose="020B0604020104020204" pitchFamily="34" charset="0"/>
                <a:ea typeface="Lato" pitchFamily="34" charset="-122"/>
                <a:cs typeface="Lato" pitchFamily="34" charset="-120"/>
              </a:rPr>
              <a:t>A Performance Score for Every Enterprise Agent</a:t>
            </a:r>
            <a:endParaRPr lang="en-US" sz="2800" dirty="0">
              <a:solidFill>
                <a:schemeClr val="bg1"/>
              </a:solidFill>
              <a:latin typeface="Abadi" panose="020B0604020104020204" pitchFamily="34" charset="0"/>
            </a:endParaRPr>
          </a:p>
        </p:txBody>
      </p:sp>
      <p:sp>
        <p:nvSpPr>
          <p:cNvPr id="11" name="Shape 9"/>
          <p:cNvSpPr/>
          <p:nvPr/>
        </p:nvSpPr>
        <p:spPr>
          <a:xfrm>
            <a:off x="1371600" y="8270677"/>
            <a:ext cx="5286018" cy="9525"/>
          </a:xfrm>
          <a:prstGeom prst="rect">
            <a:avLst/>
          </a:prstGeom>
          <a:solidFill>
            <a:srgbClr val="FFFFFF">
              <a:alpha val="18000"/>
            </a:srgbClr>
          </a:solidFill>
          <a:ln/>
        </p:spPr>
        <p:txBody>
          <a:bodyPr/>
          <a:lstStyle/>
          <a:p>
            <a:endParaRPr lang="en-IN" dirty="0">
              <a:solidFill>
                <a:schemeClr val="bg1"/>
              </a:solidFill>
              <a:latin typeface="Abadi" panose="020B0604020104020204" pitchFamily="34" charset="0"/>
            </a:endParaRPr>
          </a:p>
        </p:txBody>
      </p:sp>
      <p:sp>
        <p:nvSpPr>
          <p:cNvPr id="14" name="Shape 12"/>
          <p:cNvSpPr/>
          <p:nvPr/>
        </p:nvSpPr>
        <p:spPr>
          <a:xfrm>
            <a:off x="942618" y="3283387"/>
            <a:ext cx="3178255" cy="2606040"/>
          </a:xfrm>
          <a:prstGeom prst="roundRect">
            <a:avLst>
              <a:gd name="adj" fmla="val 2193"/>
            </a:avLst>
          </a:prstGeom>
          <a:solidFill>
            <a:srgbClr val="D3A518"/>
          </a:solidFill>
          <a:ln>
            <a:solidFill>
              <a:schemeClr val="tx2">
                <a:lumMod val="40000"/>
                <a:lumOff val="60000"/>
              </a:schemeClr>
            </a:solidFill>
          </a:ln>
          <a:effectLst>
            <a:outerShdw blurRad="114300" dist="19050" dir="5400000" algn="bl" rotWithShape="0">
              <a:srgbClr val="00051E">
                <a:alpha val="10000"/>
              </a:srgbClr>
            </a:outerShdw>
          </a:effectLst>
        </p:spPr>
        <p:txBody>
          <a:bodyPr/>
          <a:lstStyle/>
          <a:p>
            <a:endParaRPr lang="en-IN" dirty="0">
              <a:solidFill>
                <a:schemeClr val="bg1"/>
              </a:solidFill>
              <a:latin typeface="Abadi" panose="020B0604020104020204" pitchFamily="34" charset="0"/>
            </a:endParaRPr>
          </a:p>
        </p:txBody>
      </p:sp>
      <p:sp>
        <p:nvSpPr>
          <p:cNvPr id="15" name="Text 13"/>
          <p:cNvSpPr/>
          <p:nvPr/>
        </p:nvSpPr>
        <p:spPr>
          <a:xfrm>
            <a:off x="1190268" y="3531037"/>
            <a:ext cx="2951250" cy="312420"/>
          </a:xfrm>
          <a:prstGeom prst="rect">
            <a:avLst/>
          </a:prstGeom>
          <a:noFill/>
          <a:ln/>
        </p:spPr>
        <p:txBody>
          <a:bodyPr wrap="square" lIns="25400" tIns="25400" rIns="25400" bIns="25400" rtlCol="0" anchor="t">
            <a:noAutofit/>
          </a:bodyPr>
          <a:lstStyle/>
          <a:p>
            <a:pPr marL="0" indent="0" algn="l">
              <a:buNone/>
            </a:pPr>
            <a:r>
              <a:rPr lang="en-US" sz="2000" b="1" kern="0" spc="108" dirty="0">
                <a:solidFill>
                  <a:srgbClr val="00051E"/>
                </a:solidFill>
                <a:latin typeface="Abadi" panose="020B0604020104020204" pitchFamily="34" charset="0"/>
                <a:ea typeface="Lato" pitchFamily="34" charset="-122"/>
                <a:cs typeface="Lato" pitchFamily="34" charset="-120"/>
              </a:rPr>
              <a:t>PRODUCTIVITY</a:t>
            </a:r>
            <a:endParaRPr lang="en-US" sz="2000" dirty="0">
              <a:solidFill>
                <a:srgbClr val="00051E"/>
              </a:solidFill>
              <a:latin typeface="Abadi" panose="020B0604020104020204" pitchFamily="34" charset="0"/>
            </a:endParaRPr>
          </a:p>
        </p:txBody>
      </p:sp>
      <p:sp>
        <p:nvSpPr>
          <p:cNvPr id="16" name="Text 14"/>
          <p:cNvSpPr/>
          <p:nvPr/>
        </p:nvSpPr>
        <p:spPr>
          <a:xfrm>
            <a:off x="1190268" y="3919657"/>
            <a:ext cx="2930605" cy="655320"/>
          </a:xfrm>
          <a:prstGeom prst="rect">
            <a:avLst/>
          </a:prstGeom>
          <a:noFill/>
          <a:ln/>
        </p:spPr>
        <p:txBody>
          <a:bodyPr wrap="square" lIns="25400" tIns="25400" rIns="25400" bIns="25400" rtlCol="0" anchor="t">
            <a:noAutofit/>
          </a:bodyPr>
          <a:lstStyle/>
          <a:p>
            <a:pPr marL="0" indent="0" algn="l">
              <a:lnSpc>
                <a:spcPct val="112500"/>
              </a:lnSpc>
              <a:buNone/>
            </a:pPr>
            <a:r>
              <a:rPr lang="en-US" sz="2100" dirty="0">
                <a:solidFill>
                  <a:srgbClr val="00051E"/>
                </a:solidFill>
                <a:latin typeface="Abadi" panose="020B0604020104020204" pitchFamily="34" charset="0"/>
                <a:ea typeface="Lato" pitchFamily="34" charset="-122"/>
                <a:cs typeface="Lato" pitchFamily="34" charset="-120"/>
              </a:rPr>
              <a:t>Is the agent achieving the objective?</a:t>
            </a:r>
            <a:endParaRPr lang="en-US" sz="2100" dirty="0">
              <a:solidFill>
                <a:srgbClr val="00051E"/>
              </a:solidFill>
              <a:latin typeface="Abadi" panose="020B0604020104020204" pitchFamily="34" charset="0"/>
            </a:endParaRPr>
          </a:p>
        </p:txBody>
      </p:sp>
      <p:sp>
        <p:nvSpPr>
          <p:cNvPr id="17" name="Shape 15"/>
          <p:cNvSpPr/>
          <p:nvPr/>
        </p:nvSpPr>
        <p:spPr>
          <a:xfrm>
            <a:off x="4292323" y="3283387"/>
            <a:ext cx="3178255"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dirty="0">
              <a:solidFill>
                <a:schemeClr val="bg1"/>
              </a:solidFill>
              <a:latin typeface="Abadi" panose="020B0604020104020204" pitchFamily="34" charset="0"/>
            </a:endParaRPr>
          </a:p>
        </p:txBody>
      </p:sp>
      <p:sp>
        <p:nvSpPr>
          <p:cNvPr id="18" name="Text 16"/>
          <p:cNvSpPr/>
          <p:nvPr/>
        </p:nvSpPr>
        <p:spPr>
          <a:xfrm>
            <a:off x="4539973" y="3531037"/>
            <a:ext cx="2951250" cy="312420"/>
          </a:xfrm>
          <a:prstGeom prst="rect">
            <a:avLst/>
          </a:prstGeom>
          <a:noFill/>
          <a:ln/>
        </p:spPr>
        <p:txBody>
          <a:bodyPr wrap="square" lIns="25400" tIns="25400" rIns="25400" bIns="25400" rtlCol="0" anchor="t">
            <a:noAutofit/>
          </a:bodyPr>
          <a:lstStyle/>
          <a:p>
            <a:pPr marL="0" indent="0" algn="l">
              <a:buNone/>
            </a:pPr>
            <a:r>
              <a:rPr lang="en-US" sz="2000" b="1" kern="0" spc="108" dirty="0">
                <a:latin typeface="Abadi" panose="020B0604020104020204" pitchFamily="34" charset="0"/>
                <a:ea typeface="Lato" pitchFamily="34" charset="-122"/>
                <a:cs typeface="Lato" pitchFamily="34" charset="-120"/>
              </a:rPr>
              <a:t>QUALITY</a:t>
            </a:r>
            <a:endParaRPr lang="en-US" sz="2000" dirty="0">
              <a:latin typeface="Abadi" panose="020B0604020104020204" pitchFamily="34" charset="0"/>
            </a:endParaRPr>
          </a:p>
        </p:txBody>
      </p:sp>
      <p:sp>
        <p:nvSpPr>
          <p:cNvPr id="19" name="Text 17"/>
          <p:cNvSpPr/>
          <p:nvPr/>
        </p:nvSpPr>
        <p:spPr>
          <a:xfrm>
            <a:off x="4539973" y="3919657"/>
            <a:ext cx="2951250" cy="346710"/>
          </a:xfrm>
          <a:prstGeom prst="rect">
            <a:avLst/>
          </a:prstGeom>
          <a:noFill/>
          <a:ln/>
        </p:spPr>
        <p:txBody>
          <a:bodyPr wrap="square" lIns="25400" tIns="25400" rIns="25400" bIns="25400" rtlCol="0" anchor="t">
            <a:noAutofit/>
          </a:bodyPr>
          <a:lstStyle/>
          <a:p>
            <a:pPr marL="0" indent="0" algn="l">
              <a:lnSpc>
                <a:spcPct val="112500"/>
              </a:lnSpc>
              <a:buNone/>
            </a:pPr>
            <a:r>
              <a:rPr lang="en-US" sz="2100" dirty="0">
                <a:latin typeface="Abadi" panose="020B0604020104020204" pitchFamily="34" charset="0"/>
                <a:ea typeface="Lato" pitchFamily="34" charset="-122"/>
                <a:cs typeface="Lato" pitchFamily="34" charset="-120"/>
              </a:rPr>
              <a:t>Can we trust the output?</a:t>
            </a:r>
            <a:endParaRPr lang="en-US" sz="2100" dirty="0">
              <a:latin typeface="Abadi" panose="020B0604020104020204" pitchFamily="34" charset="0"/>
            </a:endParaRPr>
          </a:p>
        </p:txBody>
      </p:sp>
      <p:sp>
        <p:nvSpPr>
          <p:cNvPr id="20" name="Shape 18"/>
          <p:cNvSpPr/>
          <p:nvPr/>
        </p:nvSpPr>
        <p:spPr>
          <a:xfrm>
            <a:off x="7642027" y="3283387"/>
            <a:ext cx="3178373" cy="2606040"/>
          </a:xfrm>
          <a:prstGeom prst="roundRect">
            <a:avLst>
              <a:gd name="adj" fmla="val 2193"/>
            </a:avLst>
          </a:prstGeom>
          <a:solidFill>
            <a:srgbClr val="D3A518"/>
          </a:solidFill>
          <a:ln/>
          <a:effectLst>
            <a:outerShdw blurRad="114300" dist="19050" dir="5400000" algn="bl" rotWithShape="0">
              <a:srgbClr val="00051E">
                <a:alpha val="10000"/>
              </a:srgbClr>
            </a:outerShdw>
          </a:effectLst>
        </p:spPr>
        <p:txBody>
          <a:bodyPr/>
          <a:lstStyle/>
          <a:p>
            <a:endParaRPr lang="en-IN" dirty="0">
              <a:solidFill>
                <a:schemeClr val="bg1"/>
              </a:solidFill>
              <a:latin typeface="Abadi" panose="020B0604020104020204" pitchFamily="34" charset="0"/>
            </a:endParaRPr>
          </a:p>
        </p:txBody>
      </p:sp>
      <p:sp>
        <p:nvSpPr>
          <p:cNvPr id="21" name="Text 19"/>
          <p:cNvSpPr/>
          <p:nvPr/>
        </p:nvSpPr>
        <p:spPr>
          <a:xfrm>
            <a:off x="7889677" y="3531037"/>
            <a:ext cx="2951381" cy="312420"/>
          </a:xfrm>
          <a:prstGeom prst="rect">
            <a:avLst/>
          </a:prstGeom>
          <a:noFill/>
          <a:ln/>
        </p:spPr>
        <p:txBody>
          <a:bodyPr wrap="square" lIns="25400" tIns="25400" rIns="25400" bIns="25400" rtlCol="0" anchor="t">
            <a:noAutofit/>
          </a:bodyPr>
          <a:lstStyle/>
          <a:p>
            <a:pPr marL="0" indent="0" algn="l">
              <a:buNone/>
            </a:pPr>
            <a:r>
              <a:rPr lang="en-US" sz="2000" b="1" kern="0" spc="108" dirty="0">
                <a:solidFill>
                  <a:srgbClr val="00051E"/>
                </a:solidFill>
                <a:latin typeface="Abadi" panose="020B0604020104020204" pitchFamily="34" charset="0"/>
                <a:ea typeface="Lato" pitchFamily="34" charset="-122"/>
                <a:cs typeface="Lato" pitchFamily="34" charset="-120"/>
              </a:rPr>
              <a:t>EFFICIENCY</a:t>
            </a:r>
            <a:endParaRPr lang="en-US" sz="2000" dirty="0">
              <a:solidFill>
                <a:srgbClr val="00051E"/>
              </a:solidFill>
              <a:latin typeface="Abadi" panose="020B0604020104020204" pitchFamily="34" charset="0"/>
            </a:endParaRPr>
          </a:p>
        </p:txBody>
      </p:sp>
      <p:sp>
        <p:nvSpPr>
          <p:cNvPr id="22" name="Text 20"/>
          <p:cNvSpPr/>
          <p:nvPr/>
        </p:nvSpPr>
        <p:spPr>
          <a:xfrm>
            <a:off x="7889677" y="3919657"/>
            <a:ext cx="2763566" cy="655320"/>
          </a:xfrm>
          <a:prstGeom prst="rect">
            <a:avLst/>
          </a:prstGeom>
          <a:noFill/>
          <a:ln/>
        </p:spPr>
        <p:txBody>
          <a:bodyPr wrap="square" lIns="25400" tIns="25400" rIns="25400" bIns="25400" rtlCol="0" anchor="t">
            <a:noAutofit/>
          </a:bodyPr>
          <a:lstStyle/>
          <a:p>
            <a:pPr marL="0" indent="0" algn="l">
              <a:lnSpc>
                <a:spcPct val="112500"/>
              </a:lnSpc>
              <a:buNone/>
            </a:pPr>
            <a:r>
              <a:rPr lang="en-US" sz="2100" dirty="0">
                <a:solidFill>
                  <a:srgbClr val="00051E"/>
                </a:solidFill>
                <a:latin typeface="Abadi" panose="020B0604020104020204" pitchFamily="34" charset="0"/>
                <a:ea typeface="Lato" pitchFamily="34" charset="-122"/>
                <a:cs typeface="Lato" pitchFamily="34" charset="-120"/>
              </a:rPr>
              <a:t>Are actions and tools succeeding?</a:t>
            </a:r>
            <a:endParaRPr lang="en-US" sz="2100" dirty="0">
              <a:solidFill>
                <a:srgbClr val="00051E"/>
              </a:solidFill>
              <a:latin typeface="Abadi" panose="020B0604020104020204" pitchFamily="34" charset="0"/>
            </a:endParaRPr>
          </a:p>
        </p:txBody>
      </p:sp>
      <p:sp>
        <p:nvSpPr>
          <p:cNvPr id="23" name="Shape 21"/>
          <p:cNvSpPr/>
          <p:nvPr/>
        </p:nvSpPr>
        <p:spPr>
          <a:xfrm>
            <a:off x="942618" y="6060877"/>
            <a:ext cx="3178255" cy="2606040"/>
          </a:xfrm>
          <a:prstGeom prst="roundRect">
            <a:avLst>
              <a:gd name="adj" fmla="val 2193"/>
            </a:avLst>
          </a:prstGeom>
          <a:solidFill>
            <a:srgbClr val="FFFFFF"/>
          </a:solidFill>
          <a:ln w="15240">
            <a:solidFill>
              <a:srgbClr val="D3A518"/>
            </a:solidFill>
            <a:prstDash val="solid"/>
          </a:ln>
          <a:effectLst>
            <a:outerShdw blurRad="114300" dist="19050" dir="5400000" algn="bl" rotWithShape="0">
              <a:srgbClr val="00051E">
                <a:alpha val="10000"/>
              </a:srgbClr>
            </a:outerShdw>
          </a:effectLst>
        </p:spPr>
        <p:txBody>
          <a:bodyPr/>
          <a:lstStyle/>
          <a:p>
            <a:endParaRPr lang="en-IN" dirty="0">
              <a:solidFill>
                <a:schemeClr val="bg1"/>
              </a:solidFill>
              <a:latin typeface="Abadi" panose="020B0604020104020204" pitchFamily="34" charset="0"/>
            </a:endParaRPr>
          </a:p>
        </p:txBody>
      </p:sp>
      <p:sp>
        <p:nvSpPr>
          <p:cNvPr id="24" name="Text 22"/>
          <p:cNvSpPr/>
          <p:nvPr/>
        </p:nvSpPr>
        <p:spPr>
          <a:xfrm>
            <a:off x="1205508" y="6323766"/>
            <a:ext cx="2917722" cy="312420"/>
          </a:xfrm>
          <a:prstGeom prst="rect">
            <a:avLst/>
          </a:prstGeom>
          <a:noFill/>
          <a:ln/>
        </p:spPr>
        <p:txBody>
          <a:bodyPr wrap="square" lIns="25400" tIns="25400" rIns="25400" bIns="25400" rtlCol="0" anchor="t">
            <a:noAutofit/>
          </a:bodyPr>
          <a:lstStyle/>
          <a:p>
            <a:pPr marL="0" indent="0" algn="l">
              <a:buNone/>
            </a:pPr>
            <a:r>
              <a:rPr lang="en-US" sz="2000" b="1" kern="0" spc="108" dirty="0">
                <a:latin typeface="Abadi" panose="020B0604020104020204" pitchFamily="34" charset="0"/>
                <a:ea typeface="Lato" pitchFamily="34" charset="-122"/>
                <a:cs typeface="Lato" pitchFamily="34" charset="-120"/>
              </a:rPr>
              <a:t>GOVERNANACE</a:t>
            </a:r>
            <a:endParaRPr lang="en-US" sz="2000" dirty="0">
              <a:latin typeface="Abadi" panose="020B0604020104020204" pitchFamily="34" charset="0"/>
            </a:endParaRPr>
          </a:p>
        </p:txBody>
      </p:sp>
      <p:sp>
        <p:nvSpPr>
          <p:cNvPr id="25" name="Text 23"/>
          <p:cNvSpPr/>
          <p:nvPr/>
        </p:nvSpPr>
        <p:spPr>
          <a:xfrm>
            <a:off x="1205508" y="6712387"/>
            <a:ext cx="2732049" cy="655320"/>
          </a:xfrm>
          <a:prstGeom prst="rect">
            <a:avLst/>
          </a:prstGeom>
          <a:noFill/>
          <a:ln/>
        </p:spPr>
        <p:txBody>
          <a:bodyPr wrap="square" lIns="25400" tIns="25400" rIns="25400" bIns="25400" rtlCol="0" anchor="t">
            <a:noAutofit/>
          </a:bodyPr>
          <a:lstStyle/>
          <a:p>
            <a:pPr>
              <a:lnSpc>
                <a:spcPct val="112500"/>
              </a:lnSpc>
            </a:pPr>
            <a:r>
              <a:rPr lang="en-US" sz="2100" dirty="0">
                <a:latin typeface="Abadi" panose="020B0604020104020204" pitchFamily="34" charset="0"/>
                <a:ea typeface="Lato" pitchFamily="34" charset="-122"/>
                <a:cs typeface="Lato" pitchFamily="34" charset="-120"/>
              </a:rPr>
              <a:t>Is the agent operating within policy?</a:t>
            </a:r>
          </a:p>
        </p:txBody>
      </p:sp>
      <p:sp>
        <p:nvSpPr>
          <p:cNvPr id="27" name="Shape 25"/>
          <p:cNvSpPr/>
          <p:nvPr/>
        </p:nvSpPr>
        <p:spPr>
          <a:xfrm>
            <a:off x="4292323" y="6060877"/>
            <a:ext cx="3178255" cy="2606040"/>
          </a:xfrm>
          <a:prstGeom prst="roundRect">
            <a:avLst>
              <a:gd name="adj" fmla="val 2193"/>
            </a:avLst>
          </a:prstGeom>
          <a:solidFill>
            <a:srgbClr val="D3A518"/>
          </a:solidFill>
          <a:ln/>
          <a:effectLst>
            <a:outerShdw blurRad="114300" dist="19050" dir="5400000" algn="bl" rotWithShape="0">
              <a:srgbClr val="00051E">
                <a:alpha val="10000"/>
              </a:srgbClr>
            </a:outerShdw>
          </a:effectLst>
        </p:spPr>
        <p:txBody>
          <a:bodyPr/>
          <a:lstStyle/>
          <a:p>
            <a:endParaRPr lang="en-IN" dirty="0">
              <a:solidFill>
                <a:schemeClr val="bg1"/>
              </a:solidFill>
              <a:latin typeface="Abadi" panose="020B0604020104020204" pitchFamily="34" charset="0"/>
            </a:endParaRPr>
          </a:p>
        </p:txBody>
      </p:sp>
      <p:sp>
        <p:nvSpPr>
          <p:cNvPr id="28" name="Text 26"/>
          <p:cNvSpPr/>
          <p:nvPr/>
        </p:nvSpPr>
        <p:spPr>
          <a:xfrm>
            <a:off x="4539973" y="6308527"/>
            <a:ext cx="2951250" cy="312420"/>
          </a:xfrm>
          <a:prstGeom prst="rect">
            <a:avLst/>
          </a:prstGeom>
          <a:noFill/>
          <a:ln/>
        </p:spPr>
        <p:txBody>
          <a:bodyPr wrap="square" lIns="25400" tIns="25400" rIns="25400" bIns="25400" rtlCol="0" anchor="t">
            <a:noAutofit/>
          </a:bodyPr>
          <a:lstStyle/>
          <a:p>
            <a:r>
              <a:rPr lang="en-US" sz="2000" b="1" kern="0" spc="108" dirty="0">
                <a:solidFill>
                  <a:srgbClr val="00051E"/>
                </a:solidFill>
                <a:latin typeface="Abadi" panose="020B0604020104020204" pitchFamily="34" charset="0"/>
                <a:ea typeface="Lato" pitchFamily="34" charset="-122"/>
                <a:cs typeface="Lato" pitchFamily="34" charset="-120"/>
              </a:rPr>
              <a:t>RISK &amp; SECURITY</a:t>
            </a:r>
            <a:endParaRPr lang="en-US" sz="2000" dirty="0">
              <a:solidFill>
                <a:srgbClr val="00051E"/>
              </a:solidFill>
              <a:latin typeface="Abadi" panose="020B0604020104020204" pitchFamily="34" charset="0"/>
            </a:endParaRPr>
          </a:p>
        </p:txBody>
      </p:sp>
      <p:sp>
        <p:nvSpPr>
          <p:cNvPr id="29" name="Text 27"/>
          <p:cNvSpPr/>
          <p:nvPr/>
        </p:nvSpPr>
        <p:spPr>
          <a:xfrm>
            <a:off x="4539973" y="6697147"/>
            <a:ext cx="2763443" cy="655320"/>
          </a:xfrm>
          <a:prstGeom prst="rect">
            <a:avLst/>
          </a:prstGeom>
          <a:noFill/>
          <a:ln/>
        </p:spPr>
        <p:txBody>
          <a:bodyPr wrap="square" lIns="25400" tIns="25400" rIns="25400" bIns="25400" rtlCol="0" anchor="t">
            <a:noAutofit/>
          </a:bodyPr>
          <a:lstStyle/>
          <a:p>
            <a:pPr marL="0" indent="0" algn="l">
              <a:lnSpc>
                <a:spcPct val="112500"/>
              </a:lnSpc>
              <a:buNone/>
            </a:pPr>
            <a:r>
              <a:rPr lang="en-US" sz="2100" dirty="0">
                <a:solidFill>
                  <a:srgbClr val="00051E"/>
                </a:solidFill>
                <a:latin typeface="Abadi" panose="020B0604020104020204" pitchFamily="34" charset="0"/>
                <a:ea typeface="Lato" pitchFamily="34" charset="-122"/>
                <a:cs typeface="Lato" pitchFamily="34" charset="-120"/>
              </a:rPr>
              <a:t>What exposure is being created?</a:t>
            </a:r>
            <a:endParaRPr lang="en-US" sz="2100" dirty="0">
              <a:solidFill>
                <a:srgbClr val="00051E"/>
              </a:solidFill>
              <a:latin typeface="Abadi" panose="020B0604020104020204" pitchFamily="34" charset="0"/>
            </a:endParaRPr>
          </a:p>
        </p:txBody>
      </p:sp>
      <p:sp>
        <p:nvSpPr>
          <p:cNvPr id="30" name="Shape 28"/>
          <p:cNvSpPr/>
          <p:nvPr/>
        </p:nvSpPr>
        <p:spPr>
          <a:xfrm>
            <a:off x="7642027" y="6060877"/>
            <a:ext cx="3178373"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dirty="0">
              <a:solidFill>
                <a:schemeClr val="bg1"/>
              </a:solidFill>
              <a:latin typeface="Abadi" panose="020B0604020104020204" pitchFamily="34" charset="0"/>
            </a:endParaRPr>
          </a:p>
        </p:txBody>
      </p:sp>
      <p:sp>
        <p:nvSpPr>
          <p:cNvPr id="31" name="Text 29"/>
          <p:cNvSpPr/>
          <p:nvPr/>
        </p:nvSpPr>
        <p:spPr>
          <a:xfrm>
            <a:off x="7889677" y="6308527"/>
            <a:ext cx="2951381"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latin typeface="Abadi" panose="020B0604020104020204" pitchFamily="34" charset="0"/>
                <a:ea typeface="Lato" pitchFamily="34" charset="-122"/>
                <a:cs typeface="Lato" pitchFamily="34" charset="-120"/>
              </a:rPr>
              <a:t>COST</a:t>
            </a:r>
            <a:endParaRPr lang="en-US" sz="1800" b="1" dirty="0">
              <a:latin typeface="Abadi" panose="020B0604020104020204" pitchFamily="34" charset="0"/>
            </a:endParaRPr>
          </a:p>
        </p:txBody>
      </p:sp>
      <p:sp>
        <p:nvSpPr>
          <p:cNvPr id="33" name="Shape 31"/>
          <p:cNvSpPr/>
          <p:nvPr/>
        </p:nvSpPr>
        <p:spPr>
          <a:xfrm>
            <a:off x="942618" y="8838366"/>
            <a:ext cx="9877782" cy="765810"/>
          </a:xfrm>
          <a:prstGeom prst="roundRect">
            <a:avLst>
              <a:gd name="adj" fmla="val 7463"/>
            </a:avLst>
          </a:prstGeom>
          <a:solidFill>
            <a:srgbClr val="D3A518"/>
          </a:solidFill>
          <a:ln>
            <a:solidFill>
              <a:schemeClr val="accent1"/>
            </a:solidFill>
          </a:ln>
        </p:spPr>
        <p:txBody>
          <a:bodyPr/>
          <a:lstStyle/>
          <a:p>
            <a:endParaRPr lang="en-IN" dirty="0">
              <a:solidFill>
                <a:schemeClr val="bg1"/>
              </a:solidFill>
              <a:latin typeface="Abadi" panose="020B0604020104020204" pitchFamily="34" charset="0"/>
            </a:endParaRPr>
          </a:p>
        </p:txBody>
      </p:sp>
      <p:sp>
        <p:nvSpPr>
          <p:cNvPr id="34" name="Text 32"/>
          <p:cNvSpPr/>
          <p:nvPr/>
        </p:nvSpPr>
        <p:spPr>
          <a:xfrm>
            <a:off x="1190268" y="9089775"/>
            <a:ext cx="1674043"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VALIDATION</a:t>
            </a:r>
            <a:endParaRPr lang="en-US" sz="1800" dirty="0">
              <a:solidFill>
                <a:srgbClr val="00051E"/>
              </a:solidFill>
              <a:latin typeface="Abadi" panose="020B0604020104020204" pitchFamily="34" charset="0"/>
            </a:endParaRPr>
          </a:p>
        </p:txBody>
      </p:sp>
      <p:sp>
        <p:nvSpPr>
          <p:cNvPr id="35" name="Text 33"/>
          <p:cNvSpPr/>
          <p:nvPr/>
        </p:nvSpPr>
        <p:spPr>
          <a:xfrm>
            <a:off x="2940725" y="9047916"/>
            <a:ext cx="6370582"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00051E"/>
                </a:solidFill>
                <a:latin typeface="Abadi" panose="020B0604020104020204" pitchFamily="34" charset="0"/>
                <a:ea typeface="Lato" pitchFamily="34" charset="-122"/>
                <a:cs typeface="Lato" pitchFamily="34" charset="-120"/>
              </a:rPr>
              <a:t>Are required structures, rules and controls being satisfied?</a:t>
            </a:r>
            <a:endParaRPr lang="en-US" sz="1800" dirty="0">
              <a:solidFill>
                <a:srgbClr val="00051E"/>
              </a:solidFill>
              <a:latin typeface="Abadi" panose="020B0604020104020204" pitchFamily="34" charset="0"/>
            </a:endParaRPr>
          </a:p>
        </p:txBody>
      </p:sp>
      <p:sp>
        <p:nvSpPr>
          <p:cNvPr id="36" name="TextBox 35">
            <a:extLst>
              <a:ext uri="{FF2B5EF4-FFF2-40B4-BE49-F238E27FC236}">
                <a16:creationId xmlns:a16="http://schemas.microsoft.com/office/drawing/2014/main" id="{1F22C8D2-B37E-8EDA-9691-061E4DA06C71}"/>
              </a:ext>
            </a:extLst>
          </p:cNvPr>
          <p:cNvSpPr txBox="1"/>
          <p:nvPr/>
        </p:nvSpPr>
        <p:spPr>
          <a:xfrm>
            <a:off x="952500" y="651271"/>
            <a:ext cx="7033260" cy="738664"/>
          </a:xfrm>
          <a:prstGeom prst="rect">
            <a:avLst/>
          </a:prstGeom>
          <a:noFill/>
        </p:spPr>
        <p:txBody>
          <a:bodyPr wrap="square" rtlCol="0">
            <a:spAutoFit/>
          </a:bodyPr>
          <a:lstStyle/>
          <a:p>
            <a:r>
              <a:rPr lang="en-IN" sz="4200" b="1" dirty="0">
                <a:solidFill>
                  <a:schemeClr val="bg1"/>
                </a:solidFill>
                <a:latin typeface="Abadi" panose="020B0604020104020204" pitchFamily="34" charset="0"/>
              </a:rPr>
              <a:t>Intelligenz IT – DPI Engine</a:t>
            </a:r>
          </a:p>
        </p:txBody>
      </p:sp>
      <p:sp>
        <p:nvSpPr>
          <p:cNvPr id="38" name="Text 2">
            <a:extLst>
              <a:ext uri="{FF2B5EF4-FFF2-40B4-BE49-F238E27FC236}">
                <a16:creationId xmlns:a16="http://schemas.microsoft.com/office/drawing/2014/main" id="{D7B2A34F-E925-FBA2-0676-2FD053C2E38E}"/>
              </a:ext>
            </a:extLst>
          </p:cNvPr>
          <p:cNvSpPr/>
          <p:nvPr/>
        </p:nvSpPr>
        <p:spPr>
          <a:xfrm>
            <a:off x="952500" y="2483704"/>
            <a:ext cx="13452277" cy="696397"/>
          </a:xfrm>
          <a:prstGeom prst="rect">
            <a:avLst/>
          </a:prstGeom>
          <a:noFill/>
          <a:ln/>
        </p:spPr>
        <p:txBody>
          <a:bodyPr wrap="square" lIns="25400" tIns="25400" rIns="25400" bIns="25400" rtlCol="0" anchor="ctr">
            <a:normAutofit/>
          </a:bodyPr>
          <a:lstStyle/>
          <a:p>
            <a:pPr marL="0" indent="0" algn="l">
              <a:lnSpc>
                <a:spcPct val="90000"/>
              </a:lnSpc>
              <a:buNone/>
            </a:pPr>
            <a:r>
              <a:rPr lang="en-US" sz="2800" kern="0" dirty="0">
                <a:solidFill>
                  <a:schemeClr val="bg1"/>
                </a:solidFill>
                <a:latin typeface="Abadi" panose="020B0604020104020204" pitchFamily="34" charset="0"/>
                <a:ea typeface="Lato" pitchFamily="34" charset="-122"/>
                <a:cs typeface="Lato" pitchFamily="34" charset="-120"/>
              </a:rPr>
              <a:t>The 7- Dimensions of the Scoring Engine</a:t>
            </a:r>
            <a:endParaRPr lang="en-US" sz="2800" dirty="0">
              <a:solidFill>
                <a:schemeClr val="bg1"/>
              </a:solidFill>
              <a:latin typeface="Abadi" panose="020B0604020104020204" pitchFamily="34" charset="0"/>
            </a:endParaRPr>
          </a:p>
        </p:txBody>
      </p:sp>
      <p:sp>
        <p:nvSpPr>
          <p:cNvPr id="39" name="TextBox 38">
            <a:extLst>
              <a:ext uri="{FF2B5EF4-FFF2-40B4-BE49-F238E27FC236}">
                <a16:creationId xmlns:a16="http://schemas.microsoft.com/office/drawing/2014/main" id="{0741F7F5-7808-EB4B-DBC5-984886477C3D}"/>
              </a:ext>
            </a:extLst>
          </p:cNvPr>
          <p:cNvSpPr txBox="1"/>
          <p:nvPr/>
        </p:nvSpPr>
        <p:spPr>
          <a:xfrm>
            <a:off x="10991849" y="4673600"/>
            <a:ext cx="6991351" cy="3785652"/>
          </a:xfrm>
          <a:prstGeom prst="rect">
            <a:avLst/>
          </a:prstGeom>
          <a:noFill/>
        </p:spPr>
        <p:txBody>
          <a:bodyPr wrap="square" rtlCol="0" anchor="ctr">
            <a:spAutoFit/>
          </a:bodyPr>
          <a:lstStyle/>
          <a:p>
            <a:pPr algn="ctr"/>
            <a:r>
              <a:rPr lang="en-IN" sz="6000" b="1" dirty="0">
                <a:solidFill>
                  <a:schemeClr val="bg1"/>
                </a:solidFill>
              </a:rPr>
              <a:t>DPI =</a:t>
            </a:r>
            <a:r>
              <a:rPr lang="en-IN" sz="3600" b="1" dirty="0">
                <a:solidFill>
                  <a:schemeClr val="bg1"/>
                </a:solidFill>
              </a:rPr>
              <a:t> </a:t>
            </a:r>
          </a:p>
          <a:p>
            <a:pPr algn="ctr"/>
            <a:r>
              <a:rPr lang="en-IN" sz="6000" b="1" dirty="0">
                <a:solidFill>
                  <a:schemeClr val="bg1"/>
                </a:solidFill>
              </a:rPr>
              <a:t>(P × Q^1.5 × E) ×</a:t>
            </a:r>
          </a:p>
          <a:p>
            <a:pPr algn="ctr"/>
            <a:r>
              <a:rPr lang="en-IN" sz="6000" b="1" dirty="0">
                <a:solidFill>
                  <a:schemeClr val="bg1"/>
                </a:solidFill>
              </a:rPr>
              <a:t>(G^1.5 × R^2) ×</a:t>
            </a:r>
          </a:p>
          <a:p>
            <a:pPr algn="ctr"/>
            <a:r>
              <a:rPr lang="en-IN" sz="6000" b="1" dirty="0">
                <a:solidFill>
                  <a:schemeClr val="bg1"/>
                </a:solidFill>
              </a:rPr>
              <a:t>C × V</a:t>
            </a:r>
          </a:p>
        </p:txBody>
      </p:sp>
      <p:sp>
        <p:nvSpPr>
          <p:cNvPr id="5" name="Rectangle: Rounded Corners 4">
            <a:extLst>
              <a:ext uri="{FF2B5EF4-FFF2-40B4-BE49-F238E27FC236}">
                <a16:creationId xmlns:a16="http://schemas.microsoft.com/office/drawing/2014/main" id="{FD9CD574-1EAE-747D-9769-ECEC5A9A9CCD}"/>
              </a:ext>
            </a:extLst>
          </p:cNvPr>
          <p:cNvSpPr/>
          <p:nvPr/>
        </p:nvSpPr>
        <p:spPr>
          <a:xfrm>
            <a:off x="11551920" y="4266367"/>
            <a:ext cx="6139456" cy="4781549"/>
          </a:xfrm>
          <a:prstGeom prst="roundRect">
            <a:avLst/>
          </a:prstGeom>
          <a:noFill/>
          <a:ln>
            <a:solidFill>
              <a:srgbClr val="D3A5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 24">
            <a:extLst>
              <a:ext uri="{FF2B5EF4-FFF2-40B4-BE49-F238E27FC236}">
                <a16:creationId xmlns:a16="http://schemas.microsoft.com/office/drawing/2014/main" id="{3FB9E117-D346-5510-2F8A-7981684E3D40}"/>
              </a:ext>
            </a:extLst>
          </p:cNvPr>
          <p:cNvSpPr/>
          <p:nvPr/>
        </p:nvSpPr>
        <p:spPr>
          <a:xfrm>
            <a:off x="7894040" y="6681906"/>
            <a:ext cx="2732049" cy="1598295"/>
          </a:xfrm>
          <a:prstGeom prst="rect">
            <a:avLst/>
          </a:prstGeom>
          <a:noFill/>
          <a:ln/>
        </p:spPr>
        <p:txBody>
          <a:bodyPr wrap="square" lIns="25400" tIns="25400" rIns="25400" bIns="25400" rtlCol="0" anchor="t">
            <a:noAutofit/>
          </a:bodyPr>
          <a:lstStyle/>
          <a:p>
            <a:pPr marL="0" indent="0" algn="l">
              <a:lnSpc>
                <a:spcPct val="116667"/>
              </a:lnSpc>
              <a:buNone/>
            </a:pPr>
            <a:r>
              <a:rPr lang="en-US" sz="2100" dirty="0">
                <a:solidFill>
                  <a:srgbClr val="00051E"/>
                </a:solidFill>
                <a:latin typeface="Abadi" panose="020B0604020104020204" pitchFamily="34" charset="0"/>
                <a:ea typeface="Lato" pitchFamily="34" charset="-122"/>
                <a:cs typeface="Lato" pitchFamily="34" charset="-120"/>
              </a:rPr>
              <a:t>Token efficiency · Compute cost · </a:t>
            </a:r>
          </a:p>
          <a:p>
            <a:pPr marL="0" indent="0" algn="l">
              <a:lnSpc>
                <a:spcPct val="116667"/>
              </a:lnSpc>
              <a:buNone/>
            </a:pPr>
            <a:r>
              <a:rPr lang="en-US" sz="2100" dirty="0">
                <a:solidFill>
                  <a:srgbClr val="00051E"/>
                </a:solidFill>
                <a:latin typeface="Abadi" panose="020B0604020104020204" pitchFamily="34" charset="0"/>
                <a:ea typeface="Lato" pitchFamily="34" charset="-122"/>
                <a:cs typeface="Lato" pitchFamily="34" charset="-120"/>
              </a:rPr>
              <a:t>Cost per outcome · Cost trend</a:t>
            </a:r>
            <a:endParaRPr lang="en-US" sz="2100" dirty="0">
              <a:solidFill>
                <a:srgbClr val="00051E"/>
              </a:solidFill>
              <a:latin typeface="Abadi" panose="020B0604020104020204" pitchFamily="34" charset="0"/>
            </a:endParaRPr>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p:nvSpPr>
          <p:cNvPr id="2" name="Text 0"/>
          <p:cNvSpPr/>
          <p:nvPr/>
        </p:nvSpPr>
        <p:spPr>
          <a:xfrm>
            <a:off x="952500" y="723900"/>
            <a:ext cx="11865114"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D3A518"/>
                </a:solidFill>
                <a:latin typeface="Abadi" panose="020B0604020104020204" pitchFamily="34" charset="0"/>
                <a:ea typeface="Lato" pitchFamily="34" charset="-122"/>
                <a:cs typeface="Lato" pitchFamily="34" charset="-120"/>
              </a:rPr>
              <a:t>THE ENTERPRISE AGENT CONTROL TOWER  - </a:t>
            </a:r>
            <a:r>
              <a:rPr lang="en-US" sz="1800" b="1" kern="0" spc="288" dirty="0">
                <a:solidFill>
                  <a:schemeClr val="bg1"/>
                </a:solidFill>
                <a:latin typeface="Abadi" panose="020B0604020104020204" pitchFamily="34" charset="0"/>
                <a:ea typeface="Lato" pitchFamily="34" charset="-122"/>
                <a:cs typeface="Lato" pitchFamily="34" charset="-120"/>
              </a:rPr>
              <a:t>ILLUSTRATION</a:t>
            </a:r>
            <a:endParaRPr lang="en-US" sz="1800" dirty="0">
              <a:solidFill>
                <a:schemeClr val="bg1"/>
              </a:solidFill>
              <a:latin typeface="Abadi" panose="020B0604020104020204" pitchFamily="34" charset="0"/>
            </a:endParaRPr>
          </a:p>
        </p:txBody>
      </p:sp>
      <p:sp>
        <p:nvSpPr>
          <p:cNvPr id="3" name="Text 1"/>
          <p:cNvSpPr/>
          <p:nvPr/>
        </p:nvSpPr>
        <p:spPr>
          <a:xfrm>
            <a:off x="952500" y="1150620"/>
            <a:ext cx="11865114" cy="598170"/>
          </a:xfrm>
          <a:prstGeom prst="rect">
            <a:avLst/>
          </a:prstGeom>
          <a:noFill/>
          <a:ln/>
        </p:spPr>
        <p:txBody>
          <a:bodyPr wrap="square" lIns="25400" tIns="25400" rIns="25400" bIns="25400" rtlCol="0" anchor="t">
            <a:normAutofit lnSpcReduction="10000"/>
          </a:bodyPr>
          <a:lstStyle/>
          <a:p>
            <a:pPr marL="0" indent="0" algn="l">
              <a:lnSpc>
                <a:spcPct val="87500"/>
              </a:lnSpc>
              <a:buNone/>
            </a:pPr>
            <a:r>
              <a:rPr lang="en-US" sz="4200" b="1" kern="0" spc="-63" dirty="0">
                <a:solidFill>
                  <a:srgbClr val="FFFFFF"/>
                </a:solidFill>
                <a:latin typeface="Abadi" panose="020B0604020104020204" pitchFamily="34" charset="0"/>
                <a:ea typeface="Lato" pitchFamily="34" charset="-122"/>
                <a:cs typeface="Lato" pitchFamily="34" charset="-120"/>
              </a:rPr>
              <a:t>One enterprise. One view of the AI workforce.</a:t>
            </a:r>
            <a:endParaRPr lang="en-US" sz="4200" dirty="0">
              <a:latin typeface="Abadi" panose="020B0604020104020204" pitchFamily="34" charset="0"/>
            </a:endParaRPr>
          </a:p>
        </p:txBody>
      </p:sp>
      <p:sp>
        <p:nvSpPr>
          <p:cNvPr id="4" name="Text 2"/>
          <p:cNvSpPr/>
          <p:nvPr/>
        </p:nvSpPr>
        <p:spPr>
          <a:xfrm>
            <a:off x="13214985" y="1070610"/>
            <a:ext cx="4120515" cy="678180"/>
          </a:xfrm>
          <a:prstGeom prst="rect">
            <a:avLst/>
          </a:prstGeom>
          <a:noFill/>
          <a:ln/>
        </p:spPr>
        <p:txBody>
          <a:bodyPr wrap="square" lIns="25400" tIns="25400" rIns="25400" bIns="25400" rtlCol="0" anchor="t">
            <a:normAutofit/>
          </a:bodyPr>
          <a:lstStyle/>
          <a:p>
            <a:pPr marL="0" indent="0" algn="r">
              <a:lnSpc>
                <a:spcPct val="116667"/>
              </a:lnSpc>
              <a:buNone/>
            </a:pPr>
            <a:r>
              <a:rPr lang="en-US" sz="1800" b="1" dirty="0">
                <a:solidFill>
                  <a:srgbClr val="FFFFFF">
                    <a:alpha val="65000"/>
                  </a:srgbClr>
                </a:solidFill>
                <a:latin typeface="Abadi" panose="020B0604020104020204" pitchFamily="34" charset="0"/>
                <a:ea typeface="Lato" pitchFamily="34" charset="-122"/>
                <a:cs typeface="Lato" pitchFamily="34" charset="-120"/>
              </a:rPr>
              <a:t>Agent health should be observable before agent failure becomes visible.</a:t>
            </a:r>
            <a:endParaRPr lang="en-US" sz="1800" dirty="0">
              <a:latin typeface="Abadi" panose="020B0604020104020204" pitchFamily="34" charset="0"/>
            </a:endParaRPr>
          </a:p>
        </p:txBody>
      </p:sp>
      <p:sp>
        <p:nvSpPr>
          <p:cNvPr id="5" name="Shape 3"/>
          <p:cNvSpPr/>
          <p:nvPr/>
        </p:nvSpPr>
        <p:spPr>
          <a:xfrm>
            <a:off x="952500" y="2015490"/>
            <a:ext cx="16383000" cy="708660"/>
          </a:xfrm>
          <a:prstGeom prst="roundRect">
            <a:avLst>
              <a:gd name="adj" fmla="val 8065"/>
            </a:avLst>
          </a:prstGeom>
          <a:solidFill>
            <a:srgbClr val="FFFFFF">
              <a:alpha val="5000"/>
            </a:srgbClr>
          </a:solidFill>
          <a:ln w="7620">
            <a:solidFill>
              <a:srgbClr val="FFFFFF">
                <a:alpha val="14000"/>
              </a:srgbClr>
            </a:solidFill>
            <a:prstDash val="solid"/>
          </a:ln>
        </p:spPr>
        <p:txBody>
          <a:bodyPr/>
          <a:lstStyle/>
          <a:p>
            <a:endParaRPr lang="en-IN" dirty="0">
              <a:latin typeface="Abadi" panose="020B0604020104020204" pitchFamily="34" charset="0"/>
            </a:endParaRPr>
          </a:p>
        </p:txBody>
      </p:sp>
      <p:sp>
        <p:nvSpPr>
          <p:cNvPr id="6" name="Text 4"/>
          <p:cNvSpPr/>
          <p:nvPr/>
        </p:nvSpPr>
        <p:spPr>
          <a:xfrm>
            <a:off x="1264920" y="2232660"/>
            <a:ext cx="4277963"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FFFFF"/>
                </a:solidFill>
                <a:latin typeface="Abadi" panose="020B0604020104020204" pitchFamily="34" charset="0"/>
                <a:ea typeface="Lato" pitchFamily="34" charset="-122"/>
                <a:cs typeface="Lato" pitchFamily="34" charset="-120"/>
              </a:rPr>
              <a:t>ENTERPRISE AI WORKFORCE</a:t>
            </a:r>
            <a:endParaRPr lang="en-US" sz="1800" dirty="0">
              <a:latin typeface="Abadi" panose="020B0604020104020204" pitchFamily="34" charset="0"/>
            </a:endParaRPr>
          </a:p>
        </p:txBody>
      </p:sp>
      <p:sp>
        <p:nvSpPr>
          <p:cNvPr id="7" name="Text 5"/>
          <p:cNvSpPr/>
          <p:nvPr/>
        </p:nvSpPr>
        <p:spPr>
          <a:xfrm>
            <a:off x="5573078" y="2232660"/>
            <a:ext cx="1239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128 Agents</a:t>
            </a:r>
            <a:endParaRPr lang="en-US" sz="1800" dirty="0">
              <a:latin typeface="Abadi" panose="020B0604020104020204" pitchFamily="34" charset="0"/>
            </a:endParaRPr>
          </a:p>
        </p:txBody>
      </p:sp>
      <p:sp>
        <p:nvSpPr>
          <p:cNvPr id="8" name="Text 6"/>
          <p:cNvSpPr/>
          <p:nvPr/>
        </p:nvSpPr>
        <p:spPr>
          <a:xfrm>
            <a:off x="7155180" y="2232660"/>
            <a:ext cx="1358146"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D4A5"/>
                </a:solidFill>
                <a:latin typeface="Abadi" panose="020B0604020104020204" pitchFamily="34" charset="0"/>
                <a:ea typeface="Lato" pitchFamily="34" charset="-122"/>
                <a:cs typeface="Lato" pitchFamily="34" charset="-120"/>
              </a:rPr>
              <a:t>106 Healthy</a:t>
            </a:r>
            <a:endParaRPr lang="en-US" sz="1800" dirty="0">
              <a:latin typeface="Abadi" panose="020B0604020104020204" pitchFamily="34" charset="0"/>
            </a:endParaRPr>
          </a:p>
        </p:txBody>
      </p:sp>
      <p:sp>
        <p:nvSpPr>
          <p:cNvPr id="9" name="Text 7"/>
          <p:cNvSpPr/>
          <p:nvPr/>
        </p:nvSpPr>
        <p:spPr>
          <a:xfrm>
            <a:off x="8808958" y="2232660"/>
            <a:ext cx="1043464"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D3A518"/>
                </a:solidFill>
                <a:latin typeface="Abadi" panose="020B0604020104020204" pitchFamily="34" charset="0"/>
                <a:ea typeface="Lato" pitchFamily="34" charset="-122"/>
                <a:cs typeface="Lato" pitchFamily="34" charset="-120"/>
              </a:rPr>
              <a:t>14 Watch</a:t>
            </a:r>
            <a:endParaRPr lang="en-US" sz="1800" dirty="0">
              <a:latin typeface="Abadi" panose="020B0604020104020204" pitchFamily="34" charset="0"/>
            </a:endParaRPr>
          </a:p>
        </p:txBody>
      </p:sp>
      <p:sp>
        <p:nvSpPr>
          <p:cNvPr id="10" name="Text 8"/>
          <p:cNvSpPr/>
          <p:nvPr/>
        </p:nvSpPr>
        <p:spPr>
          <a:xfrm>
            <a:off x="10195322" y="2232660"/>
            <a:ext cx="1176933"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5A623"/>
                </a:solidFill>
                <a:latin typeface="Abadi" panose="020B0604020104020204" pitchFamily="34" charset="0"/>
                <a:ea typeface="Lato" pitchFamily="34" charset="-122"/>
                <a:cs typeface="Lato" pitchFamily="34" charset="-120"/>
              </a:rPr>
              <a:t>6 Optimize</a:t>
            </a:r>
            <a:endParaRPr lang="en-US" sz="1800" dirty="0">
              <a:latin typeface="Abadi" panose="020B0604020104020204" pitchFamily="34" charset="0"/>
            </a:endParaRPr>
          </a:p>
        </p:txBody>
      </p:sp>
      <p:sp>
        <p:nvSpPr>
          <p:cNvPr id="11" name="Text 9"/>
          <p:cNvSpPr/>
          <p:nvPr/>
        </p:nvSpPr>
        <p:spPr>
          <a:xfrm>
            <a:off x="11715155" y="2232660"/>
            <a:ext cx="1340334"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E8531A"/>
                </a:solidFill>
                <a:latin typeface="Abadi" panose="020B0604020104020204" pitchFamily="34" charset="0"/>
                <a:ea typeface="Lato" pitchFamily="34" charset="-122"/>
                <a:cs typeface="Lato" pitchFamily="34" charset="-120"/>
              </a:rPr>
              <a:t>2 Restricted</a:t>
            </a:r>
            <a:endParaRPr lang="en-US" sz="1800" dirty="0">
              <a:latin typeface="Abadi" panose="020B0604020104020204" pitchFamily="34" charset="0"/>
            </a:endParaRPr>
          </a:p>
        </p:txBody>
      </p:sp>
      <p:sp>
        <p:nvSpPr>
          <p:cNvPr id="12" name="Shape 10"/>
          <p:cNvSpPr/>
          <p:nvPr/>
        </p:nvSpPr>
        <p:spPr>
          <a:xfrm>
            <a:off x="952500" y="3028950"/>
            <a:ext cx="9773007" cy="3848100"/>
          </a:xfrm>
          <a:prstGeom prst="roundRect">
            <a:avLst>
              <a:gd name="adj" fmla="val 1485"/>
            </a:avLst>
          </a:prstGeom>
          <a:ln w="7620">
            <a:solidFill>
              <a:srgbClr val="FFFFFF">
                <a:alpha val="14000"/>
              </a:srgbClr>
            </a:solidFill>
            <a:prstDash val="solid"/>
          </a:ln>
        </p:spPr>
        <p:txBody>
          <a:bodyPr/>
          <a:lstStyle/>
          <a:p>
            <a:endParaRPr lang="en-IN" dirty="0">
              <a:latin typeface="Abadi" panose="020B0604020104020204" pitchFamily="34" charset="0"/>
            </a:endParaRPr>
          </a:p>
        </p:txBody>
      </p:sp>
      <p:sp>
        <p:nvSpPr>
          <p:cNvPr id="13" name="Shape 11"/>
          <p:cNvSpPr/>
          <p:nvPr/>
        </p:nvSpPr>
        <p:spPr>
          <a:xfrm>
            <a:off x="960120" y="3036570"/>
            <a:ext cx="9757767" cy="617220"/>
          </a:xfrm>
          <a:prstGeom prst="rect">
            <a:avLst/>
          </a:prstGeom>
          <a:solidFill>
            <a:srgbClr val="FFFFFF">
              <a:alpha val="8000"/>
            </a:srgbClr>
          </a:solidFill>
          <a:ln/>
        </p:spPr>
        <p:txBody>
          <a:bodyPr/>
          <a:lstStyle/>
          <a:p>
            <a:endParaRPr lang="en-IN" dirty="0">
              <a:latin typeface="Abadi" panose="020B0604020104020204" pitchFamily="34" charset="0"/>
            </a:endParaRPr>
          </a:p>
        </p:txBody>
      </p:sp>
      <p:sp>
        <p:nvSpPr>
          <p:cNvPr id="14" name="Text 12"/>
          <p:cNvSpPr/>
          <p:nvPr/>
        </p:nvSpPr>
        <p:spPr>
          <a:xfrm>
            <a:off x="1188720" y="3208020"/>
            <a:ext cx="215561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alpha val="70000"/>
                  </a:srgbClr>
                </a:solidFill>
                <a:latin typeface="Abadi" panose="020B0604020104020204" pitchFamily="34" charset="0"/>
                <a:ea typeface="Lato" pitchFamily="34" charset="-122"/>
                <a:cs typeface="Lato" pitchFamily="34" charset="-120"/>
              </a:rPr>
              <a:t>Agent</a:t>
            </a:r>
            <a:endParaRPr lang="en-US" sz="1800" dirty="0">
              <a:latin typeface="Abadi" panose="020B0604020104020204" pitchFamily="34" charset="0"/>
            </a:endParaRPr>
          </a:p>
        </p:txBody>
      </p:sp>
      <p:sp>
        <p:nvSpPr>
          <p:cNvPr id="15" name="Text 13"/>
          <p:cNvSpPr/>
          <p:nvPr/>
        </p:nvSpPr>
        <p:spPr>
          <a:xfrm>
            <a:off x="3148370"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Health</a:t>
            </a:r>
            <a:endParaRPr lang="en-US" sz="1800" dirty="0">
              <a:latin typeface="Abadi" panose="020B0604020104020204" pitchFamily="34" charset="0"/>
            </a:endParaRPr>
          </a:p>
        </p:txBody>
      </p:sp>
      <p:sp>
        <p:nvSpPr>
          <p:cNvPr id="16" name="Text 14"/>
          <p:cNvSpPr/>
          <p:nvPr/>
        </p:nvSpPr>
        <p:spPr>
          <a:xfrm>
            <a:off x="4256008"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Perf.</a:t>
            </a:r>
            <a:endParaRPr lang="en-US" sz="1800" dirty="0">
              <a:latin typeface="Abadi" panose="020B0604020104020204" pitchFamily="34" charset="0"/>
            </a:endParaRPr>
          </a:p>
        </p:txBody>
      </p:sp>
      <p:sp>
        <p:nvSpPr>
          <p:cNvPr id="17" name="Text 15"/>
          <p:cNvSpPr/>
          <p:nvPr/>
        </p:nvSpPr>
        <p:spPr>
          <a:xfrm>
            <a:off x="5363646"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Quality</a:t>
            </a:r>
            <a:endParaRPr lang="en-US" sz="1800" dirty="0">
              <a:latin typeface="Abadi" panose="020B0604020104020204" pitchFamily="34" charset="0"/>
            </a:endParaRPr>
          </a:p>
        </p:txBody>
      </p:sp>
      <p:sp>
        <p:nvSpPr>
          <p:cNvPr id="18" name="Text 16"/>
          <p:cNvSpPr/>
          <p:nvPr/>
        </p:nvSpPr>
        <p:spPr>
          <a:xfrm>
            <a:off x="6471285"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Cost</a:t>
            </a:r>
            <a:endParaRPr lang="en-US" sz="1800" dirty="0">
              <a:latin typeface="Abadi" panose="020B0604020104020204" pitchFamily="34" charset="0"/>
            </a:endParaRPr>
          </a:p>
        </p:txBody>
      </p:sp>
      <p:sp>
        <p:nvSpPr>
          <p:cNvPr id="19" name="Text 17"/>
          <p:cNvSpPr/>
          <p:nvPr/>
        </p:nvSpPr>
        <p:spPr>
          <a:xfrm>
            <a:off x="7578923"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Security</a:t>
            </a:r>
            <a:endParaRPr lang="en-US" sz="1800" dirty="0">
              <a:latin typeface="Abadi" panose="020B0604020104020204" pitchFamily="34" charset="0"/>
            </a:endParaRPr>
          </a:p>
        </p:txBody>
      </p:sp>
      <p:sp>
        <p:nvSpPr>
          <p:cNvPr id="20" name="Text 18"/>
          <p:cNvSpPr/>
          <p:nvPr/>
        </p:nvSpPr>
        <p:spPr>
          <a:xfrm>
            <a:off x="8686562"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Gov.</a:t>
            </a:r>
            <a:endParaRPr lang="en-US" sz="1800" dirty="0">
              <a:latin typeface="Abadi" panose="020B0604020104020204" pitchFamily="34" charset="0"/>
            </a:endParaRPr>
          </a:p>
        </p:txBody>
      </p:sp>
      <p:sp>
        <p:nvSpPr>
          <p:cNvPr id="21" name="Text 19"/>
          <p:cNvSpPr/>
          <p:nvPr/>
        </p:nvSpPr>
        <p:spPr>
          <a:xfrm>
            <a:off x="9965651" y="3217545"/>
            <a:ext cx="695087"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Trend</a:t>
            </a:r>
            <a:endParaRPr lang="en-US" sz="1800" dirty="0">
              <a:latin typeface="Abadi" panose="020B0604020104020204" pitchFamily="34" charset="0"/>
            </a:endParaRPr>
          </a:p>
        </p:txBody>
      </p:sp>
      <p:sp>
        <p:nvSpPr>
          <p:cNvPr id="22" name="Shape 20"/>
          <p:cNvSpPr/>
          <p:nvPr/>
        </p:nvSpPr>
        <p:spPr>
          <a:xfrm>
            <a:off x="960120" y="3653790"/>
            <a:ext cx="9757767" cy="9525"/>
          </a:xfrm>
          <a:prstGeom prst="rect">
            <a:avLst/>
          </a:prstGeom>
          <a:solidFill>
            <a:srgbClr val="FFFFFF">
              <a:alpha val="8000"/>
            </a:srgbClr>
          </a:solidFill>
          <a:ln/>
        </p:spPr>
        <p:txBody>
          <a:bodyPr/>
          <a:lstStyle/>
          <a:p>
            <a:endParaRPr lang="en-IN" dirty="0">
              <a:latin typeface="Abadi" panose="020B0604020104020204" pitchFamily="34" charset="0"/>
            </a:endParaRPr>
          </a:p>
        </p:txBody>
      </p:sp>
      <p:sp>
        <p:nvSpPr>
          <p:cNvPr id="23" name="Text 21"/>
          <p:cNvSpPr/>
          <p:nvPr/>
        </p:nvSpPr>
        <p:spPr>
          <a:xfrm>
            <a:off x="1188720" y="3851910"/>
            <a:ext cx="2035850" cy="5867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Procurement Agent</a:t>
            </a:r>
            <a:endParaRPr lang="en-US" sz="1800" dirty="0">
              <a:latin typeface="Abadi" panose="020B0604020104020204" pitchFamily="34" charset="0"/>
            </a:endParaRPr>
          </a:p>
        </p:txBody>
      </p:sp>
      <p:sp>
        <p:nvSpPr>
          <p:cNvPr id="24" name="Text 22"/>
          <p:cNvSpPr/>
          <p:nvPr/>
        </p:nvSpPr>
        <p:spPr>
          <a:xfrm>
            <a:off x="3148370" y="3851910"/>
            <a:ext cx="1107638" cy="586740"/>
          </a:xfrm>
          <a:prstGeom prst="rect">
            <a:avLst/>
          </a:prstGeom>
          <a:noFill/>
          <a:ln/>
        </p:spPr>
        <p:txBody>
          <a:bodyPr wrap="square" lIns="25400" tIns="25400" rIns="25400" bIns="25400" rtlCol="0" anchor="t">
            <a:normAutofit/>
          </a:bodyPr>
          <a:lstStyle/>
          <a:p>
            <a:pPr marL="0" indent="0" algn="r">
              <a:buNone/>
            </a:pPr>
            <a:r>
              <a:rPr lang="en-US" sz="1800" b="1" dirty="0">
                <a:solidFill>
                  <a:srgbClr val="FFFFFF"/>
                </a:solidFill>
                <a:latin typeface="Abadi" panose="020B0604020104020204" pitchFamily="34" charset="0"/>
                <a:ea typeface="Lato" pitchFamily="34" charset="-122"/>
                <a:cs typeface="Lato" pitchFamily="34" charset="-120"/>
              </a:rPr>
              <a:t>92</a:t>
            </a:r>
            <a:endParaRPr lang="en-US" sz="1800" dirty="0">
              <a:latin typeface="Abadi" panose="020B0604020104020204" pitchFamily="34" charset="0"/>
            </a:endParaRPr>
          </a:p>
        </p:txBody>
      </p:sp>
      <p:sp>
        <p:nvSpPr>
          <p:cNvPr id="25" name="Text 23"/>
          <p:cNvSpPr/>
          <p:nvPr/>
        </p:nvSpPr>
        <p:spPr>
          <a:xfrm>
            <a:off x="4831080" y="3851910"/>
            <a:ext cx="532566"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94</a:t>
            </a:r>
            <a:endParaRPr lang="en-US" sz="1800" dirty="0">
              <a:latin typeface="Abadi" panose="020B0604020104020204" pitchFamily="34" charset="0"/>
            </a:endParaRPr>
          </a:p>
        </p:txBody>
      </p:sp>
      <p:sp>
        <p:nvSpPr>
          <p:cNvPr id="26" name="Text 24"/>
          <p:cNvSpPr/>
          <p:nvPr/>
        </p:nvSpPr>
        <p:spPr>
          <a:xfrm>
            <a:off x="5363646"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96</a:t>
            </a:r>
            <a:endParaRPr lang="en-US" sz="1800" dirty="0">
              <a:latin typeface="Abadi" panose="020B0604020104020204" pitchFamily="34" charset="0"/>
            </a:endParaRPr>
          </a:p>
        </p:txBody>
      </p:sp>
      <p:sp>
        <p:nvSpPr>
          <p:cNvPr id="27" name="Text 25"/>
          <p:cNvSpPr/>
          <p:nvPr/>
        </p:nvSpPr>
        <p:spPr>
          <a:xfrm>
            <a:off x="6471285"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87</a:t>
            </a:r>
            <a:endParaRPr lang="en-US" sz="1800" dirty="0">
              <a:latin typeface="Abadi" panose="020B0604020104020204" pitchFamily="34" charset="0"/>
            </a:endParaRPr>
          </a:p>
        </p:txBody>
      </p:sp>
      <p:sp>
        <p:nvSpPr>
          <p:cNvPr id="28" name="Text 26"/>
          <p:cNvSpPr/>
          <p:nvPr/>
        </p:nvSpPr>
        <p:spPr>
          <a:xfrm>
            <a:off x="7578923"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95</a:t>
            </a:r>
            <a:endParaRPr lang="en-US" sz="1800" dirty="0">
              <a:latin typeface="Abadi" panose="020B0604020104020204" pitchFamily="34" charset="0"/>
            </a:endParaRPr>
          </a:p>
        </p:txBody>
      </p:sp>
      <p:sp>
        <p:nvSpPr>
          <p:cNvPr id="29" name="Text 27"/>
          <p:cNvSpPr/>
          <p:nvPr/>
        </p:nvSpPr>
        <p:spPr>
          <a:xfrm>
            <a:off x="8686562"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97</a:t>
            </a:r>
            <a:endParaRPr lang="en-US" sz="1800" dirty="0">
              <a:latin typeface="Abadi" panose="020B0604020104020204" pitchFamily="34" charset="0"/>
            </a:endParaRPr>
          </a:p>
        </p:txBody>
      </p:sp>
      <p:sp>
        <p:nvSpPr>
          <p:cNvPr id="30" name="Text 28"/>
          <p:cNvSpPr/>
          <p:nvPr/>
        </p:nvSpPr>
        <p:spPr>
          <a:xfrm>
            <a:off x="9794201" y="3851910"/>
            <a:ext cx="695087" cy="586740"/>
          </a:xfrm>
          <a:prstGeom prst="rect">
            <a:avLst/>
          </a:prstGeom>
          <a:noFill/>
          <a:ln/>
        </p:spPr>
        <p:txBody>
          <a:bodyPr wrap="square" lIns="25400" tIns="25400" rIns="25400" bIns="25400" rtlCol="0" anchor="t">
            <a:normAutofit/>
          </a:bodyPr>
          <a:lstStyle/>
          <a:p>
            <a:pPr marL="0" indent="0" algn="r">
              <a:buNone/>
            </a:pPr>
            <a:r>
              <a:rPr lang="en-US" sz="1800" dirty="0">
                <a:solidFill>
                  <a:srgbClr val="8FD4A5"/>
                </a:solidFill>
                <a:latin typeface="Abadi" panose="020B0604020104020204" pitchFamily="34" charset="0"/>
                <a:ea typeface="Lato" pitchFamily="34" charset="-122"/>
                <a:cs typeface="Lato" pitchFamily="34" charset="-120"/>
              </a:rPr>
              <a:t>↑</a:t>
            </a:r>
            <a:endParaRPr lang="en-US" sz="1800" dirty="0">
              <a:latin typeface="Abadi" panose="020B0604020104020204" pitchFamily="34" charset="0"/>
            </a:endParaRPr>
          </a:p>
        </p:txBody>
      </p:sp>
      <p:sp>
        <p:nvSpPr>
          <p:cNvPr id="31" name="Shape 29"/>
          <p:cNvSpPr/>
          <p:nvPr/>
        </p:nvSpPr>
        <p:spPr>
          <a:xfrm>
            <a:off x="960120" y="4591050"/>
            <a:ext cx="9757767" cy="9525"/>
          </a:xfrm>
          <a:prstGeom prst="rect">
            <a:avLst/>
          </a:prstGeom>
          <a:solidFill>
            <a:srgbClr val="FFFFFF">
              <a:alpha val="8000"/>
            </a:srgbClr>
          </a:solidFill>
          <a:ln/>
        </p:spPr>
        <p:txBody>
          <a:bodyPr/>
          <a:lstStyle/>
          <a:p>
            <a:endParaRPr lang="en-IN" dirty="0">
              <a:latin typeface="Abadi" panose="020B0604020104020204" pitchFamily="34" charset="0"/>
            </a:endParaRPr>
          </a:p>
        </p:txBody>
      </p:sp>
      <p:sp>
        <p:nvSpPr>
          <p:cNvPr id="32" name="Text 30"/>
          <p:cNvSpPr/>
          <p:nvPr/>
        </p:nvSpPr>
        <p:spPr>
          <a:xfrm>
            <a:off x="1188720" y="4789170"/>
            <a:ext cx="2035850" cy="5867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Cloud Operations Agent</a:t>
            </a:r>
            <a:endParaRPr lang="en-US" sz="1800" dirty="0">
              <a:latin typeface="Abadi" panose="020B0604020104020204" pitchFamily="34" charset="0"/>
            </a:endParaRPr>
          </a:p>
        </p:txBody>
      </p:sp>
      <p:sp>
        <p:nvSpPr>
          <p:cNvPr id="33" name="Text 31"/>
          <p:cNvSpPr/>
          <p:nvPr/>
        </p:nvSpPr>
        <p:spPr>
          <a:xfrm>
            <a:off x="3148370" y="4789170"/>
            <a:ext cx="1107638" cy="586740"/>
          </a:xfrm>
          <a:prstGeom prst="rect">
            <a:avLst/>
          </a:prstGeom>
          <a:noFill/>
          <a:ln/>
        </p:spPr>
        <p:txBody>
          <a:bodyPr wrap="square" lIns="25400" tIns="25400" rIns="25400" bIns="25400" rtlCol="0" anchor="t">
            <a:normAutofit/>
          </a:bodyPr>
          <a:lstStyle/>
          <a:p>
            <a:pPr marL="0" indent="0" algn="r">
              <a:buNone/>
            </a:pPr>
            <a:r>
              <a:rPr lang="en-US" sz="1800" b="1" dirty="0">
                <a:solidFill>
                  <a:srgbClr val="FFFFFF"/>
                </a:solidFill>
                <a:latin typeface="Abadi" panose="020B0604020104020204" pitchFamily="34" charset="0"/>
                <a:ea typeface="Lato" pitchFamily="34" charset="-122"/>
                <a:cs typeface="Lato" pitchFamily="34" charset="-120"/>
              </a:rPr>
              <a:t>86</a:t>
            </a:r>
            <a:endParaRPr lang="en-US" sz="1800" dirty="0">
              <a:latin typeface="Abadi" panose="020B0604020104020204" pitchFamily="34" charset="0"/>
            </a:endParaRPr>
          </a:p>
        </p:txBody>
      </p:sp>
      <p:sp>
        <p:nvSpPr>
          <p:cNvPr id="34" name="Text 32"/>
          <p:cNvSpPr/>
          <p:nvPr/>
        </p:nvSpPr>
        <p:spPr>
          <a:xfrm>
            <a:off x="4256008"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91</a:t>
            </a:r>
            <a:endParaRPr lang="en-US" sz="1800" dirty="0">
              <a:latin typeface="Abadi" panose="020B0604020104020204" pitchFamily="34" charset="0"/>
            </a:endParaRPr>
          </a:p>
        </p:txBody>
      </p:sp>
      <p:sp>
        <p:nvSpPr>
          <p:cNvPr id="35" name="Text 33"/>
          <p:cNvSpPr/>
          <p:nvPr/>
        </p:nvSpPr>
        <p:spPr>
          <a:xfrm>
            <a:off x="5363646"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88</a:t>
            </a:r>
            <a:endParaRPr lang="en-US" sz="1800" dirty="0">
              <a:latin typeface="Abadi" panose="020B0604020104020204" pitchFamily="34" charset="0"/>
            </a:endParaRPr>
          </a:p>
        </p:txBody>
      </p:sp>
      <p:sp>
        <p:nvSpPr>
          <p:cNvPr id="36" name="Text 34"/>
          <p:cNvSpPr/>
          <p:nvPr/>
        </p:nvSpPr>
        <p:spPr>
          <a:xfrm>
            <a:off x="6471285"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71</a:t>
            </a:r>
            <a:endParaRPr lang="en-US" sz="1800" dirty="0">
              <a:latin typeface="Abadi" panose="020B0604020104020204" pitchFamily="34" charset="0"/>
            </a:endParaRPr>
          </a:p>
        </p:txBody>
      </p:sp>
      <p:sp>
        <p:nvSpPr>
          <p:cNvPr id="37" name="Text 35"/>
          <p:cNvSpPr/>
          <p:nvPr/>
        </p:nvSpPr>
        <p:spPr>
          <a:xfrm>
            <a:off x="7578923"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90</a:t>
            </a:r>
            <a:endParaRPr lang="en-US" sz="1800" dirty="0">
              <a:latin typeface="Abadi" panose="020B0604020104020204" pitchFamily="34" charset="0"/>
            </a:endParaRPr>
          </a:p>
        </p:txBody>
      </p:sp>
      <p:sp>
        <p:nvSpPr>
          <p:cNvPr id="38" name="Text 36"/>
          <p:cNvSpPr/>
          <p:nvPr/>
        </p:nvSpPr>
        <p:spPr>
          <a:xfrm>
            <a:off x="8686562"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92</a:t>
            </a:r>
            <a:endParaRPr lang="en-US" sz="1800" dirty="0">
              <a:latin typeface="Abadi" panose="020B0604020104020204" pitchFamily="34" charset="0"/>
            </a:endParaRPr>
          </a:p>
        </p:txBody>
      </p:sp>
      <p:sp>
        <p:nvSpPr>
          <p:cNvPr id="39" name="Text 37"/>
          <p:cNvSpPr/>
          <p:nvPr/>
        </p:nvSpPr>
        <p:spPr>
          <a:xfrm>
            <a:off x="9794201" y="4789170"/>
            <a:ext cx="695087"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alpha val="70000"/>
                  </a:srgbClr>
                </a:solidFill>
                <a:latin typeface="Abadi" panose="020B0604020104020204" pitchFamily="34" charset="0"/>
                <a:ea typeface="Lato" pitchFamily="34" charset="-122"/>
                <a:cs typeface="Lato" pitchFamily="34" charset="-120"/>
              </a:rPr>
              <a:t>→</a:t>
            </a:r>
            <a:endParaRPr lang="en-US" sz="1800" dirty="0">
              <a:latin typeface="Abadi" panose="020B0604020104020204" pitchFamily="34" charset="0"/>
            </a:endParaRPr>
          </a:p>
        </p:txBody>
      </p:sp>
      <p:sp>
        <p:nvSpPr>
          <p:cNvPr id="40" name="Shape 38"/>
          <p:cNvSpPr/>
          <p:nvPr/>
        </p:nvSpPr>
        <p:spPr>
          <a:xfrm>
            <a:off x="960120" y="5528310"/>
            <a:ext cx="9757767" cy="670560"/>
          </a:xfrm>
          <a:prstGeom prst="rect">
            <a:avLst/>
          </a:prstGeom>
          <a:solidFill>
            <a:srgbClr val="D3A518">
              <a:alpha val="12000"/>
            </a:srgbClr>
          </a:solidFill>
          <a:ln/>
        </p:spPr>
        <p:txBody>
          <a:bodyPr/>
          <a:lstStyle/>
          <a:p>
            <a:endParaRPr lang="en-IN" dirty="0">
              <a:latin typeface="Abadi" panose="020B0604020104020204" pitchFamily="34" charset="0"/>
            </a:endParaRPr>
          </a:p>
        </p:txBody>
      </p:sp>
      <p:sp>
        <p:nvSpPr>
          <p:cNvPr id="41" name="Shape 39"/>
          <p:cNvSpPr/>
          <p:nvPr/>
        </p:nvSpPr>
        <p:spPr>
          <a:xfrm>
            <a:off x="960120" y="5528310"/>
            <a:ext cx="9757767" cy="9525"/>
          </a:xfrm>
          <a:prstGeom prst="rect">
            <a:avLst/>
          </a:prstGeom>
          <a:solidFill>
            <a:srgbClr val="FFFFFF">
              <a:alpha val="8000"/>
            </a:srgbClr>
          </a:solidFill>
          <a:ln/>
        </p:spPr>
        <p:txBody>
          <a:bodyPr/>
          <a:lstStyle/>
          <a:p>
            <a:endParaRPr lang="en-IN" dirty="0">
              <a:latin typeface="Abadi" panose="020B0604020104020204" pitchFamily="34" charset="0"/>
            </a:endParaRPr>
          </a:p>
        </p:txBody>
      </p:sp>
      <p:sp>
        <p:nvSpPr>
          <p:cNvPr id="42" name="Shape 40"/>
          <p:cNvSpPr/>
          <p:nvPr/>
        </p:nvSpPr>
        <p:spPr>
          <a:xfrm>
            <a:off x="960120" y="5528310"/>
            <a:ext cx="38100" cy="670560"/>
          </a:xfrm>
          <a:prstGeom prst="rect">
            <a:avLst/>
          </a:prstGeom>
          <a:solidFill>
            <a:srgbClr val="D3A518"/>
          </a:solidFill>
          <a:ln/>
        </p:spPr>
        <p:txBody>
          <a:bodyPr/>
          <a:lstStyle/>
          <a:p>
            <a:endParaRPr lang="en-IN" dirty="0">
              <a:latin typeface="Abadi" panose="020B0604020104020204" pitchFamily="34" charset="0"/>
            </a:endParaRPr>
          </a:p>
        </p:txBody>
      </p:sp>
      <p:sp>
        <p:nvSpPr>
          <p:cNvPr id="43" name="Text 41"/>
          <p:cNvSpPr/>
          <p:nvPr/>
        </p:nvSpPr>
        <p:spPr>
          <a:xfrm>
            <a:off x="1226820" y="5726430"/>
            <a:ext cx="2146316" cy="3200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Claims Agent</a:t>
            </a:r>
            <a:endParaRPr lang="en-US" sz="1800" dirty="0">
              <a:latin typeface="Abadi" panose="020B0604020104020204" pitchFamily="34" charset="0"/>
            </a:endParaRPr>
          </a:p>
        </p:txBody>
      </p:sp>
      <p:sp>
        <p:nvSpPr>
          <p:cNvPr id="44" name="Text 42"/>
          <p:cNvSpPr/>
          <p:nvPr/>
        </p:nvSpPr>
        <p:spPr>
          <a:xfrm>
            <a:off x="3178016"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D3A518"/>
                </a:solidFill>
                <a:latin typeface="Abadi" panose="020B0604020104020204" pitchFamily="34" charset="0"/>
                <a:ea typeface="Lato" pitchFamily="34" charset="-122"/>
                <a:cs typeface="Lato" pitchFamily="34" charset="-120"/>
              </a:rPr>
              <a:t>78</a:t>
            </a:r>
            <a:endParaRPr lang="en-US" sz="1800" dirty="0">
              <a:latin typeface="Abadi" panose="020B0604020104020204" pitchFamily="34" charset="0"/>
            </a:endParaRPr>
          </a:p>
        </p:txBody>
      </p:sp>
      <p:sp>
        <p:nvSpPr>
          <p:cNvPr id="45" name="Text 43"/>
          <p:cNvSpPr/>
          <p:nvPr/>
        </p:nvSpPr>
        <p:spPr>
          <a:xfrm>
            <a:off x="4281130"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83</a:t>
            </a:r>
            <a:endParaRPr lang="en-US" sz="1800" dirty="0">
              <a:latin typeface="Abadi" panose="020B0604020104020204" pitchFamily="34" charset="0"/>
            </a:endParaRPr>
          </a:p>
        </p:txBody>
      </p:sp>
      <p:sp>
        <p:nvSpPr>
          <p:cNvPr id="46" name="Text 44"/>
          <p:cNvSpPr/>
          <p:nvPr/>
        </p:nvSpPr>
        <p:spPr>
          <a:xfrm>
            <a:off x="5384245"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74</a:t>
            </a:r>
            <a:endParaRPr lang="en-US" sz="1800" dirty="0">
              <a:latin typeface="Abadi" panose="020B0604020104020204" pitchFamily="34" charset="0"/>
            </a:endParaRPr>
          </a:p>
        </p:txBody>
      </p:sp>
      <p:sp>
        <p:nvSpPr>
          <p:cNvPr id="47" name="Text 45"/>
          <p:cNvSpPr/>
          <p:nvPr/>
        </p:nvSpPr>
        <p:spPr>
          <a:xfrm>
            <a:off x="6487359" y="5726430"/>
            <a:ext cx="1103233"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89</a:t>
            </a:r>
            <a:endParaRPr lang="en-US" sz="1800" dirty="0">
              <a:latin typeface="Abadi" panose="020B0604020104020204" pitchFamily="34" charset="0"/>
            </a:endParaRPr>
          </a:p>
        </p:txBody>
      </p:sp>
      <p:sp>
        <p:nvSpPr>
          <p:cNvPr id="48" name="Text 46"/>
          <p:cNvSpPr/>
          <p:nvPr/>
        </p:nvSpPr>
        <p:spPr>
          <a:xfrm>
            <a:off x="7590592"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72</a:t>
            </a:r>
            <a:endParaRPr lang="en-US" sz="1800" dirty="0">
              <a:latin typeface="Abadi" panose="020B0604020104020204" pitchFamily="34" charset="0"/>
            </a:endParaRPr>
          </a:p>
        </p:txBody>
      </p:sp>
      <p:sp>
        <p:nvSpPr>
          <p:cNvPr id="49" name="Text 47"/>
          <p:cNvSpPr/>
          <p:nvPr/>
        </p:nvSpPr>
        <p:spPr>
          <a:xfrm>
            <a:off x="8693706"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81</a:t>
            </a:r>
            <a:endParaRPr lang="en-US" sz="1800" dirty="0">
              <a:latin typeface="Abadi" panose="020B0604020104020204" pitchFamily="34" charset="0"/>
            </a:endParaRPr>
          </a:p>
        </p:txBody>
      </p:sp>
      <p:sp>
        <p:nvSpPr>
          <p:cNvPr id="50" name="Text 48"/>
          <p:cNvSpPr/>
          <p:nvPr/>
        </p:nvSpPr>
        <p:spPr>
          <a:xfrm>
            <a:off x="9796819" y="5726430"/>
            <a:ext cx="69234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a:t>
            </a:r>
            <a:endParaRPr lang="en-US" sz="1800" dirty="0">
              <a:latin typeface="Abadi" panose="020B0604020104020204" pitchFamily="34" charset="0"/>
            </a:endParaRPr>
          </a:p>
        </p:txBody>
      </p:sp>
      <p:sp>
        <p:nvSpPr>
          <p:cNvPr id="51" name="Shape 49"/>
          <p:cNvSpPr/>
          <p:nvPr/>
        </p:nvSpPr>
        <p:spPr>
          <a:xfrm>
            <a:off x="960120" y="6198870"/>
            <a:ext cx="9757767" cy="9525"/>
          </a:xfrm>
          <a:prstGeom prst="rect">
            <a:avLst/>
          </a:prstGeom>
          <a:solidFill>
            <a:srgbClr val="FFFFFF">
              <a:alpha val="8000"/>
            </a:srgbClr>
          </a:solidFill>
          <a:ln/>
        </p:spPr>
        <p:txBody>
          <a:bodyPr/>
          <a:lstStyle/>
          <a:p>
            <a:endParaRPr lang="en-IN" dirty="0">
              <a:latin typeface="Abadi" panose="020B0604020104020204" pitchFamily="34" charset="0"/>
            </a:endParaRPr>
          </a:p>
        </p:txBody>
      </p:sp>
      <p:sp>
        <p:nvSpPr>
          <p:cNvPr id="52" name="Text 50"/>
          <p:cNvSpPr/>
          <p:nvPr/>
        </p:nvSpPr>
        <p:spPr>
          <a:xfrm>
            <a:off x="1188720" y="6396990"/>
            <a:ext cx="2155615" cy="3200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Customer Agent</a:t>
            </a:r>
            <a:endParaRPr lang="en-US" sz="1800" dirty="0">
              <a:latin typeface="Abadi" panose="020B0604020104020204" pitchFamily="34" charset="0"/>
            </a:endParaRPr>
          </a:p>
        </p:txBody>
      </p:sp>
      <p:sp>
        <p:nvSpPr>
          <p:cNvPr id="53" name="Text 51"/>
          <p:cNvSpPr/>
          <p:nvPr/>
        </p:nvSpPr>
        <p:spPr>
          <a:xfrm>
            <a:off x="3148370"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E8531A"/>
                </a:solidFill>
                <a:latin typeface="Abadi" panose="020B0604020104020204" pitchFamily="34" charset="0"/>
                <a:ea typeface="Lato" pitchFamily="34" charset="-122"/>
                <a:cs typeface="Lato" pitchFamily="34" charset="-120"/>
              </a:rPr>
              <a:t>69</a:t>
            </a:r>
            <a:endParaRPr lang="en-US" sz="1800" dirty="0">
              <a:latin typeface="Abadi" panose="020B0604020104020204" pitchFamily="34" charset="0"/>
            </a:endParaRPr>
          </a:p>
        </p:txBody>
      </p:sp>
      <p:sp>
        <p:nvSpPr>
          <p:cNvPr id="54" name="Text 52"/>
          <p:cNvSpPr/>
          <p:nvPr/>
        </p:nvSpPr>
        <p:spPr>
          <a:xfrm>
            <a:off x="4256008"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85</a:t>
            </a:r>
            <a:endParaRPr lang="en-US" sz="1800" dirty="0">
              <a:latin typeface="Abadi" panose="020B0604020104020204" pitchFamily="34" charset="0"/>
            </a:endParaRPr>
          </a:p>
        </p:txBody>
      </p:sp>
      <p:sp>
        <p:nvSpPr>
          <p:cNvPr id="55" name="Text 53"/>
          <p:cNvSpPr/>
          <p:nvPr/>
        </p:nvSpPr>
        <p:spPr>
          <a:xfrm>
            <a:off x="5363646"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68</a:t>
            </a:r>
            <a:endParaRPr lang="en-US" sz="1800" dirty="0">
              <a:latin typeface="Abadi" panose="020B0604020104020204" pitchFamily="34" charset="0"/>
            </a:endParaRPr>
          </a:p>
        </p:txBody>
      </p:sp>
      <p:sp>
        <p:nvSpPr>
          <p:cNvPr id="56" name="Text 54"/>
          <p:cNvSpPr/>
          <p:nvPr/>
        </p:nvSpPr>
        <p:spPr>
          <a:xfrm>
            <a:off x="6471285"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62</a:t>
            </a:r>
            <a:endParaRPr lang="en-US" sz="1800" dirty="0">
              <a:latin typeface="Abadi" panose="020B0604020104020204" pitchFamily="34" charset="0"/>
            </a:endParaRPr>
          </a:p>
        </p:txBody>
      </p:sp>
      <p:sp>
        <p:nvSpPr>
          <p:cNvPr id="57" name="Text 55"/>
          <p:cNvSpPr/>
          <p:nvPr/>
        </p:nvSpPr>
        <p:spPr>
          <a:xfrm>
            <a:off x="7578923"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74</a:t>
            </a:r>
            <a:endParaRPr lang="en-US" sz="1800" dirty="0">
              <a:latin typeface="Abadi" panose="020B0604020104020204" pitchFamily="34" charset="0"/>
            </a:endParaRPr>
          </a:p>
        </p:txBody>
      </p:sp>
      <p:sp>
        <p:nvSpPr>
          <p:cNvPr id="58" name="Text 56"/>
          <p:cNvSpPr/>
          <p:nvPr/>
        </p:nvSpPr>
        <p:spPr>
          <a:xfrm>
            <a:off x="8686562"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70</a:t>
            </a:r>
            <a:endParaRPr lang="en-US" sz="1800" dirty="0">
              <a:latin typeface="Abadi" panose="020B0604020104020204" pitchFamily="34" charset="0"/>
            </a:endParaRPr>
          </a:p>
        </p:txBody>
      </p:sp>
      <p:sp>
        <p:nvSpPr>
          <p:cNvPr id="59" name="Text 57"/>
          <p:cNvSpPr/>
          <p:nvPr/>
        </p:nvSpPr>
        <p:spPr>
          <a:xfrm>
            <a:off x="9794201" y="6396990"/>
            <a:ext cx="695087"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a:t>
            </a:r>
            <a:endParaRPr lang="en-US" sz="1800" dirty="0">
              <a:latin typeface="Abadi" panose="020B0604020104020204" pitchFamily="34" charset="0"/>
            </a:endParaRPr>
          </a:p>
        </p:txBody>
      </p:sp>
      <p:sp>
        <p:nvSpPr>
          <p:cNvPr id="60" name="Shape 58"/>
          <p:cNvSpPr/>
          <p:nvPr/>
        </p:nvSpPr>
        <p:spPr>
          <a:xfrm>
            <a:off x="952500" y="7067550"/>
            <a:ext cx="9773007" cy="1642110"/>
          </a:xfrm>
          <a:prstGeom prst="roundRect">
            <a:avLst>
              <a:gd name="adj" fmla="val 3480"/>
            </a:avLst>
          </a:prstGeom>
          <a:ln w="7620">
            <a:solidFill>
              <a:srgbClr val="FFFFFF">
                <a:alpha val="14000"/>
              </a:srgbClr>
            </a:solidFill>
            <a:prstDash val="solid"/>
          </a:ln>
        </p:spPr>
        <p:txBody>
          <a:bodyPr/>
          <a:lstStyle/>
          <a:p>
            <a:endParaRPr lang="en-IN" dirty="0">
              <a:latin typeface="Abadi" panose="020B0604020104020204" pitchFamily="34" charset="0"/>
            </a:endParaRPr>
          </a:p>
        </p:txBody>
      </p:sp>
      <p:sp>
        <p:nvSpPr>
          <p:cNvPr id="61" name="Shape 59"/>
          <p:cNvSpPr/>
          <p:nvPr/>
        </p:nvSpPr>
        <p:spPr>
          <a:xfrm>
            <a:off x="1226820" y="7303770"/>
            <a:ext cx="323850" cy="800100"/>
          </a:xfrm>
          <a:prstGeom prst="rect">
            <a:avLst/>
          </a:prstGeom>
          <a:solidFill>
            <a:srgbClr val="FFFFFF">
              <a:alpha val="35000"/>
            </a:srgbClr>
          </a:solidFill>
          <a:ln/>
        </p:spPr>
        <p:txBody>
          <a:bodyPr/>
          <a:lstStyle/>
          <a:p>
            <a:endParaRPr lang="en-IN" dirty="0">
              <a:latin typeface="Abadi" panose="020B0604020104020204" pitchFamily="34" charset="0"/>
            </a:endParaRPr>
          </a:p>
        </p:txBody>
      </p:sp>
      <p:sp>
        <p:nvSpPr>
          <p:cNvPr id="62" name="Text 60"/>
          <p:cNvSpPr/>
          <p:nvPr/>
        </p:nvSpPr>
        <p:spPr>
          <a:xfrm>
            <a:off x="12561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70000"/>
                  </a:srgbClr>
                </a:solidFill>
                <a:latin typeface="Abadi" panose="020B0604020104020204" pitchFamily="34" charset="0"/>
                <a:ea typeface="Lato" pitchFamily="34" charset="-122"/>
                <a:cs typeface="Lato" pitchFamily="34" charset="-120"/>
              </a:rPr>
              <a:t>84</a:t>
            </a:r>
            <a:endParaRPr lang="en-US" sz="1800" dirty="0">
              <a:latin typeface="Abadi" panose="020B0604020104020204" pitchFamily="34" charset="0"/>
            </a:endParaRPr>
          </a:p>
        </p:txBody>
      </p:sp>
      <p:sp>
        <p:nvSpPr>
          <p:cNvPr id="63" name="Shape 61"/>
          <p:cNvSpPr/>
          <p:nvPr/>
        </p:nvSpPr>
        <p:spPr>
          <a:xfrm>
            <a:off x="1684020" y="7360920"/>
            <a:ext cx="323850" cy="742950"/>
          </a:xfrm>
          <a:prstGeom prst="rect">
            <a:avLst/>
          </a:prstGeom>
          <a:solidFill>
            <a:srgbClr val="FFFFFF">
              <a:alpha val="35000"/>
            </a:srgbClr>
          </a:solidFill>
          <a:ln/>
        </p:spPr>
        <p:txBody>
          <a:bodyPr/>
          <a:lstStyle/>
          <a:p>
            <a:endParaRPr lang="en-IN" dirty="0">
              <a:latin typeface="Abadi" panose="020B0604020104020204" pitchFamily="34" charset="0"/>
            </a:endParaRPr>
          </a:p>
        </p:txBody>
      </p:sp>
      <p:sp>
        <p:nvSpPr>
          <p:cNvPr id="64" name="Text 62"/>
          <p:cNvSpPr/>
          <p:nvPr/>
        </p:nvSpPr>
        <p:spPr>
          <a:xfrm>
            <a:off x="17133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70000"/>
                  </a:srgbClr>
                </a:solidFill>
                <a:latin typeface="Abadi" panose="020B0604020104020204" pitchFamily="34" charset="0"/>
                <a:ea typeface="Lato" pitchFamily="34" charset="-122"/>
                <a:cs typeface="Lato" pitchFamily="34" charset="-120"/>
              </a:rPr>
              <a:t>83</a:t>
            </a:r>
            <a:endParaRPr lang="en-US" sz="1800" dirty="0">
              <a:latin typeface="Abadi" panose="020B0604020104020204" pitchFamily="34" charset="0"/>
            </a:endParaRPr>
          </a:p>
        </p:txBody>
      </p:sp>
      <p:sp>
        <p:nvSpPr>
          <p:cNvPr id="65" name="Shape 63"/>
          <p:cNvSpPr/>
          <p:nvPr/>
        </p:nvSpPr>
        <p:spPr>
          <a:xfrm>
            <a:off x="2141220" y="7475220"/>
            <a:ext cx="323850" cy="628650"/>
          </a:xfrm>
          <a:prstGeom prst="rect">
            <a:avLst/>
          </a:prstGeom>
          <a:solidFill>
            <a:srgbClr val="D3A518"/>
          </a:solidFill>
          <a:ln/>
        </p:spPr>
        <p:txBody>
          <a:bodyPr/>
          <a:lstStyle/>
          <a:p>
            <a:endParaRPr lang="en-IN" dirty="0">
              <a:latin typeface="Abadi" panose="020B0604020104020204" pitchFamily="34" charset="0"/>
            </a:endParaRPr>
          </a:p>
        </p:txBody>
      </p:sp>
      <p:sp>
        <p:nvSpPr>
          <p:cNvPr id="66" name="Text 64"/>
          <p:cNvSpPr/>
          <p:nvPr/>
        </p:nvSpPr>
        <p:spPr>
          <a:xfrm>
            <a:off x="21705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70000"/>
                  </a:srgbClr>
                </a:solidFill>
                <a:latin typeface="Abadi" panose="020B0604020104020204" pitchFamily="34" charset="0"/>
                <a:ea typeface="Lato" pitchFamily="34" charset="-122"/>
                <a:cs typeface="Lato" pitchFamily="34" charset="-120"/>
              </a:rPr>
              <a:t>81</a:t>
            </a:r>
            <a:endParaRPr lang="en-US" sz="1800" dirty="0">
              <a:latin typeface="Abadi" panose="020B0604020104020204" pitchFamily="34" charset="0"/>
            </a:endParaRPr>
          </a:p>
        </p:txBody>
      </p:sp>
      <p:sp>
        <p:nvSpPr>
          <p:cNvPr id="67" name="Shape 65"/>
          <p:cNvSpPr/>
          <p:nvPr/>
        </p:nvSpPr>
        <p:spPr>
          <a:xfrm>
            <a:off x="2598420" y="7627620"/>
            <a:ext cx="323850" cy="476250"/>
          </a:xfrm>
          <a:prstGeom prst="rect">
            <a:avLst/>
          </a:prstGeom>
          <a:solidFill>
            <a:srgbClr val="E8531A"/>
          </a:solidFill>
          <a:ln/>
        </p:spPr>
        <p:txBody>
          <a:bodyPr/>
          <a:lstStyle/>
          <a:p>
            <a:endParaRPr lang="en-IN" dirty="0">
              <a:latin typeface="Abadi" panose="020B0604020104020204" pitchFamily="34" charset="0"/>
            </a:endParaRPr>
          </a:p>
        </p:txBody>
      </p:sp>
      <p:sp>
        <p:nvSpPr>
          <p:cNvPr id="68" name="Text 66"/>
          <p:cNvSpPr/>
          <p:nvPr/>
        </p:nvSpPr>
        <p:spPr>
          <a:xfrm>
            <a:off x="26277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78</a:t>
            </a:r>
            <a:endParaRPr lang="en-US" sz="1800" dirty="0">
              <a:latin typeface="Abadi" panose="020B0604020104020204" pitchFamily="34" charset="0"/>
            </a:endParaRPr>
          </a:p>
        </p:txBody>
      </p:sp>
      <p:sp>
        <p:nvSpPr>
          <p:cNvPr id="69" name="Text 67"/>
          <p:cNvSpPr/>
          <p:nvPr/>
        </p:nvSpPr>
        <p:spPr>
          <a:xfrm>
            <a:off x="3265170" y="7336155"/>
            <a:ext cx="7904619"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FFFFFF">
                    <a:alpha val="60000"/>
                  </a:srgbClr>
                </a:solidFill>
                <a:latin typeface="Abadi" panose="020B0604020104020204" pitchFamily="34" charset="0"/>
                <a:ea typeface="Lato" pitchFamily="34" charset="-122"/>
                <a:cs typeface="Lato" pitchFamily="34" charset="-120"/>
              </a:rPr>
              <a:t>LAST 30 DAYS · CLAIMS AGENT</a:t>
            </a:r>
            <a:endParaRPr lang="en-US" sz="1800" dirty="0">
              <a:latin typeface="Abadi" panose="020B0604020104020204" pitchFamily="34" charset="0"/>
            </a:endParaRPr>
          </a:p>
        </p:txBody>
      </p:sp>
      <p:sp>
        <p:nvSpPr>
          <p:cNvPr id="70" name="Text 68"/>
          <p:cNvSpPr/>
          <p:nvPr/>
        </p:nvSpPr>
        <p:spPr>
          <a:xfrm>
            <a:off x="3265170" y="7705725"/>
            <a:ext cx="7904619" cy="358140"/>
          </a:xfrm>
          <a:prstGeom prst="rect">
            <a:avLst/>
          </a:prstGeom>
          <a:noFill/>
          <a:ln/>
        </p:spPr>
        <p:txBody>
          <a:bodyPr wrap="square" lIns="25400" tIns="25400" rIns="25400" bIns="25400" rtlCol="0" anchor="t">
            <a:normAutofit/>
          </a:bodyPr>
          <a:lstStyle/>
          <a:p>
            <a:pPr marL="0" indent="0" algn="l">
              <a:lnSpc>
                <a:spcPct val="116667"/>
              </a:lnSpc>
              <a:buNone/>
            </a:pPr>
            <a:r>
              <a:rPr lang="en-US" sz="1800" dirty="0">
                <a:solidFill>
                  <a:srgbClr val="FFFFFF">
                    <a:alpha val="85000"/>
                  </a:srgbClr>
                </a:solidFill>
                <a:latin typeface="Abadi" panose="020B0604020104020204" pitchFamily="34" charset="0"/>
                <a:ea typeface="Lato" pitchFamily="34" charset="-122"/>
                <a:cs typeface="Lato" pitchFamily="34" charset="-120"/>
              </a:rPr>
              <a:t>Token cost ↑ 18% · Validation failures ↑ · Business output stable</a:t>
            </a:r>
            <a:endParaRPr lang="en-US" sz="1800" dirty="0">
              <a:latin typeface="Abadi" panose="020B0604020104020204" pitchFamily="34" charset="0"/>
            </a:endParaRPr>
          </a:p>
        </p:txBody>
      </p:sp>
      <p:sp>
        <p:nvSpPr>
          <p:cNvPr id="71" name="Text 69"/>
          <p:cNvSpPr/>
          <p:nvPr/>
        </p:nvSpPr>
        <p:spPr>
          <a:xfrm>
            <a:off x="3265170" y="8121015"/>
            <a:ext cx="7904619" cy="358140"/>
          </a:xfrm>
          <a:prstGeom prst="rect">
            <a:avLst/>
          </a:prstGeom>
          <a:noFill/>
          <a:ln/>
        </p:spPr>
        <p:txBody>
          <a:bodyPr wrap="square" lIns="25400" tIns="25400" rIns="25400" bIns="25400" rtlCol="0" anchor="t">
            <a:normAutofit/>
          </a:bodyPr>
          <a:lstStyle/>
          <a:p>
            <a:pPr marL="0" indent="0" algn="l">
              <a:lnSpc>
                <a:spcPct val="116667"/>
              </a:lnSpc>
              <a:buNone/>
            </a:pPr>
            <a:r>
              <a:rPr lang="en-US" sz="1800" b="1" dirty="0">
                <a:solidFill>
                  <a:srgbClr val="D3A518"/>
                </a:solidFill>
                <a:latin typeface="Abadi" panose="020B0604020104020204" pitchFamily="34" charset="0"/>
                <a:ea typeface="Lato" pitchFamily="34" charset="-122"/>
                <a:cs typeface="Lato" pitchFamily="34" charset="-120"/>
              </a:rPr>
              <a:t>The agent still works. But its efficiency and control are deteriorating.</a:t>
            </a:r>
            <a:endParaRPr lang="en-US" sz="1800" dirty="0">
              <a:latin typeface="Abadi" panose="020B0604020104020204" pitchFamily="34" charset="0"/>
            </a:endParaRPr>
          </a:p>
        </p:txBody>
      </p:sp>
      <p:sp>
        <p:nvSpPr>
          <p:cNvPr id="72" name="Shape 70"/>
          <p:cNvSpPr/>
          <p:nvPr/>
        </p:nvSpPr>
        <p:spPr>
          <a:xfrm>
            <a:off x="11030307" y="3028950"/>
            <a:ext cx="6305074" cy="6236970"/>
          </a:xfrm>
          <a:prstGeom prst="roundRect">
            <a:avLst>
              <a:gd name="adj" fmla="val 916"/>
            </a:avLst>
          </a:prstGeom>
          <a:solidFill>
            <a:srgbClr val="FFFFFF">
              <a:alpha val="6000"/>
            </a:srgbClr>
          </a:solidFill>
          <a:ln w="7620">
            <a:solidFill>
              <a:srgbClr val="FFFFFF">
                <a:alpha val="16000"/>
              </a:srgbClr>
            </a:solidFill>
            <a:prstDash val="solid"/>
          </a:ln>
        </p:spPr>
        <p:txBody>
          <a:bodyPr/>
          <a:lstStyle/>
          <a:p>
            <a:endParaRPr lang="en-IN" dirty="0">
              <a:latin typeface="Abadi" panose="020B0604020104020204" pitchFamily="34" charset="0"/>
            </a:endParaRPr>
          </a:p>
        </p:txBody>
      </p:sp>
      <p:sp>
        <p:nvSpPr>
          <p:cNvPr id="73" name="Text 71"/>
          <p:cNvSpPr/>
          <p:nvPr/>
        </p:nvSpPr>
        <p:spPr>
          <a:xfrm>
            <a:off x="11323677" y="3528060"/>
            <a:ext cx="1773186"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FFFFF"/>
                </a:solidFill>
                <a:latin typeface="Abadi" panose="020B0604020104020204" pitchFamily="34" charset="0"/>
                <a:ea typeface="Lato" pitchFamily="34" charset="-122"/>
                <a:cs typeface="Lato" pitchFamily="34" charset="-120"/>
              </a:rPr>
              <a:t>Claims Agent</a:t>
            </a:r>
            <a:endParaRPr lang="en-US" sz="2100" dirty="0">
              <a:latin typeface="Abadi" panose="020B0604020104020204" pitchFamily="34" charset="0"/>
            </a:endParaRPr>
          </a:p>
        </p:txBody>
      </p:sp>
      <p:sp>
        <p:nvSpPr>
          <p:cNvPr id="74" name="Text 72"/>
          <p:cNvSpPr/>
          <p:nvPr/>
        </p:nvSpPr>
        <p:spPr>
          <a:xfrm>
            <a:off x="16423243" y="3322320"/>
            <a:ext cx="694968" cy="571500"/>
          </a:xfrm>
          <a:prstGeom prst="rect">
            <a:avLst/>
          </a:prstGeom>
          <a:noFill/>
          <a:ln/>
        </p:spPr>
        <p:txBody>
          <a:bodyPr wrap="square" lIns="25400" tIns="25400" rIns="25400" bIns="25400" rtlCol="0" anchor="t">
            <a:normAutofit fontScale="92500"/>
          </a:bodyPr>
          <a:lstStyle/>
          <a:p>
            <a:pPr marL="0" indent="0" algn="l">
              <a:lnSpc>
                <a:spcPct val="83333"/>
              </a:lnSpc>
              <a:buNone/>
            </a:pPr>
            <a:r>
              <a:rPr lang="en-US" sz="4200" b="1" dirty="0">
                <a:solidFill>
                  <a:srgbClr val="D3A518"/>
                </a:solidFill>
                <a:latin typeface="Abadi" panose="020B0604020104020204" pitchFamily="34" charset="0"/>
                <a:ea typeface="Lato" pitchFamily="34" charset="-122"/>
                <a:cs typeface="Lato" pitchFamily="34" charset="-120"/>
              </a:rPr>
              <a:t>78</a:t>
            </a:r>
            <a:endParaRPr lang="en-US" sz="4200" dirty="0">
              <a:latin typeface="Abadi" panose="020B0604020104020204" pitchFamily="34" charset="0"/>
            </a:endParaRPr>
          </a:p>
        </p:txBody>
      </p:sp>
      <p:sp>
        <p:nvSpPr>
          <p:cNvPr id="75" name="Shape 73"/>
          <p:cNvSpPr/>
          <p:nvPr/>
        </p:nvSpPr>
        <p:spPr>
          <a:xfrm>
            <a:off x="11323677" y="4415790"/>
            <a:ext cx="5718334" cy="9525"/>
          </a:xfrm>
          <a:prstGeom prst="rect">
            <a:avLst/>
          </a:prstGeom>
          <a:solidFill>
            <a:srgbClr val="FFFFFF">
              <a:alpha val="10000"/>
            </a:srgbClr>
          </a:solidFill>
          <a:ln/>
        </p:spPr>
        <p:txBody>
          <a:bodyPr/>
          <a:lstStyle/>
          <a:p>
            <a:endParaRPr lang="en-IN" dirty="0">
              <a:latin typeface="Abadi" panose="020B0604020104020204" pitchFamily="34" charset="0"/>
            </a:endParaRPr>
          </a:p>
        </p:txBody>
      </p:sp>
      <p:sp>
        <p:nvSpPr>
          <p:cNvPr id="76" name="Text 74"/>
          <p:cNvSpPr/>
          <p:nvPr/>
        </p:nvSpPr>
        <p:spPr>
          <a:xfrm>
            <a:off x="11323677" y="4046220"/>
            <a:ext cx="143188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Performance</a:t>
            </a:r>
            <a:endParaRPr lang="en-US" sz="1800" dirty="0">
              <a:latin typeface="Abadi" panose="020B0604020104020204" pitchFamily="34" charset="0"/>
            </a:endParaRPr>
          </a:p>
        </p:txBody>
      </p:sp>
      <p:sp>
        <p:nvSpPr>
          <p:cNvPr id="77" name="Text 75"/>
          <p:cNvSpPr/>
          <p:nvPr/>
        </p:nvSpPr>
        <p:spPr>
          <a:xfrm>
            <a:off x="16359188" y="4046220"/>
            <a:ext cx="75902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Strong</a:t>
            </a:r>
            <a:endParaRPr lang="en-US" sz="1800" dirty="0">
              <a:latin typeface="Abadi" panose="020B0604020104020204" pitchFamily="34" charset="0"/>
            </a:endParaRPr>
          </a:p>
        </p:txBody>
      </p:sp>
      <p:sp>
        <p:nvSpPr>
          <p:cNvPr id="78" name="Shape 76"/>
          <p:cNvSpPr/>
          <p:nvPr/>
        </p:nvSpPr>
        <p:spPr>
          <a:xfrm>
            <a:off x="11323677" y="4907280"/>
            <a:ext cx="5718334" cy="9525"/>
          </a:xfrm>
          <a:prstGeom prst="rect">
            <a:avLst/>
          </a:prstGeom>
          <a:solidFill>
            <a:srgbClr val="FFFFFF">
              <a:alpha val="10000"/>
            </a:srgbClr>
          </a:solidFill>
          <a:ln/>
        </p:spPr>
        <p:txBody>
          <a:bodyPr/>
          <a:lstStyle/>
          <a:p>
            <a:endParaRPr lang="en-IN" dirty="0">
              <a:latin typeface="Abadi" panose="020B0604020104020204" pitchFamily="34" charset="0"/>
            </a:endParaRPr>
          </a:p>
        </p:txBody>
      </p:sp>
      <p:sp>
        <p:nvSpPr>
          <p:cNvPr id="79" name="Text 77"/>
          <p:cNvSpPr/>
          <p:nvPr/>
        </p:nvSpPr>
        <p:spPr>
          <a:xfrm>
            <a:off x="11323677" y="4537710"/>
            <a:ext cx="821055"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Quality</a:t>
            </a:r>
            <a:endParaRPr lang="en-US" sz="1800" dirty="0">
              <a:latin typeface="Abadi" panose="020B0604020104020204" pitchFamily="34" charset="0"/>
            </a:endParaRPr>
          </a:p>
        </p:txBody>
      </p:sp>
      <p:sp>
        <p:nvSpPr>
          <p:cNvPr id="80" name="Text 78"/>
          <p:cNvSpPr/>
          <p:nvPr/>
        </p:nvSpPr>
        <p:spPr>
          <a:xfrm>
            <a:off x="16366927" y="4537710"/>
            <a:ext cx="751284"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Watch</a:t>
            </a:r>
            <a:endParaRPr lang="en-US" sz="1800" dirty="0">
              <a:latin typeface="Abadi" panose="020B0604020104020204" pitchFamily="34" charset="0"/>
            </a:endParaRPr>
          </a:p>
        </p:txBody>
      </p:sp>
      <p:sp>
        <p:nvSpPr>
          <p:cNvPr id="81" name="Shape 79"/>
          <p:cNvSpPr/>
          <p:nvPr/>
        </p:nvSpPr>
        <p:spPr>
          <a:xfrm>
            <a:off x="11323677" y="5398770"/>
            <a:ext cx="5718334" cy="9525"/>
          </a:xfrm>
          <a:prstGeom prst="rect">
            <a:avLst/>
          </a:prstGeom>
          <a:solidFill>
            <a:srgbClr val="FFFFFF">
              <a:alpha val="10000"/>
            </a:srgbClr>
          </a:solidFill>
          <a:ln/>
        </p:spPr>
        <p:txBody>
          <a:bodyPr/>
          <a:lstStyle/>
          <a:p>
            <a:endParaRPr lang="en-IN" dirty="0">
              <a:latin typeface="Abadi" panose="020B0604020104020204" pitchFamily="34" charset="0"/>
            </a:endParaRPr>
          </a:p>
        </p:txBody>
      </p:sp>
      <p:sp>
        <p:nvSpPr>
          <p:cNvPr id="82" name="Text 80"/>
          <p:cNvSpPr/>
          <p:nvPr/>
        </p:nvSpPr>
        <p:spPr>
          <a:xfrm>
            <a:off x="11323677" y="5029200"/>
            <a:ext cx="1765590"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Token efficiency</a:t>
            </a:r>
            <a:endParaRPr lang="en-US" sz="1800" dirty="0">
              <a:latin typeface="Abadi" panose="020B0604020104020204" pitchFamily="34" charset="0"/>
            </a:endParaRPr>
          </a:p>
        </p:txBody>
      </p:sp>
      <p:sp>
        <p:nvSpPr>
          <p:cNvPr id="83" name="Text 81"/>
          <p:cNvSpPr/>
          <p:nvPr/>
        </p:nvSpPr>
        <p:spPr>
          <a:xfrm>
            <a:off x="16359188" y="5029200"/>
            <a:ext cx="75902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Strong</a:t>
            </a:r>
            <a:endParaRPr lang="en-US" sz="1800" dirty="0">
              <a:latin typeface="Abadi" panose="020B0604020104020204" pitchFamily="34" charset="0"/>
            </a:endParaRPr>
          </a:p>
        </p:txBody>
      </p:sp>
      <p:sp>
        <p:nvSpPr>
          <p:cNvPr id="84" name="Shape 82"/>
          <p:cNvSpPr/>
          <p:nvPr/>
        </p:nvSpPr>
        <p:spPr>
          <a:xfrm>
            <a:off x="11323677" y="5890260"/>
            <a:ext cx="5718334" cy="9525"/>
          </a:xfrm>
          <a:prstGeom prst="rect">
            <a:avLst/>
          </a:prstGeom>
          <a:solidFill>
            <a:srgbClr val="FFFFFF">
              <a:alpha val="10000"/>
            </a:srgbClr>
          </a:solidFill>
          <a:ln/>
        </p:spPr>
        <p:txBody>
          <a:bodyPr/>
          <a:lstStyle/>
          <a:p>
            <a:endParaRPr lang="en-IN" dirty="0">
              <a:latin typeface="Abadi" panose="020B0604020104020204" pitchFamily="34" charset="0"/>
            </a:endParaRPr>
          </a:p>
        </p:txBody>
      </p:sp>
      <p:sp>
        <p:nvSpPr>
          <p:cNvPr id="85" name="Text 83"/>
          <p:cNvSpPr/>
          <p:nvPr/>
        </p:nvSpPr>
        <p:spPr>
          <a:xfrm>
            <a:off x="11323677" y="5520690"/>
            <a:ext cx="1069062"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Execution</a:t>
            </a:r>
            <a:endParaRPr lang="en-US" sz="1800" dirty="0">
              <a:latin typeface="Abadi" panose="020B0604020104020204" pitchFamily="34" charset="0"/>
            </a:endParaRPr>
          </a:p>
        </p:txBody>
      </p:sp>
      <p:sp>
        <p:nvSpPr>
          <p:cNvPr id="86" name="Text 84"/>
          <p:cNvSpPr/>
          <p:nvPr/>
        </p:nvSpPr>
        <p:spPr>
          <a:xfrm>
            <a:off x="16359188" y="5520690"/>
            <a:ext cx="75902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Strong</a:t>
            </a:r>
            <a:endParaRPr lang="en-US" sz="1800" dirty="0">
              <a:latin typeface="Abadi" panose="020B0604020104020204" pitchFamily="34" charset="0"/>
            </a:endParaRPr>
          </a:p>
        </p:txBody>
      </p:sp>
      <p:sp>
        <p:nvSpPr>
          <p:cNvPr id="87" name="Shape 85"/>
          <p:cNvSpPr/>
          <p:nvPr/>
        </p:nvSpPr>
        <p:spPr>
          <a:xfrm>
            <a:off x="11323677" y="6381750"/>
            <a:ext cx="5718334" cy="9525"/>
          </a:xfrm>
          <a:prstGeom prst="rect">
            <a:avLst/>
          </a:prstGeom>
          <a:solidFill>
            <a:srgbClr val="FFFFFF">
              <a:alpha val="10000"/>
            </a:srgbClr>
          </a:solidFill>
          <a:ln/>
        </p:spPr>
        <p:txBody>
          <a:bodyPr/>
          <a:lstStyle/>
          <a:p>
            <a:endParaRPr lang="en-IN" dirty="0">
              <a:latin typeface="Abadi" panose="020B0604020104020204" pitchFamily="34" charset="0"/>
            </a:endParaRPr>
          </a:p>
        </p:txBody>
      </p:sp>
      <p:sp>
        <p:nvSpPr>
          <p:cNvPr id="88" name="Text 86"/>
          <p:cNvSpPr/>
          <p:nvPr/>
        </p:nvSpPr>
        <p:spPr>
          <a:xfrm>
            <a:off x="11323677" y="6012180"/>
            <a:ext cx="904042"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Security</a:t>
            </a:r>
            <a:endParaRPr lang="en-US" sz="1800" dirty="0">
              <a:latin typeface="Abadi" panose="020B0604020104020204" pitchFamily="34" charset="0"/>
            </a:endParaRPr>
          </a:p>
        </p:txBody>
      </p:sp>
      <p:sp>
        <p:nvSpPr>
          <p:cNvPr id="89" name="Text 87"/>
          <p:cNvSpPr/>
          <p:nvPr/>
        </p:nvSpPr>
        <p:spPr>
          <a:xfrm>
            <a:off x="16366927" y="6012180"/>
            <a:ext cx="751284"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Watch</a:t>
            </a:r>
            <a:endParaRPr lang="en-US" sz="1800" dirty="0">
              <a:latin typeface="Abadi" panose="020B0604020104020204" pitchFamily="34" charset="0"/>
            </a:endParaRPr>
          </a:p>
        </p:txBody>
      </p:sp>
      <p:sp>
        <p:nvSpPr>
          <p:cNvPr id="90" name="Shape 88"/>
          <p:cNvSpPr/>
          <p:nvPr/>
        </p:nvSpPr>
        <p:spPr>
          <a:xfrm>
            <a:off x="11323677" y="6873240"/>
            <a:ext cx="5718334" cy="9525"/>
          </a:xfrm>
          <a:prstGeom prst="rect">
            <a:avLst/>
          </a:prstGeom>
          <a:solidFill>
            <a:srgbClr val="FFFFFF">
              <a:alpha val="10000"/>
            </a:srgbClr>
          </a:solidFill>
          <a:ln/>
        </p:spPr>
        <p:txBody>
          <a:bodyPr/>
          <a:lstStyle/>
          <a:p>
            <a:endParaRPr lang="en-IN" dirty="0">
              <a:latin typeface="Abadi" panose="020B0604020104020204" pitchFamily="34" charset="0"/>
            </a:endParaRPr>
          </a:p>
        </p:txBody>
      </p:sp>
      <p:sp>
        <p:nvSpPr>
          <p:cNvPr id="91" name="Text 89"/>
          <p:cNvSpPr/>
          <p:nvPr/>
        </p:nvSpPr>
        <p:spPr>
          <a:xfrm>
            <a:off x="11323677" y="6503670"/>
            <a:ext cx="1336012"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Governance</a:t>
            </a:r>
            <a:endParaRPr lang="en-US" sz="1800" dirty="0">
              <a:latin typeface="Abadi" panose="020B0604020104020204" pitchFamily="34" charset="0"/>
            </a:endParaRPr>
          </a:p>
        </p:txBody>
      </p:sp>
      <p:sp>
        <p:nvSpPr>
          <p:cNvPr id="92" name="Text 90"/>
          <p:cNvSpPr/>
          <p:nvPr/>
        </p:nvSpPr>
        <p:spPr>
          <a:xfrm>
            <a:off x="16229052" y="6503670"/>
            <a:ext cx="88915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Healthy</a:t>
            </a:r>
            <a:endParaRPr lang="en-US" sz="1800" dirty="0">
              <a:latin typeface="Abadi" panose="020B0604020104020204" pitchFamily="34" charset="0"/>
            </a:endParaRPr>
          </a:p>
        </p:txBody>
      </p:sp>
      <p:sp>
        <p:nvSpPr>
          <p:cNvPr id="93" name="Text 91"/>
          <p:cNvSpPr/>
          <p:nvPr/>
        </p:nvSpPr>
        <p:spPr>
          <a:xfrm>
            <a:off x="11323677" y="6995160"/>
            <a:ext cx="1093113"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Validation</a:t>
            </a:r>
            <a:endParaRPr lang="en-US" sz="1800" dirty="0">
              <a:latin typeface="Abadi" panose="020B0604020104020204" pitchFamily="34" charset="0"/>
            </a:endParaRPr>
          </a:p>
        </p:txBody>
      </p:sp>
      <p:sp>
        <p:nvSpPr>
          <p:cNvPr id="94" name="Text 92"/>
          <p:cNvSpPr/>
          <p:nvPr/>
        </p:nvSpPr>
        <p:spPr>
          <a:xfrm>
            <a:off x="16439436" y="6995160"/>
            <a:ext cx="67877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E8531A"/>
                </a:solidFill>
                <a:latin typeface="Abadi" panose="020B0604020104020204" pitchFamily="34" charset="0"/>
                <a:ea typeface="Lato" pitchFamily="34" charset="-122"/>
                <a:cs typeface="Lato" pitchFamily="34" charset="-120"/>
              </a:rPr>
              <a:t>Weak</a:t>
            </a:r>
            <a:endParaRPr lang="en-US" sz="1800" dirty="0">
              <a:latin typeface="Abadi" panose="020B0604020104020204" pitchFamily="34" charset="0"/>
            </a:endParaRPr>
          </a:p>
        </p:txBody>
      </p:sp>
      <p:sp>
        <p:nvSpPr>
          <p:cNvPr id="95" name="Shape 93"/>
          <p:cNvSpPr/>
          <p:nvPr/>
        </p:nvSpPr>
        <p:spPr>
          <a:xfrm>
            <a:off x="11323677" y="7536180"/>
            <a:ext cx="5718334" cy="1436370"/>
          </a:xfrm>
          <a:prstGeom prst="roundRect">
            <a:avLst>
              <a:gd name="adj" fmla="val 3979"/>
            </a:avLst>
          </a:prstGeom>
          <a:solidFill>
            <a:srgbClr val="D3A518"/>
          </a:solidFill>
          <a:ln/>
        </p:spPr>
        <p:txBody>
          <a:bodyPr/>
          <a:lstStyle/>
          <a:p>
            <a:endParaRPr lang="en-IN" dirty="0">
              <a:latin typeface="Abadi" panose="020B0604020104020204" pitchFamily="34" charset="0"/>
            </a:endParaRPr>
          </a:p>
        </p:txBody>
      </p:sp>
      <p:sp>
        <p:nvSpPr>
          <p:cNvPr id="96" name="Text 94"/>
          <p:cNvSpPr/>
          <p:nvPr/>
        </p:nvSpPr>
        <p:spPr>
          <a:xfrm>
            <a:off x="11552277" y="7745730"/>
            <a:ext cx="5787248"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00051E">
                    <a:alpha val="70000"/>
                  </a:srgbClr>
                </a:solidFill>
                <a:latin typeface="Abadi" panose="020B0604020104020204" pitchFamily="34" charset="0"/>
                <a:ea typeface="Lato" pitchFamily="34" charset="-122"/>
                <a:cs typeface="Lato" pitchFamily="34" charset="-120"/>
              </a:rPr>
              <a:t>RECOMMENDED ACTION</a:t>
            </a:r>
            <a:endParaRPr lang="en-US" sz="1800" dirty="0">
              <a:latin typeface="Abadi" panose="020B0604020104020204" pitchFamily="34" charset="0"/>
            </a:endParaRPr>
          </a:p>
        </p:txBody>
      </p:sp>
      <p:sp>
        <p:nvSpPr>
          <p:cNvPr id="97" name="Text 95"/>
          <p:cNvSpPr/>
          <p:nvPr/>
        </p:nvSpPr>
        <p:spPr>
          <a:xfrm>
            <a:off x="11552277" y="8096250"/>
            <a:ext cx="5418968"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Improve validation before increasing autonomy.</a:t>
            </a:r>
            <a:endParaRPr lang="en-US" sz="2100" dirty="0">
              <a:latin typeface="Abadi" panose="020B0604020104020204" pitchFamily="34" charset="0"/>
            </a:endParaRPr>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dirty="0">
              <a:latin typeface="Abadi" panose="020B0604020104020204" pitchFamily="34" charset="0"/>
            </a:endParaRPr>
          </a:p>
        </p:txBody>
      </p:sp>
      <p:sp>
        <p:nvSpPr>
          <p:cNvPr id="4" name="Text 2"/>
          <p:cNvSpPr/>
          <p:nvPr/>
        </p:nvSpPr>
        <p:spPr>
          <a:xfrm>
            <a:off x="952500" y="1626870"/>
            <a:ext cx="18021300" cy="696397"/>
          </a:xfrm>
          <a:prstGeom prst="rect">
            <a:avLst/>
          </a:prstGeom>
          <a:noFill/>
          <a:ln/>
        </p:spPr>
        <p:txBody>
          <a:bodyPr wrap="square" lIns="25400" tIns="25400" rIns="25400" bIns="25400" rtlCol="0" anchor="t">
            <a:normAutofit/>
          </a:bodyPr>
          <a:lstStyle/>
          <a:p>
            <a:pPr marL="0" indent="0" algn="l">
              <a:lnSpc>
                <a:spcPct val="90000"/>
              </a:lnSpc>
              <a:buNone/>
            </a:pPr>
            <a:r>
              <a:rPr lang="en-US" sz="3600" b="1" kern="0" spc="-72" dirty="0">
                <a:solidFill>
                  <a:schemeClr val="bg1"/>
                </a:solidFill>
                <a:latin typeface="Abadi" panose="020B0604020104020204" pitchFamily="34" charset="0"/>
                <a:ea typeface="Lato" pitchFamily="34" charset="-122"/>
                <a:cs typeface="Lato" pitchFamily="34" charset="-120"/>
              </a:rPr>
              <a:t>The Scoring Layer Seamlessly Integrates Into Any Agent Ecosystem.</a:t>
            </a:r>
            <a:endParaRPr lang="en-US" sz="3600" dirty="0">
              <a:solidFill>
                <a:schemeClr val="bg1"/>
              </a:solidFill>
              <a:latin typeface="Abadi" panose="020B0604020104020204" pitchFamily="34" charset="0"/>
            </a:endParaRPr>
          </a:p>
        </p:txBody>
      </p:sp>
      <p:sp>
        <p:nvSpPr>
          <p:cNvPr id="5" name="Shape 3"/>
          <p:cNvSpPr/>
          <p:nvPr/>
        </p:nvSpPr>
        <p:spPr>
          <a:xfrm>
            <a:off x="952500" y="2704267"/>
            <a:ext cx="8587859" cy="777240"/>
          </a:xfrm>
          <a:prstGeom prst="roundRect">
            <a:avLst>
              <a:gd name="adj" fmla="val 7353"/>
            </a:avLst>
          </a:prstGeom>
          <a:solidFill>
            <a:srgbClr val="FFFFFF"/>
          </a:solidFill>
          <a:ln/>
          <a:effectLst>
            <a:outerShdw blurRad="38100" dist="9525" dir="5400000" algn="bl" rotWithShape="0">
              <a:srgbClr val="00051E">
                <a:alpha val="8000"/>
              </a:srgbClr>
            </a:outerShdw>
          </a:effectLst>
        </p:spPr>
        <p:txBody>
          <a:bodyPr/>
          <a:lstStyle/>
          <a:p>
            <a:endParaRPr lang="en-IN" dirty="0">
              <a:latin typeface="Abadi" panose="020B0604020104020204" pitchFamily="34" charset="0"/>
            </a:endParaRPr>
          </a:p>
        </p:txBody>
      </p:sp>
      <p:sp>
        <p:nvSpPr>
          <p:cNvPr id="6" name="Text 4"/>
          <p:cNvSpPr/>
          <p:nvPr/>
        </p:nvSpPr>
        <p:spPr>
          <a:xfrm>
            <a:off x="1219200" y="2932867"/>
            <a:ext cx="8859905"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0051E"/>
                </a:solidFill>
                <a:latin typeface="Abadi" panose="020B0604020104020204" pitchFamily="34" charset="0"/>
                <a:ea typeface="Lato" pitchFamily="34" charset="-122"/>
                <a:cs typeface="Lato" pitchFamily="34" charset="-120"/>
              </a:rPr>
              <a:t>Existing AI agents</a:t>
            </a:r>
            <a:endParaRPr lang="en-US" sz="2100" dirty="0">
              <a:latin typeface="Abadi" panose="020B0604020104020204" pitchFamily="34" charset="0"/>
            </a:endParaRPr>
          </a:p>
        </p:txBody>
      </p:sp>
      <p:sp>
        <p:nvSpPr>
          <p:cNvPr id="7" name="Text 5"/>
          <p:cNvSpPr/>
          <p:nvPr/>
        </p:nvSpPr>
        <p:spPr>
          <a:xfrm>
            <a:off x="523107" y="359580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latin typeface="Abadi" panose="020B0604020104020204" pitchFamily="34" charset="0"/>
            </a:endParaRPr>
          </a:p>
        </p:txBody>
      </p:sp>
      <p:sp>
        <p:nvSpPr>
          <p:cNvPr id="8" name="Shape 6"/>
          <p:cNvSpPr/>
          <p:nvPr/>
        </p:nvSpPr>
        <p:spPr>
          <a:xfrm>
            <a:off x="952500" y="4106347"/>
            <a:ext cx="8587859" cy="777240"/>
          </a:xfrm>
          <a:prstGeom prst="roundRect">
            <a:avLst>
              <a:gd name="adj" fmla="val 7353"/>
            </a:avLst>
          </a:prstGeom>
          <a:solidFill>
            <a:srgbClr val="FFFFFF"/>
          </a:solidFill>
          <a:ln/>
          <a:effectLst>
            <a:outerShdw blurRad="38100" dist="9525" dir="5400000" algn="bl" rotWithShape="0">
              <a:srgbClr val="00051E">
                <a:alpha val="8000"/>
              </a:srgbClr>
            </a:outerShdw>
          </a:effectLst>
        </p:spPr>
        <p:txBody>
          <a:bodyPr/>
          <a:lstStyle/>
          <a:p>
            <a:endParaRPr lang="en-IN" dirty="0">
              <a:latin typeface="Abadi" panose="020B0604020104020204" pitchFamily="34" charset="0"/>
            </a:endParaRPr>
          </a:p>
        </p:txBody>
      </p:sp>
      <p:sp>
        <p:nvSpPr>
          <p:cNvPr id="9" name="Text 7"/>
          <p:cNvSpPr/>
          <p:nvPr/>
        </p:nvSpPr>
        <p:spPr>
          <a:xfrm>
            <a:off x="1219200" y="4334947"/>
            <a:ext cx="8859905"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0051E"/>
                </a:solidFill>
                <a:latin typeface="Abadi" panose="020B0604020104020204" pitchFamily="34" charset="0"/>
                <a:ea typeface="Lato" pitchFamily="34" charset="-122"/>
                <a:cs typeface="Lato" pitchFamily="34" charset="-120"/>
              </a:rPr>
              <a:t>Existing orchestration / runtime</a:t>
            </a:r>
            <a:endParaRPr lang="en-US" sz="2100" dirty="0">
              <a:latin typeface="Abadi" panose="020B0604020104020204" pitchFamily="34" charset="0"/>
            </a:endParaRPr>
          </a:p>
        </p:txBody>
      </p:sp>
      <p:sp>
        <p:nvSpPr>
          <p:cNvPr id="10" name="Text 8"/>
          <p:cNvSpPr/>
          <p:nvPr/>
        </p:nvSpPr>
        <p:spPr>
          <a:xfrm>
            <a:off x="523107" y="499788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latin typeface="Abadi" panose="020B0604020104020204" pitchFamily="34" charset="0"/>
            </a:endParaRPr>
          </a:p>
        </p:txBody>
      </p:sp>
      <p:sp>
        <p:nvSpPr>
          <p:cNvPr id="11" name="Shape 9"/>
          <p:cNvSpPr/>
          <p:nvPr/>
        </p:nvSpPr>
        <p:spPr>
          <a:xfrm>
            <a:off x="952500" y="5508427"/>
            <a:ext cx="8587859" cy="777240"/>
          </a:xfrm>
          <a:prstGeom prst="roundRect">
            <a:avLst>
              <a:gd name="adj" fmla="val 7353"/>
            </a:avLst>
          </a:prstGeom>
          <a:solidFill>
            <a:srgbClr val="FFFFFF"/>
          </a:solidFill>
          <a:ln/>
          <a:effectLst>
            <a:outerShdw blurRad="38100" dist="9525" dir="5400000" algn="bl" rotWithShape="0">
              <a:srgbClr val="00051E">
                <a:alpha val="8000"/>
              </a:srgbClr>
            </a:outerShdw>
          </a:effectLst>
        </p:spPr>
        <p:txBody>
          <a:bodyPr/>
          <a:lstStyle/>
          <a:p>
            <a:endParaRPr lang="en-IN" dirty="0">
              <a:latin typeface="Abadi" panose="020B0604020104020204" pitchFamily="34" charset="0"/>
            </a:endParaRPr>
          </a:p>
        </p:txBody>
      </p:sp>
      <p:sp>
        <p:nvSpPr>
          <p:cNvPr id="12" name="Text 10"/>
          <p:cNvSpPr/>
          <p:nvPr/>
        </p:nvSpPr>
        <p:spPr>
          <a:xfrm>
            <a:off x="1219200" y="5737027"/>
            <a:ext cx="8859905" cy="358140"/>
          </a:xfrm>
          <a:prstGeom prst="rect">
            <a:avLst/>
          </a:prstGeom>
          <a:noFill/>
          <a:ln/>
        </p:spPr>
        <p:txBody>
          <a:bodyPr wrap="square" lIns="25400" tIns="25400" rIns="25400" bIns="25400" rtlCol="0" anchor="t">
            <a:noAutofit/>
          </a:bodyPr>
          <a:lstStyle/>
          <a:p>
            <a:r>
              <a:rPr sz="2100" b="1" dirty="0">
                <a:latin typeface="Abadi" panose="020B0604020104020204" pitchFamily="34" charset="0"/>
              </a:rPr>
              <a:t>API Interface (Open</a:t>
            </a:r>
            <a:r>
              <a:rPr lang="en-IN" sz="2100" b="1" dirty="0">
                <a:latin typeface="Abadi" panose="020B0604020104020204" pitchFamily="34" charset="0"/>
              </a:rPr>
              <a:t> </a:t>
            </a:r>
            <a:r>
              <a:rPr sz="2100" b="1" dirty="0">
                <a:latin typeface="Abadi" panose="020B0604020104020204" pitchFamily="34" charset="0"/>
              </a:rPr>
              <a:t>Telemetry, REST APIs, and MCP integrations)</a:t>
            </a:r>
          </a:p>
        </p:txBody>
      </p:sp>
      <p:sp>
        <p:nvSpPr>
          <p:cNvPr id="13" name="Text 11"/>
          <p:cNvSpPr/>
          <p:nvPr/>
        </p:nvSpPr>
        <p:spPr>
          <a:xfrm>
            <a:off x="523107" y="639996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latin typeface="Abadi" panose="020B0604020104020204" pitchFamily="34" charset="0"/>
            </a:endParaRPr>
          </a:p>
        </p:txBody>
      </p:sp>
      <p:sp>
        <p:nvSpPr>
          <p:cNvPr id="14" name="Shape 12"/>
          <p:cNvSpPr/>
          <p:nvPr/>
        </p:nvSpPr>
        <p:spPr>
          <a:xfrm>
            <a:off x="952500" y="6910507"/>
            <a:ext cx="8587859" cy="1036320"/>
          </a:xfrm>
          <a:prstGeom prst="roundRect">
            <a:avLst>
              <a:gd name="adj" fmla="val 5515"/>
            </a:avLst>
          </a:prstGeom>
          <a:solidFill>
            <a:schemeClr val="bg1"/>
          </a:solidFill>
          <a:ln w="28575">
            <a:solidFill>
              <a:srgbClr val="00B050"/>
            </a:solidFill>
          </a:ln>
          <a:effectLst>
            <a:outerShdw blurRad="304800" dist="76200" dir="5400000" algn="bl" rotWithShape="0">
              <a:srgbClr val="00051E">
                <a:alpha val="16000"/>
              </a:srgbClr>
            </a:outerShdw>
          </a:effectLst>
        </p:spPr>
        <p:txBody>
          <a:bodyPr/>
          <a:lstStyle/>
          <a:p>
            <a:endParaRPr lang="en-IN" dirty="0">
              <a:latin typeface="Abadi" panose="020B0604020104020204" pitchFamily="34" charset="0"/>
            </a:endParaRPr>
          </a:p>
        </p:txBody>
      </p:sp>
      <p:sp>
        <p:nvSpPr>
          <p:cNvPr id="15" name="Text 13"/>
          <p:cNvSpPr/>
          <p:nvPr/>
        </p:nvSpPr>
        <p:spPr>
          <a:xfrm>
            <a:off x="1219200" y="7177207"/>
            <a:ext cx="8859905" cy="54102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D3A518"/>
                </a:solidFill>
                <a:latin typeface="Abadi" panose="020B0604020104020204" pitchFamily="34" charset="0"/>
                <a:ea typeface="Lato" pitchFamily="34" charset="-122"/>
                <a:cs typeface="Lato" pitchFamily="34" charset="-120"/>
              </a:rPr>
              <a:t>AGENT SCORING LAYER</a:t>
            </a:r>
            <a:endParaRPr lang="en-US" sz="3300" dirty="0">
              <a:latin typeface="Abadi" panose="020B0604020104020204" pitchFamily="34" charset="0"/>
            </a:endParaRPr>
          </a:p>
        </p:txBody>
      </p:sp>
      <p:sp>
        <p:nvSpPr>
          <p:cNvPr id="16" name="Text 14"/>
          <p:cNvSpPr/>
          <p:nvPr/>
        </p:nvSpPr>
        <p:spPr>
          <a:xfrm>
            <a:off x="523107" y="806112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latin typeface="Abadi" panose="020B0604020104020204" pitchFamily="34" charset="0"/>
            </a:endParaRPr>
          </a:p>
        </p:txBody>
      </p:sp>
      <p:sp>
        <p:nvSpPr>
          <p:cNvPr id="17" name="Shape 15"/>
          <p:cNvSpPr/>
          <p:nvPr/>
        </p:nvSpPr>
        <p:spPr>
          <a:xfrm>
            <a:off x="952500" y="8571667"/>
            <a:ext cx="8587859" cy="807720"/>
          </a:xfrm>
          <a:prstGeom prst="roundRect">
            <a:avLst>
              <a:gd name="adj" fmla="val 7075"/>
            </a:avLst>
          </a:prstGeom>
          <a:solidFill>
            <a:srgbClr val="FFFFFF"/>
          </a:solidFill>
          <a:ln w="15240">
            <a:solidFill>
              <a:srgbClr val="D3A518"/>
            </a:solidFill>
            <a:prstDash val="solid"/>
          </a:ln>
        </p:spPr>
        <p:txBody>
          <a:bodyPr/>
          <a:lstStyle/>
          <a:p>
            <a:endParaRPr lang="en-IN" dirty="0">
              <a:latin typeface="Abadi" panose="020B0604020104020204" pitchFamily="34" charset="0"/>
            </a:endParaRPr>
          </a:p>
        </p:txBody>
      </p:sp>
      <p:sp>
        <p:nvSpPr>
          <p:cNvPr id="18" name="Text 16"/>
          <p:cNvSpPr/>
          <p:nvPr/>
        </p:nvSpPr>
        <p:spPr>
          <a:xfrm>
            <a:off x="1234440" y="8815507"/>
            <a:ext cx="8826377"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0051E"/>
                </a:solidFill>
                <a:latin typeface="Abadi" panose="020B0604020104020204" pitchFamily="34" charset="0"/>
                <a:ea typeface="Lato" pitchFamily="34" charset="-122"/>
                <a:cs typeface="Lato" pitchFamily="34" charset="-120"/>
              </a:rPr>
              <a:t>Enterprise Agent Dashboard</a:t>
            </a:r>
            <a:endParaRPr lang="en-US" sz="2100" dirty="0">
              <a:latin typeface="Abadi" panose="020B0604020104020204" pitchFamily="34" charset="0"/>
            </a:endParaRPr>
          </a:p>
        </p:txBody>
      </p:sp>
      <p:sp>
        <p:nvSpPr>
          <p:cNvPr id="19" name="Text 17"/>
          <p:cNvSpPr/>
          <p:nvPr/>
        </p:nvSpPr>
        <p:spPr>
          <a:xfrm>
            <a:off x="10035660" y="2704267"/>
            <a:ext cx="8029694"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chemeClr val="bg1">
                    <a:lumMod val="95000"/>
                  </a:schemeClr>
                </a:solidFill>
                <a:latin typeface="Abadi" panose="020B0604020104020204" pitchFamily="34" charset="0"/>
                <a:ea typeface="Lato" pitchFamily="34" charset="-122"/>
                <a:cs typeface="Lato" pitchFamily="34" charset="-120"/>
              </a:rPr>
              <a:t>INGESTED EVIDENCE</a:t>
            </a:r>
            <a:endParaRPr lang="en-US" sz="1800" dirty="0">
              <a:solidFill>
                <a:schemeClr val="bg1">
                  <a:lumMod val="95000"/>
                </a:schemeClr>
              </a:solidFill>
              <a:latin typeface="Abadi" panose="020B0604020104020204" pitchFamily="34" charset="0"/>
            </a:endParaRPr>
          </a:p>
        </p:txBody>
      </p:sp>
      <p:sp>
        <p:nvSpPr>
          <p:cNvPr id="20" name="Text 18"/>
          <p:cNvSpPr/>
          <p:nvPr/>
        </p:nvSpPr>
        <p:spPr>
          <a:xfrm>
            <a:off x="10035660" y="3092887"/>
            <a:ext cx="7518714" cy="811530"/>
          </a:xfrm>
          <a:prstGeom prst="rect">
            <a:avLst/>
          </a:prstGeom>
          <a:noFill/>
          <a:ln/>
        </p:spPr>
        <p:txBody>
          <a:bodyPr wrap="square" lIns="25400" tIns="25400" rIns="25400" bIns="25400" rtlCol="0" anchor="t">
            <a:normAutofit/>
          </a:bodyPr>
          <a:lstStyle/>
          <a:p>
            <a:pPr marL="0" indent="0" algn="l">
              <a:lnSpc>
                <a:spcPct val="120833"/>
              </a:lnSpc>
              <a:buNone/>
            </a:pPr>
            <a:r>
              <a:rPr lang="en-US" sz="2100" dirty="0">
                <a:solidFill>
                  <a:schemeClr val="bg1"/>
                </a:solidFill>
                <a:latin typeface="Abadi" panose="020B0604020104020204" pitchFamily="34" charset="0"/>
                <a:ea typeface="Lato" pitchFamily="34" charset="-122"/>
                <a:cs typeface="Lato" pitchFamily="34" charset="-120"/>
              </a:rPr>
              <a:t>Tool calls, LLM traces, quality evaluations, policy events, incidents and cloud / AI cost.</a:t>
            </a:r>
            <a:endParaRPr lang="en-US" sz="2100" dirty="0">
              <a:solidFill>
                <a:schemeClr val="bg1"/>
              </a:solidFill>
              <a:latin typeface="Abadi" panose="020B0604020104020204" pitchFamily="34" charset="0"/>
            </a:endParaRPr>
          </a:p>
        </p:txBody>
      </p:sp>
      <p:sp>
        <p:nvSpPr>
          <p:cNvPr id="21" name="Shape 19"/>
          <p:cNvSpPr/>
          <p:nvPr/>
        </p:nvSpPr>
        <p:spPr>
          <a:xfrm>
            <a:off x="10035660" y="4133017"/>
            <a:ext cx="38100" cy="1232535"/>
          </a:xfrm>
          <a:prstGeom prst="rect">
            <a:avLst/>
          </a:prstGeom>
          <a:solidFill>
            <a:srgbClr val="D3A518"/>
          </a:solidFill>
          <a:ln/>
        </p:spPr>
        <p:txBody>
          <a:bodyPr/>
          <a:lstStyle/>
          <a:p>
            <a:endParaRPr lang="en-IN" dirty="0">
              <a:latin typeface="Abadi" panose="020B0604020104020204" pitchFamily="34" charset="0"/>
            </a:endParaRPr>
          </a:p>
        </p:txBody>
      </p:sp>
      <p:sp>
        <p:nvSpPr>
          <p:cNvPr id="22" name="Text 20"/>
          <p:cNvSpPr/>
          <p:nvPr/>
        </p:nvSpPr>
        <p:spPr>
          <a:xfrm>
            <a:off x="10321410" y="4133017"/>
            <a:ext cx="7715369" cy="398145"/>
          </a:xfrm>
          <a:prstGeom prst="rect">
            <a:avLst/>
          </a:prstGeom>
          <a:noFill/>
          <a:ln/>
        </p:spPr>
        <p:txBody>
          <a:bodyPr wrap="square" lIns="25400" tIns="25400" rIns="25400" bIns="25400" rtlCol="0" anchor="t">
            <a:normAutofit/>
          </a:bodyPr>
          <a:lstStyle/>
          <a:p>
            <a:pPr marL="0" indent="0" algn="l">
              <a:lnSpc>
                <a:spcPct val="112500"/>
              </a:lnSpc>
              <a:buNone/>
            </a:pPr>
            <a:r>
              <a:rPr lang="en-US" sz="2100" dirty="0">
                <a:solidFill>
                  <a:schemeClr val="bg1">
                    <a:lumMod val="95000"/>
                  </a:schemeClr>
                </a:solidFill>
                <a:latin typeface="Abadi" panose="020B0604020104020204" pitchFamily="34" charset="0"/>
                <a:ea typeface="Lato" pitchFamily="34" charset="-122"/>
                <a:cs typeface="Lato" pitchFamily="34" charset="-120"/>
              </a:rPr>
              <a:t>This is not yet another observability stack.</a:t>
            </a:r>
            <a:endParaRPr lang="en-US" sz="2100" dirty="0">
              <a:solidFill>
                <a:schemeClr val="bg1">
                  <a:lumMod val="95000"/>
                </a:schemeClr>
              </a:solidFill>
              <a:latin typeface="Abadi" panose="020B0604020104020204" pitchFamily="34" charset="0"/>
            </a:endParaRPr>
          </a:p>
        </p:txBody>
      </p:sp>
      <p:sp>
        <p:nvSpPr>
          <p:cNvPr id="23" name="Text 21"/>
          <p:cNvSpPr/>
          <p:nvPr/>
        </p:nvSpPr>
        <p:spPr>
          <a:xfrm>
            <a:off x="10321410" y="4645462"/>
            <a:ext cx="7224391" cy="758190"/>
          </a:xfrm>
          <a:prstGeom prst="rect">
            <a:avLst/>
          </a:prstGeom>
          <a:noFill/>
          <a:ln/>
        </p:spPr>
        <p:txBody>
          <a:bodyPr wrap="square" lIns="25400" tIns="25400" rIns="25400" bIns="25400" rtlCol="0" anchor="t">
            <a:normAutofit/>
          </a:bodyPr>
          <a:lstStyle/>
          <a:p>
            <a:pPr marL="0" indent="0" algn="l">
              <a:lnSpc>
                <a:spcPct val="112500"/>
              </a:lnSpc>
              <a:buNone/>
            </a:pPr>
            <a:r>
              <a:rPr lang="en-US" sz="2100" b="1" dirty="0">
                <a:solidFill>
                  <a:schemeClr val="bg1">
                    <a:lumMod val="95000"/>
                  </a:schemeClr>
                </a:solidFill>
                <a:latin typeface="Abadi" panose="020B0604020104020204" pitchFamily="34" charset="0"/>
                <a:ea typeface="Lato" pitchFamily="34" charset="-122"/>
                <a:cs typeface="Lato" pitchFamily="34" charset="-120"/>
              </a:rPr>
              <a:t>Iti is an interpretation layer for the evidence enterprises already generate.</a:t>
            </a:r>
            <a:endParaRPr lang="en-US" sz="2100" dirty="0">
              <a:solidFill>
                <a:schemeClr val="bg1">
                  <a:lumMod val="95000"/>
                </a:schemeClr>
              </a:solidFill>
              <a:latin typeface="Abadi" panose="020B0604020104020204" pitchFamily="34" charset="0"/>
            </a:endParaRPr>
          </a:p>
        </p:txBody>
      </p:sp>
      <p:sp>
        <p:nvSpPr>
          <p:cNvPr id="24" name="Text 22"/>
          <p:cNvSpPr/>
          <p:nvPr/>
        </p:nvSpPr>
        <p:spPr>
          <a:xfrm>
            <a:off x="10035660" y="5632252"/>
            <a:ext cx="7518714" cy="701040"/>
          </a:xfrm>
          <a:prstGeom prst="rect">
            <a:avLst/>
          </a:prstGeom>
          <a:noFill/>
          <a:ln/>
        </p:spPr>
        <p:txBody>
          <a:bodyPr wrap="square" lIns="25400" tIns="25400" rIns="25400" bIns="25400" rtlCol="0" anchor="t">
            <a:normAutofit/>
          </a:bodyPr>
          <a:lstStyle/>
          <a:p>
            <a:pPr marL="0" indent="0" algn="l">
              <a:lnSpc>
                <a:spcPct val="120833"/>
              </a:lnSpc>
              <a:buNone/>
            </a:pPr>
            <a:r>
              <a:rPr lang="en-US" sz="1800" dirty="0">
                <a:solidFill>
                  <a:schemeClr val="bg1">
                    <a:lumMod val="95000"/>
                  </a:schemeClr>
                </a:solidFill>
                <a:latin typeface="Abadi" panose="020B0604020104020204" pitchFamily="34" charset="0"/>
                <a:ea typeface="Lato" pitchFamily="34" charset="-122"/>
                <a:cs typeface="Lato" pitchFamily="34" charset="-120"/>
              </a:rPr>
              <a:t>Designed to work with existing observability, validation, security, governance and cost tooling rather than replacing it.</a:t>
            </a:r>
            <a:endParaRPr lang="en-US" sz="1800" dirty="0">
              <a:solidFill>
                <a:schemeClr val="bg1">
                  <a:lumMod val="95000"/>
                </a:schemeClr>
              </a:solidFill>
              <a:latin typeface="Abadi" panose="020B0604020104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dirty="0">
              <a:latin typeface="Abadi" panose="020B0604020104020204" pitchFamily="34" charset="0"/>
            </a:endParaRPr>
          </a:p>
        </p:txBody>
      </p:sp>
      <p:sp>
        <p:nvSpPr>
          <p:cNvPr id="40" name="Title"/>
          <p:cNvSpPr/>
          <p:nvPr/>
        </p:nvSpPr>
        <p:spPr>
          <a:xfrm>
            <a:off x="952500" y="1549400"/>
            <a:ext cx="16383000" cy="787400"/>
          </a:xfrm>
          <a:prstGeom prst="rect">
            <a:avLst/>
          </a:prstGeom>
          <a:noFill/>
          <a:ln>
            <a:noFill/>
          </a:ln>
        </p:spPr>
        <p:txBody>
          <a:bodyPr wrap="square" lIns="25400" tIns="25400" rIns="25400" bIns="25400" rtlCol="0" anchor="t">
            <a:noAutofit/>
          </a:bodyPr>
          <a:lstStyle/>
          <a:p>
            <a:pPr marL="0" indent="0" algn="l">
              <a:lnSpc>
                <a:spcPct val="90000"/>
              </a:lnSpc>
              <a:buNone/>
            </a:pPr>
            <a:r>
              <a:rPr lang="en-US" sz="4800" b="1" spc="-72" dirty="0">
                <a:solidFill>
                  <a:srgbClr val="FFFFFF"/>
                </a:solidFill>
                <a:latin typeface="Abadi" panose="020B0604020104020204" pitchFamily="34" charset="0"/>
              </a:rPr>
              <a:t>Every agent becomes accountable to a contract.</a:t>
            </a:r>
          </a:p>
        </p:txBody>
      </p:sp>
      <p:sp>
        <p:nvSpPr>
          <p:cNvPr id="41" name="Subtitle"/>
          <p:cNvSpPr/>
          <p:nvPr/>
        </p:nvSpPr>
        <p:spPr>
          <a:xfrm>
            <a:off x="952500" y="2413000"/>
            <a:ext cx="16383000" cy="431800"/>
          </a:xfrm>
          <a:prstGeom prst="rect">
            <a:avLst/>
          </a:prstGeom>
          <a:noFill/>
          <a:ln>
            <a:noFill/>
          </a:ln>
        </p:spPr>
        <p:txBody>
          <a:bodyPr wrap="square" lIns="25400" tIns="25400" rIns="25400" bIns="25400" rtlCol="0" anchor="t">
            <a:noAutofit/>
          </a:bodyPr>
          <a:lstStyle/>
          <a:p>
            <a:pPr marL="0" indent="0" algn="l">
              <a:lnSpc>
                <a:spcPct val="100000"/>
              </a:lnSpc>
              <a:buNone/>
            </a:pPr>
            <a:r>
              <a:rPr lang="en-US" sz="2100" dirty="0">
                <a:solidFill>
                  <a:srgbClr val="F2F2F2"/>
                </a:solidFill>
                <a:latin typeface="Abadi" panose="020B0604020104020204" pitchFamily="34" charset="0"/>
              </a:rPr>
              <a:t>The business sets the terms, the scoring layer holds each agent to them, and leaders act on evidence instead of incidents.</a:t>
            </a:r>
          </a:p>
        </p:txBody>
      </p:sp>
      <p:sp>
        <p:nvSpPr>
          <p:cNvPr id="42" name="Header Today"/>
          <p:cNvSpPr/>
          <p:nvPr/>
        </p:nvSpPr>
        <p:spPr>
          <a:xfrm>
            <a:off x="952500" y="3276600"/>
            <a:ext cx="5207000" cy="330200"/>
          </a:xfrm>
          <a:prstGeom prst="rect">
            <a:avLst/>
          </a:prstGeom>
          <a:noFill/>
          <a:ln>
            <a:noFill/>
          </a:ln>
        </p:spPr>
        <p:txBody>
          <a:bodyPr wrap="square" lIns="25400" tIns="25400" rIns="25400" bIns="25400" rtlCol="0" anchor="t">
            <a:noAutofit/>
          </a:bodyPr>
          <a:lstStyle/>
          <a:p>
            <a:pPr marL="0" indent="0" algn="l">
              <a:lnSpc>
                <a:spcPct val="100000"/>
              </a:lnSpc>
              <a:buNone/>
            </a:pPr>
            <a:r>
              <a:rPr lang="en-US" sz="1600" b="1" spc="180" dirty="0">
                <a:solidFill>
                  <a:srgbClr val="B8BCCB"/>
                </a:solidFill>
                <a:latin typeface="Abadi" panose="020B0604020104020204" pitchFamily="34" charset="0"/>
              </a:rPr>
              <a:t>TODAY</a:t>
            </a:r>
          </a:p>
        </p:txBody>
      </p:sp>
      <p:sp>
        <p:nvSpPr>
          <p:cNvPr id="43" name="Header Mechanism"/>
          <p:cNvSpPr/>
          <p:nvPr/>
        </p:nvSpPr>
        <p:spPr>
          <a:xfrm>
            <a:off x="6794500" y="3276600"/>
            <a:ext cx="4699000" cy="330200"/>
          </a:xfrm>
          <a:prstGeom prst="rect">
            <a:avLst/>
          </a:prstGeom>
          <a:noFill/>
          <a:ln>
            <a:noFill/>
          </a:ln>
        </p:spPr>
        <p:txBody>
          <a:bodyPr wrap="square" lIns="25400" tIns="25400" rIns="25400" bIns="25400" rtlCol="0" anchor="t">
            <a:noAutofit/>
          </a:bodyPr>
          <a:lstStyle/>
          <a:p>
            <a:pPr marL="0" indent="0" algn="ctr">
              <a:lnSpc>
                <a:spcPct val="100000"/>
              </a:lnSpc>
              <a:buNone/>
            </a:pPr>
            <a:r>
              <a:rPr lang="en-US" sz="1600" b="1" spc="180" dirty="0">
                <a:solidFill>
                  <a:srgbClr val="D3A518"/>
                </a:solidFill>
                <a:latin typeface="Abadi" panose="020B0604020104020204" pitchFamily="34" charset="0"/>
              </a:rPr>
              <a:t>THE MECHANISM</a:t>
            </a:r>
          </a:p>
        </p:txBody>
      </p:sp>
      <p:sp>
        <p:nvSpPr>
          <p:cNvPr id="44" name="Header Future"/>
          <p:cNvSpPr/>
          <p:nvPr/>
        </p:nvSpPr>
        <p:spPr>
          <a:xfrm>
            <a:off x="12128500" y="3276600"/>
            <a:ext cx="5207000" cy="330200"/>
          </a:xfrm>
          <a:prstGeom prst="rect">
            <a:avLst/>
          </a:prstGeom>
          <a:noFill/>
          <a:ln>
            <a:noFill/>
          </a:ln>
        </p:spPr>
        <p:txBody>
          <a:bodyPr wrap="square" lIns="25400" tIns="25400" rIns="25400" bIns="25400" rtlCol="0" anchor="t">
            <a:noAutofit/>
          </a:bodyPr>
          <a:lstStyle/>
          <a:p>
            <a:pPr marL="0" indent="0" algn="l">
              <a:lnSpc>
                <a:spcPct val="100000"/>
              </a:lnSpc>
              <a:buNone/>
            </a:pPr>
            <a:r>
              <a:rPr lang="en-US" sz="1600" b="1" spc="180" dirty="0">
                <a:solidFill>
                  <a:srgbClr val="D3A518"/>
                </a:solidFill>
                <a:latin typeface="Abadi" panose="020B0604020104020204" pitchFamily="34" charset="0"/>
              </a:rPr>
              <a:t>WITH THE CONTRACT</a:t>
            </a:r>
          </a:p>
        </p:txBody>
      </p:sp>
      <p:sp>
        <p:nvSpPr>
          <p:cNvPr id="45" name="Today 1"/>
          <p:cNvSpPr/>
          <p:nvPr/>
        </p:nvSpPr>
        <p:spPr>
          <a:xfrm>
            <a:off x="952500" y="3759200"/>
            <a:ext cx="5207000" cy="1270000"/>
          </a:xfrm>
          <a:prstGeom prst="roundRect">
            <a:avLst>
              <a:gd name="adj" fmla="val 5000"/>
            </a:avLst>
          </a:prstGeom>
          <a:solidFill>
            <a:srgbClr val="2F3448"/>
          </a:solidFill>
          <a:ln>
            <a:noFill/>
          </a:ln>
        </p:spPr>
        <p:txBody>
          <a:bodyPr wrap="square" lIns="279400" tIns="177800" rIns="279400" bIns="177800" rtlCol="0" anchor="ctr">
            <a:noAutofit/>
          </a:bodyPr>
          <a:lstStyle/>
          <a:p>
            <a:pPr marL="0" indent="0" algn="l">
              <a:lnSpc>
                <a:spcPct val="100000"/>
              </a:lnSpc>
              <a:buNone/>
            </a:pPr>
            <a:r>
              <a:rPr lang="en-US" sz="1400" b="1" spc="150" dirty="0">
                <a:solidFill>
                  <a:srgbClr val="B8BCCB"/>
                </a:solidFill>
                <a:latin typeface="Abadi" panose="020B0604020104020204" pitchFamily="34" charset="0"/>
              </a:rPr>
              <a:t>AUTONOMY</a:t>
            </a:r>
          </a:p>
          <a:p>
            <a:pPr marL="0" indent="0" algn="l">
              <a:lnSpc>
                <a:spcPct val="100000"/>
              </a:lnSpc>
              <a:spcBef>
                <a:spcPts val="400"/>
              </a:spcBef>
              <a:buNone/>
            </a:pPr>
            <a:r>
              <a:rPr lang="en-US" sz="2100" b="1" dirty="0">
                <a:solidFill>
                  <a:srgbClr val="E4E6EE"/>
                </a:solidFill>
                <a:latin typeface="Abadi" panose="020B0604020104020204" pitchFamily="34" charset="0"/>
              </a:rPr>
              <a:t>Granted at deployment</a:t>
            </a:r>
          </a:p>
        </p:txBody>
      </p:sp>
      <p:sp>
        <p:nvSpPr>
          <p:cNvPr id="46" name="Future 1"/>
          <p:cNvSpPr/>
          <p:nvPr/>
        </p:nvSpPr>
        <p:spPr>
          <a:xfrm>
            <a:off x="12128500" y="3759200"/>
            <a:ext cx="5207000" cy="1270000"/>
          </a:xfrm>
          <a:prstGeom prst="roundRect">
            <a:avLst>
              <a:gd name="adj" fmla="val 5000"/>
            </a:avLst>
          </a:prstGeom>
          <a:solidFill>
            <a:srgbClr val="FFFFFF"/>
          </a:solidFill>
          <a:ln>
            <a:noFill/>
          </a:ln>
          <a:effectLst>
            <a:outerShdw blurRad="114300" dist="19050" dir="5400000" algn="bl" rotWithShape="0">
              <a:srgbClr val="00051E">
                <a:alpha val="10000"/>
              </a:srgbClr>
            </a:outerShdw>
          </a:effectLst>
        </p:spPr>
        <p:txBody>
          <a:bodyPr wrap="square" lIns="279400" tIns="177800" rIns="279400" bIns="177800" rtlCol="0" anchor="ctr">
            <a:noAutofit/>
          </a:bodyPr>
          <a:lstStyle/>
          <a:p>
            <a:pPr marL="0" indent="0" algn="l">
              <a:lnSpc>
                <a:spcPct val="100000"/>
              </a:lnSpc>
              <a:buNone/>
            </a:pPr>
            <a:r>
              <a:rPr lang="en-US" sz="1400" b="1" spc="150" dirty="0">
                <a:solidFill>
                  <a:srgbClr val="D3A518"/>
                </a:solidFill>
                <a:latin typeface="Abadi" panose="020B0604020104020204" pitchFamily="34" charset="0"/>
              </a:rPr>
              <a:t>AUTONOMY</a:t>
            </a:r>
          </a:p>
          <a:p>
            <a:pPr marL="0" indent="0" algn="l">
              <a:lnSpc>
                <a:spcPct val="100000"/>
              </a:lnSpc>
              <a:spcBef>
                <a:spcPts val="400"/>
              </a:spcBef>
              <a:buNone/>
            </a:pPr>
            <a:r>
              <a:rPr lang="en-US" sz="2100" b="1" dirty="0">
                <a:solidFill>
                  <a:srgbClr val="00051E"/>
                </a:solidFill>
                <a:latin typeface="Abadi" panose="020B0604020104020204" pitchFamily="34" charset="0"/>
              </a:rPr>
              <a:t>Earned against the contract</a:t>
            </a:r>
          </a:p>
        </p:txBody>
      </p:sp>
      <p:sp>
        <p:nvSpPr>
          <p:cNvPr id="47" name="Today 2"/>
          <p:cNvSpPr/>
          <p:nvPr/>
        </p:nvSpPr>
        <p:spPr>
          <a:xfrm>
            <a:off x="952500" y="5207000"/>
            <a:ext cx="5207000" cy="1270000"/>
          </a:xfrm>
          <a:prstGeom prst="roundRect">
            <a:avLst>
              <a:gd name="adj" fmla="val 5000"/>
            </a:avLst>
          </a:prstGeom>
          <a:solidFill>
            <a:srgbClr val="2F3448"/>
          </a:solidFill>
          <a:ln>
            <a:noFill/>
          </a:ln>
        </p:spPr>
        <p:txBody>
          <a:bodyPr wrap="square" lIns="279400" tIns="177800" rIns="279400" bIns="177800" rtlCol="0" anchor="ctr">
            <a:noAutofit/>
          </a:bodyPr>
          <a:lstStyle/>
          <a:p>
            <a:pPr marL="0" indent="0" algn="l">
              <a:lnSpc>
                <a:spcPct val="100000"/>
              </a:lnSpc>
              <a:buNone/>
            </a:pPr>
            <a:r>
              <a:rPr lang="en-US" sz="1400" b="1" spc="150" dirty="0">
                <a:solidFill>
                  <a:srgbClr val="B8BCCB"/>
                </a:solidFill>
                <a:latin typeface="Abadi" panose="020B0604020104020204" pitchFamily="34" charset="0"/>
              </a:rPr>
              <a:t>COST</a:t>
            </a:r>
          </a:p>
          <a:p>
            <a:pPr marL="0" indent="0" algn="l">
              <a:lnSpc>
                <a:spcPct val="100000"/>
              </a:lnSpc>
              <a:spcBef>
                <a:spcPts val="400"/>
              </a:spcBef>
              <a:buNone/>
            </a:pPr>
            <a:r>
              <a:rPr lang="en-US" sz="2100" b="1" dirty="0">
                <a:solidFill>
                  <a:srgbClr val="E4E6EE"/>
                </a:solidFill>
                <a:latin typeface="Abadi" panose="020B0604020104020204" pitchFamily="34" charset="0"/>
              </a:rPr>
              <a:t>Discovered on the invoice</a:t>
            </a:r>
          </a:p>
        </p:txBody>
      </p:sp>
      <p:sp>
        <p:nvSpPr>
          <p:cNvPr id="48" name="Future 2"/>
          <p:cNvSpPr/>
          <p:nvPr/>
        </p:nvSpPr>
        <p:spPr>
          <a:xfrm>
            <a:off x="12128500" y="5207000"/>
            <a:ext cx="5207000" cy="1270000"/>
          </a:xfrm>
          <a:prstGeom prst="roundRect">
            <a:avLst>
              <a:gd name="adj" fmla="val 5000"/>
            </a:avLst>
          </a:prstGeom>
          <a:solidFill>
            <a:srgbClr val="FFFFFF"/>
          </a:solidFill>
          <a:ln>
            <a:noFill/>
          </a:ln>
          <a:effectLst>
            <a:outerShdw blurRad="114300" dist="19050" dir="5400000" algn="bl" rotWithShape="0">
              <a:srgbClr val="00051E">
                <a:alpha val="10000"/>
              </a:srgbClr>
            </a:outerShdw>
          </a:effectLst>
        </p:spPr>
        <p:txBody>
          <a:bodyPr wrap="square" lIns="279400" tIns="177800" rIns="279400" bIns="177800" rtlCol="0" anchor="ctr">
            <a:noAutofit/>
          </a:bodyPr>
          <a:lstStyle/>
          <a:p>
            <a:pPr marL="0" indent="0" algn="l">
              <a:lnSpc>
                <a:spcPct val="100000"/>
              </a:lnSpc>
              <a:buNone/>
            </a:pPr>
            <a:r>
              <a:rPr lang="en-US" sz="1400" b="1" spc="150" dirty="0">
                <a:solidFill>
                  <a:srgbClr val="D3A518"/>
                </a:solidFill>
                <a:latin typeface="Abadi" panose="020B0604020104020204" pitchFamily="34" charset="0"/>
              </a:rPr>
              <a:t>COST</a:t>
            </a:r>
          </a:p>
          <a:p>
            <a:pPr marL="0" indent="0" algn="l">
              <a:lnSpc>
                <a:spcPct val="100000"/>
              </a:lnSpc>
              <a:spcBef>
                <a:spcPts val="400"/>
              </a:spcBef>
              <a:buNone/>
            </a:pPr>
            <a:r>
              <a:rPr lang="en-US" sz="2100" b="1" dirty="0">
                <a:solidFill>
                  <a:srgbClr val="00051E"/>
                </a:solidFill>
                <a:latin typeface="Abadi" panose="020B0604020104020204" pitchFamily="34" charset="0"/>
              </a:rPr>
              <a:t>Budgeted per outcome</a:t>
            </a:r>
          </a:p>
        </p:txBody>
      </p:sp>
      <p:sp>
        <p:nvSpPr>
          <p:cNvPr id="49" name="Today 3"/>
          <p:cNvSpPr/>
          <p:nvPr/>
        </p:nvSpPr>
        <p:spPr>
          <a:xfrm>
            <a:off x="952500" y="6654800"/>
            <a:ext cx="5207000" cy="1270000"/>
          </a:xfrm>
          <a:prstGeom prst="roundRect">
            <a:avLst>
              <a:gd name="adj" fmla="val 5000"/>
            </a:avLst>
          </a:prstGeom>
          <a:solidFill>
            <a:srgbClr val="2F3448"/>
          </a:solidFill>
          <a:ln>
            <a:noFill/>
          </a:ln>
        </p:spPr>
        <p:txBody>
          <a:bodyPr wrap="square" lIns="279400" tIns="177800" rIns="279400" bIns="177800" rtlCol="0" anchor="ctr">
            <a:noAutofit/>
          </a:bodyPr>
          <a:lstStyle/>
          <a:p>
            <a:pPr marL="0" indent="0" algn="l">
              <a:lnSpc>
                <a:spcPct val="100000"/>
              </a:lnSpc>
              <a:buNone/>
            </a:pPr>
            <a:r>
              <a:rPr lang="en-US" sz="1400" b="1" spc="150" dirty="0">
                <a:solidFill>
                  <a:srgbClr val="B8BCCB"/>
                </a:solidFill>
                <a:latin typeface="Abadi" panose="020B0604020104020204" pitchFamily="34" charset="0"/>
              </a:rPr>
              <a:t>RISK</a:t>
            </a:r>
          </a:p>
          <a:p>
            <a:pPr marL="0" indent="0" algn="l">
              <a:lnSpc>
                <a:spcPct val="100000"/>
              </a:lnSpc>
              <a:spcBef>
                <a:spcPts val="400"/>
              </a:spcBef>
              <a:buNone/>
            </a:pPr>
            <a:r>
              <a:rPr lang="en-US" sz="2100" b="1" dirty="0">
                <a:solidFill>
                  <a:srgbClr val="E4E6EE"/>
                </a:solidFill>
                <a:latin typeface="Abadi" panose="020B0604020104020204" pitchFamily="34" charset="0"/>
              </a:rPr>
              <a:t>Found after the incident</a:t>
            </a:r>
          </a:p>
        </p:txBody>
      </p:sp>
      <p:sp>
        <p:nvSpPr>
          <p:cNvPr id="50" name="Future 3"/>
          <p:cNvSpPr/>
          <p:nvPr/>
        </p:nvSpPr>
        <p:spPr>
          <a:xfrm>
            <a:off x="12128500" y="6654800"/>
            <a:ext cx="5207000" cy="1270000"/>
          </a:xfrm>
          <a:prstGeom prst="roundRect">
            <a:avLst>
              <a:gd name="adj" fmla="val 5000"/>
            </a:avLst>
          </a:prstGeom>
          <a:solidFill>
            <a:srgbClr val="FFFFFF"/>
          </a:solidFill>
          <a:ln>
            <a:noFill/>
          </a:ln>
          <a:effectLst>
            <a:outerShdw blurRad="114300" dist="19050" dir="5400000" algn="bl" rotWithShape="0">
              <a:srgbClr val="00051E">
                <a:alpha val="10000"/>
              </a:srgbClr>
            </a:outerShdw>
          </a:effectLst>
        </p:spPr>
        <p:txBody>
          <a:bodyPr wrap="square" lIns="279400" tIns="177800" rIns="279400" bIns="177800" rtlCol="0" anchor="ctr">
            <a:noAutofit/>
          </a:bodyPr>
          <a:lstStyle/>
          <a:p>
            <a:pPr marL="0" indent="0" algn="l">
              <a:lnSpc>
                <a:spcPct val="100000"/>
              </a:lnSpc>
              <a:buNone/>
            </a:pPr>
            <a:r>
              <a:rPr lang="en-US" sz="1400" b="1" spc="150" dirty="0">
                <a:solidFill>
                  <a:srgbClr val="D3A518"/>
                </a:solidFill>
                <a:latin typeface="Abadi" panose="020B0604020104020204" pitchFamily="34" charset="0"/>
              </a:rPr>
              <a:t>RISK</a:t>
            </a:r>
          </a:p>
          <a:p>
            <a:pPr marL="0" indent="0" algn="l">
              <a:lnSpc>
                <a:spcPct val="100000"/>
              </a:lnSpc>
              <a:spcBef>
                <a:spcPts val="400"/>
              </a:spcBef>
              <a:buNone/>
            </a:pPr>
            <a:r>
              <a:rPr lang="en-US" sz="2100" b="1" dirty="0">
                <a:solidFill>
                  <a:srgbClr val="00051E"/>
                </a:solidFill>
                <a:latin typeface="Abadi" panose="020B0604020104020204" pitchFamily="34" charset="0"/>
              </a:rPr>
              <a:t>Visible before failure</a:t>
            </a:r>
          </a:p>
        </p:txBody>
      </p:sp>
      <p:sp>
        <p:nvSpPr>
          <p:cNvPr id="51" name="Today 4"/>
          <p:cNvSpPr/>
          <p:nvPr/>
        </p:nvSpPr>
        <p:spPr>
          <a:xfrm>
            <a:off x="952500" y="8102600"/>
            <a:ext cx="5207000" cy="1270000"/>
          </a:xfrm>
          <a:prstGeom prst="roundRect">
            <a:avLst>
              <a:gd name="adj" fmla="val 5000"/>
            </a:avLst>
          </a:prstGeom>
          <a:solidFill>
            <a:srgbClr val="2F3448"/>
          </a:solidFill>
          <a:ln>
            <a:noFill/>
          </a:ln>
        </p:spPr>
        <p:txBody>
          <a:bodyPr wrap="square" lIns="279400" tIns="177800" rIns="279400" bIns="177800" rtlCol="0" anchor="ctr">
            <a:noAutofit/>
          </a:bodyPr>
          <a:lstStyle/>
          <a:p>
            <a:pPr marL="0" indent="0" algn="l">
              <a:lnSpc>
                <a:spcPct val="100000"/>
              </a:lnSpc>
              <a:buNone/>
            </a:pPr>
            <a:r>
              <a:rPr lang="en-US" sz="1400" b="1" spc="150" dirty="0">
                <a:solidFill>
                  <a:srgbClr val="B8BCCB"/>
                </a:solidFill>
                <a:latin typeface="Abadi" panose="020B0604020104020204" pitchFamily="34" charset="0"/>
              </a:rPr>
              <a:t>ACCOUNTABILITY</a:t>
            </a:r>
          </a:p>
          <a:p>
            <a:pPr marL="0" indent="0" algn="l">
              <a:lnSpc>
                <a:spcPct val="100000"/>
              </a:lnSpc>
              <a:spcBef>
                <a:spcPts val="400"/>
              </a:spcBef>
              <a:buNone/>
            </a:pPr>
            <a:r>
              <a:rPr lang="en-US" sz="2100" b="1" dirty="0">
                <a:solidFill>
                  <a:srgbClr val="E4E6EE"/>
                </a:solidFill>
                <a:latin typeface="Abadi" panose="020B0604020104020204" pitchFamily="34" charset="0"/>
              </a:rPr>
              <a:t>Split across teams</a:t>
            </a:r>
          </a:p>
        </p:txBody>
      </p:sp>
      <p:sp>
        <p:nvSpPr>
          <p:cNvPr id="52" name="Future 4"/>
          <p:cNvSpPr/>
          <p:nvPr/>
        </p:nvSpPr>
        <p:spPr>
          <a:xfrm>
            <a:off x="12128500" y="8102600"/>
            <a:ext cx="5207000" cy="1270000"/>
          </a:xfrm>
          <a:prstGeom prst="roundRect">
            <a:avLst>
              <a:gd name="adj" fmla="val 5000"/>
            </a:avLst>
          </a:prstGeom>
          <a:solidFill>
            <a:srgbClr val="FFFFFF"/>
          </a:solidFill>
          <a:ln>
            <a:noFill/>
          </a:ln>
          <a:effectLst>
            <a:outerShdw blurRad="114300" dist="19050" dir="5400000" algn="bl" rotWithShape="0">
              <a:srgbClr val="00051E">
                <a:alpha val="10000"/>
              </a:srgbClr>
            </a:outerShdw>
          </a:effectLst>
        </p:spPr>
        <p:txBody>
          <a:bodyPr wrap="square" lIns="279400" tIns="177800" rIns="279400" bIns="177800" rtlCol="0" anchor="ctr">
            <a:noAutofit/>
          </a:bodyPr>
          <a:lstStyle/>
          <a:p>
            <a:pPr marL="0" indent="0" algn="l">
              <a:lnSpc>
                <a:spcPct val="100000"/>
              </a:lnSpc>
              <a:buNone/>
            </a:pPr>
            <a:r>
              <a:rPr lang="en-US" sz="1400" b="1" spc="150" dirty="0">
                <a:solidFill>
                  <a:srgbClr val="D3A518"/>
                </a:solidFill>
                <a:latin typeface="Abadi" panose="020B0604020104020204" pitchFamily="34" charset="0"/>
              </a:rPr>
              <a:t>ACCOUNTABILITY</a:t>
            </a:r>
          </a:p>
          <a:p>
            <a:pPr marL="0" indent="0" algn="l">
              <a:lnSpc>
                <a:spcPct val="100000"/>
              </a:lnSpc>
              <a:spcBef>
                <a:spcPts val="400"/>
              </a:spcBef>
              <a:buNone/>
            </a:pPr>
            <a:r>
              <a:rPr lang="en-US" sz="2100" b="1" dirty="0">
                <a:solidFill>
                  <a:srgbClr val="00051E"/>
                </a:solidFill>
                <a:latin typeface="Abadi" panose="020B0604020104020204" pitchFamily="34" charset="0"/>
              </a:rPr>
              <a:t>One shared score</a:t>
            </a:r>
          </a:p>
        </p:txBody>
      </p:sp>
      <p:sp>
        <p:nvSpPr>
          <p:cNvPr id="53" name="Mech Contract"/>
          <p:cNvSpPr/>
          <p:nvPr/>
        </p:nvSpPr>
        <p:spPr>
          <a:xfrm>
            <a:off x="6794500" y="3759200"/>
            <a:ext cx="4699000" cy="1574800"/>
          </a:xfrm>
          <a:prstGeom prst="roundRect">
            <a:avLst>
              <a:gd name="adj" fmla="val 5000"/>
            </a:avLst>
          </a:prstGeom>
          <a:solidFill>
            <a:srgbClr val="FFFFFF"/>
          </a:solidFill>
          <a:ln>
            <a:noFill/>
          </a:ln>
          <a:effectLst>
            <a:outerShdw blurRad="114300" dist="19050" dir="5400000" algn="bl" rotWithShape="0">
              <a:srgbClr val="00051E">
                <a:alpha val="10000"/>
              </a:srgbClr>
            </a:outerShdw>
          </a:effectLst>
        </p:spPr>
        <p:txBody>
          <a:bodyPr wrap="square" lIns="228600" tIns="152400" rIns="228600" bIns="152400" rtlCol="0" anchor="ctr">
            <a:noAutofit/>
          </a:bodyPr>
          <a:lstStyle/>
          <a:p>
            <a:pPr marL="0" indent="0" algn="ctr">
              <a:lnSpc>
                <a:spcPct val="100000"/>
              </a:lnSpc>
              <a:buNone/>
            </a:pPr>
            <a:r>
              <a:rPr lang="en-US" sz="1400" b="1" spc="150" dirty="0">
                <a:solidFill>
                  <a:srgbClr val="D3A518"/>
                </a:solidFill>
                <a:latin typeface="Abadi" panose="020B0604020104020204" pitchFamily="34" charset="0"/>
              </a:rPr>
              <a:t>PERFORMANCE CONTRACT</a:t>
            </a:r>
          </a:p>
          <a:p>
            <a:pPr marL="0" indent="0" algn="ctr">
              <a:lnSpc>
                <a:spcPct val="100000"/>
              </a:lnSpc>
              <a:spcBef>
                <a:spcPts val="400"/>
              </a:spcBef>
              <a:buNone/>
            </a:pPr>
            <a:r>
              <a:rPr lang="en-US" sz="2000" b="1" dirty="0">
                <a:solidFill>
                  <a:srgbClr val="00051E"/>
                </a:solidFill>
                <a:latin typeface="Abadi" panose="020B0604020104020204" pitchFamily="34" charset="0"/>
              </a:rPr>
              <a:t>Business sets the terms</a:t>
            </a:r>
          </a:p>
          <a:p>
            <a:pPr marL="0" indent="0" algn="ctr">
              <a:lnSpc>
                <a:spcPct val="100000"/>
              </a:lnSpc>
              <a:spcBef>
                <a:spcPts val="400"/>
              </a:spcBef>
              <a:buNone/>
            </a:pPr>
            <a:r>
              <a:rPr lang="en-US" sz="1500" dirty="0">
                <a:solidFill>
                  <a:srgbClr val="4A4E63"/>
                </a:solidFill>
                <a:latin typeface="Abadi" panose="020B0604020104020204" pitchFamily="34" charset="0"/>
              </a:rPr>
              <a:t>Outcome · Quality · Reliability · Cost</a:t>
            </a:r>
          </a:p>
          <a:p>
            <a:pPr marL="0" indent="0" algn="ctr">
              <a:lnSpc>
                <a:spcPct val="100000"/>
              </a:lnSpc>
              <a:buNone/>
            </a:pPr>
            <a:r>
              <a:rPr lang="en-US" sz="1500" dirty="0">
                <a:solidFill>
                  <a:srgbClr val="4A4E63"/>
                </a:solidFill>
                <a:latin typeface="Abadi" panose="020B0604020104020204" pitchFamily="34" charset="0"/>
              </a:rPr>
              <a:t>Security · Governance · Escalation</a:t>
            </a:r>
          </a:p>
        </p:txBody>
      </p:sp>
      <p:sp>
        <p:nvSpPr>
          <p:cNvPr id="54" name="Mech Scoring"/>
          <p:cNvSpPr/>
          <p:nvPr/>
        </p:nvSpPr>
        <p:spPr>
          <a:xfrm>
            <a:off x="6794500" y="5778500"/>
            <a:ext cx="4699000" cy="1574800"/>
          </a:xfrm>
          <a:prstGeom prst="roundRect">
            <a:avLst>
              <a:gd name="adj" fmla="val 5000"/>
            </a:avLst>
          </a:prstGeom>
          <a:solidFill>
            <a:srgbClr val="FFFFFF"/>
          </a:solidFill>
          <a:ln w="28575">
            <a:solidFill>
              <a:srgbClr val="00B050"/>
            </a:solidFill>
          </a:ln>
        </p:spPr>
        <p:txBody>
          <a:bodyPr wrap="square" lIns="228600" tIns="152400" rIns="228600" bIns="152400" rtlCol="0" anchor="ctr">
            <a:noAutofit/>
          </a:bodyPr>
          <a:lstStyle/>
          <a:p>
            <a:pPr marL="0" indent="0" algn="ctr">
              <a:lnSpc>
                <a:spcPct val="100000"/>
              </a:lnSpc>
              <a:buNone/>
            </a:pPr>
            <a:r>
              <a:rPr lang="en-US" sz="2400" b="1" dirty="0">
                <a:solidFill>
                  <a:srgbClr val="D3A518"/>
                </a:solidFill>
                <a:latin typeface="Abadi" panose="020B0604020104020204" pitchFamily="34" charset="0"/>
              </a:rPr>
              <a:t>AGENT SCORING LAYER</a:t>
            </a:r>
          </a:p>
          <a:p>
            <a:pPr marL="0" indent="0" algn="ctr">
              <a:lnSpc>
                <a:spcPct val="100000"/>
              </a:lnSpc>
              <a:spcBef>
                <a:spcPts val="400"/>
              </a:spcBef>
              <a:buNone/>
            </a:pPr>
            <a:r>
              <a:rPr lang="en-US" sz="1600" b="1" dirty="0">
                <a:solidFill>
                  <a:srgbClr val="00051E"/>
                </a:solidFill>
                <a:latin typeface="Abadi" panose="020B0604020104020204" pitchFamily="34" charset="0"/>
              </a:rPr>
              <a:t>Measures every agent against its terms</a:t>
            </a:r>
          </a:p>
        </p:txBody>
      </p:sp>
      <p:sp>
        <p:nvSpPr>
          <p:cNvPr id="55" name="Mech Decision"/>
          <p:cNvSpPr/>
          <p:nvPr/>
        </p:nvSpPr>
        <p:spPr>
          <a:xfrm>
            <a:off x="6794500" y="7797800"/>
            <a:ext cx="4699000" cy="1574800"/>
          </a:xfrm>
          <a:prstGeom prst="roundRect">
            <a:avLst>
              <a:gd name="adj" fmla="val 5000"/>
            </a:avLst>
          </a:prstGeom>
          <a:solidFill>
            <a:srgbClr val="00051E"/>
          </a:solidFill>
          <a:ln w="12700">
            <a:solidFill>
              <a:srgbClr val="FFFFFF"/>
            </a:solidFill>
          </a:ln>
        </p:spPr>
        <p:txBody>
          <a:bodyPr wrap="square" lIns="228600" tIns="152400" rIns="228600" bIns="152400" rtlCol="0" anchor="ctr">
            <a:noAutofit/>
          </a:bodyPr>
          <a:lstStyle/>
          <a:p>
            <a:pPr marL="0" indent="0" algn="ctr">
              <a:lnSpc>
                <a:spcPct val="100000"/>
              </a:lnSpc>
              <a:buNone/>
            </a:pPr>
            <a:r>
              <a:rPr lang="en-US" sz="1400" b="1" spc="150" dirty="0">
                <a:solidFill>
                  <a:srgbClr val="D3A518"/>
                </a:solidFill>
                <a:latin typeface="Abadi" panose="020B0604020104020204" pitchFamily="34" charset="0"/>
              </a:rPr>
              <a:t>EVIDENCE-BASED DECISION</a:t>
            </a:r>
          </a:p>
          <a:p>
            <a:pPr marL="0" indent="0" algn="ctr">
              <a:lnSpc>
                <a:spcPct val="100000"/>
              </a:lnSpc>
              <a:spcBef>
                <a:spcPts val="400"/>
              </a:spcBef>
              <a:buNone/>
            </a:pPr>
            <a:r>
              <a:rPr lang="en-US" sz="2000" b="1" dirty="0">
                <a:solidFill>
                  <a:srgbClr val="FFFFFF"/>
                </a:solidFill>
                <a:latin typeface="Abadi" panose="020B0604020104020204" pitchFamily="34" charset="0"/>
              </a:rPr>
              <a:t>Leaders act before agents fail</a:t>
            </a:r>
          </a:p>
        </p:txBody>
      </p:sp>
      <p:sp>
        <p:nvSpPr>
          <p:cNvPr id="56" name="Arrow Down 1"/>
          <p:cNvSpPr/>
          <p:nvPr/>
        </p:nvSpPr>
        <p:spPr>
          <a:xfrm>
            <a:off x="6794500" y="5334000"/>
            <a:ext cx="4699000" cy="444500"/>
          </a:xfrm>
          <a:prstGeom prst="rect">
            <a:avLst/>
          </a:prstGeom>
          <a:noFill/>
          <a:ln>
            <a:noFill/>
          </a:ln>
        </p:spPr>
        <p:txBody>
          <a:bodyPr wrap="square" lIns="0" tIns="0" rIns="0" bIns="0" rtlCol="0" anchor="ctr">
            <a:noAutofit/>
          </a:bodyPr>
          <a:lstStyle/>
          <a:p>
            <a:pPr marL="0" indent="0" algn="ctr">
              <a:lnSpc>
                <a:spcPct val="100000"/>
              </a:lnSpc>
              <a:buNone/>
            </a:pPr>
            <a:r>
              <a:rPr lang="en-US" sz="2400" dirty="0">
                <a:solidFill>
                  <a:srgbClr val="D3A518"/>
                </a:solidFill>
                <a:latin typeface="Abadi" panose="020B0604020104020204" pitchFamily="34" charset="0"/>
              </a:rPr>
              <a:t>↓</a:t>
            </a:r>
          </a:p>
        </p:txBody>
      </p:sp>
      <p:sp>
        <p:nvSpPr>
          <p:cNvPr id="57" name="Arrow Down 2"/>
          <p:cNvSpPr/>
          <p:nvPr/>
        </p:nvSpPr>
        <p:spPr>
          <a:xfrm>
            <a:off x="6794500" y="7353300"/>
            <a:ext cx="4699000" cy="444500"/>
          </a:xfrm>
          <a:prstGeom prst="rect">
            <a:avLst/>
          </a:prstGeom>
          <a:noFill/>
          <a:ln>
            <a:noFill/>
          </a:ln>
        </p:spPr>
        <p:txBody>
          <a:bodyPr wrap="square" lIns="0" tIns="0" rIns="0" bIns="0" rtlCol="0" anchor="ctr">
            <a:noAutofit/>
          </a:bodyPr>
          <a:lstStyle/>
          <a:p>
            <a:pPr marL="0" indent="0" algn="ctr">
              <a:lnSpc>
                <a:spcPct val="100000"/>
              </a:lnSpc>
              <a:buNone/>
            </a:pPr>
            <a:r>
              <a:rPr lang="en-US" sz="2400" dirty="0">
                <a:solidFill>
                  <a:srgbClr val="D3A518"/>
                </a:solidFill>
                <a:latin typeface="Abadi" panose="020B0604020104020204" pitchFamily="34" charset="0"/>
              </a:rPr>
              <a:t>↓</a:t>
            </a:r>
          </a:p>
        </p:txBody>
      </p:sp>
      <p:sp>
        <p:nvSpPr>
          <p:cNvPr id="58" name="Arrow In"/>
          <p:cNvSpPr/>
          <p:nvPr/>
        </p:nvSpPr>
        <p:spPr>
          <a:xfrm>
            <a:off x="6159500" y="6273800"/>
            <a:ext cx="635000" cy="584200"/>
          </a:xfrm>
          <a:prstGeom prst="rect">
            <a:avLst/>
          </a:prstGeom>
          <a:noFill/>
          <a:ln>
            <a:noFill/>
          </a:ln>
        </p:spPr>
        <p:txBody>
          <a:bodyPr wrap="square" lIns="0" tIns="0" rIns="0" bIns="0" rtlCol="0" anchor="ctr">
            <a:noAutofit/>
          </a:bodyPr>
          <a:lstStyle/>
          <a:p>
            <a:pPr marL="0" indent="0" algn="ctr">
              <a:lnSpc>
                <a:spcPct val="100000"/>
              </a:lnSpc>
              <a:buNone/>
            </a:pPr>
            <a:r>
              <a:rPr lang="en-US" sz="3200" dirty="0">
                <a:solidFill>
                  <a:srgbClr val="D3A518"/>
                </a:solidFill>
                <a:latin typeface="Abadi" panose="020B0604020104020204" pitchFamily="34" charset="0"/>
              </a:rPr>
              <a:t>→</a:t>
            </a:r>
          </a:p>
        </p:txBody>
      </p:sp>
      <p:sp>
        <p:nvSpPr>
          <p:cNvPr id="59" name="Arrow Out"/>
          <p:cNvSpPr/>
          <p:nvPr/>
        </p:nvSpPr>
        <p:spPr>
          <a:xfrm>
            <a:off x="11493500" y="6273800"/>
            <a:ext cx="635000" cy="584200"/>
          </a:xfrm>
          <a:prstGeom prst="rect">
            <a:avLst/>
          </a:prstGeom>
          <a:noFill/>
          <a:ln>
            <a:noFill/>
          </a:ln>
        </p:spPr>
        <p:txBody>
          <a:bodyPr wrap="square" lIns="0" tIns="0" rIns="0" bIns="0" rtlCol="0" anchor="ctr">
            <a:noAutofit/>
          </a:bodyPr>
          <a:lstStyle/>
          <a:p>
            <a:pPr marL="0" indent="0" algn="ctr">
              <a:lnSpc>
                <a:spcPct val="100000"/>
              </a:lnSpc>
              <a:buNone/>
            </a:pPr>
            <a:r>
              <a:rPr lang="en-US" sz="3200" dirty="0">
                <a:solidFill>
                  <a:srgbClr val="D3A518"/>
                </a:solidFill>
                <a:latin typeface="Abadi" panose="020B0604020104020204" pitchFamily="34" charset="0"/>
              </a:rPr>
              <a:t>→</a:t>
            </a:r>
          </a:p>
        </p:txBody>
      </p:sp>
    </p:spTree>
    <p:extLst>
      <p:ext uri="{BB962C8B-B14F-4D97-AF65-F5344CB8AC3E}">
        <p14:creationId xmlns:p14="http://schemas.microsoft.com/office/powerpoint/2010/main" val="2422829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dirty="0">
              <a:latin typeface="Abadi" panose="020B0604020104020204" pitchFamily="34" charset="0"/>
            </a:endParaRPr>
          </a:p>
        </p:txBody>
      </p:sp>
      <p:sp>
        <p:nvSpPr>
          <p:cNvPr id="40" name="Title"/>
          <p:cNvSpPr/>
          <p:nvPr/>
        </p:nvSpPr>
        <p:spPr>
          <a:xfrm>
            <a:off x="952500" y="1549400"/>
            <a:ext cx="16383000" cy="787400"/>
          </a:xfrm>
          <a:prstGeom prst="rect">
            <a:avLst/>
          </a:prstGeom>
          <a:noFill/>
          <a:ln>
            <a:noFill/>
          </a:ln>
        </p:spPr>
        <p:txBody>
          <a:bodyPr wrap="square" lIns="25400" tIns="25400" rIns="25400" bIns="25400" rtlCol="0" anchor="t">
            <a:noAutofit/>
          </a:bodyPr>
          <a:lstStyle/>
          <a:p>
            <a:pPr marL="0" indent="0" algn="l">
              <a:lnSpc>
                <a:spcPct val="90000"/>
              </a:lnSpc>
              <a:buNone/>
            </a:pPr>
            <a:r>
              <a:rPr lang="en-US" sz="4800" b="1" spc="-72" dirty="0">
                <a:solidFill>
                  <a:srgbClr val="FFFFFF"/>
                </a:solidFill>
                <a:latin typeface="Abadi" panose="020B0604020104020204" pitchFamily="34" charset="0"/>
              </a:rPr>
              <a:t>Autonomy becomes a managed enterprise decision.</a:t>
            </a:r>
          </a:p>
        </p:txBody>
      </p:sp>
      <p:sp>
        <p:nvSpPr>
          <p:cNvPr id="41" name="Subtitle"/>
          <p:cNvSpPr/>
          <p:nvPr/>
        </p:nvSpPr>
        <p:spPr>
          <a:xfrm>
            <a:off x="952500" y="2413000"/>
            <a:ext cx="16383000" cy="431800"/>
          </a:xfrm>
          <a:prstGeom prst="rect">
            <a:avLst/>
          </a:prstGeom>
          <a:noFill/>
          <a:ln>
            <a:noFill/>
          </a:ln>
        </p:spPr>
        <p:txBody>
          <a:bodyPr wrap="square" lIns="25400" tIns="25400" rIns="25400" bIns="25400" rtlCol="0" anchor="t">
            <a:noAutofit/>
          </a:bodyPr>
          <a:lstStyle/>
          <a:p>
            <a:pPr marL="0" indent="0" algn="l">
              <a:lnSpc>
                <a:spcPct val="100000"/>
              </a:lnSpc>
              <a:buNone/>
            </a:pPr>
            <a:r>
              <a:rPr lang="en-US" sz="2100" dirty="0">
                <a:solidFill>
                  <a:srgbClr val="F2F2F2"/>
                </a:solidFill>
                <a:latin typeface="Abadi" panose="020B0604020104020204" pitchFamily="34" charset="0"/>
              </a:rPr>
              <a:t>Every agent operates at the level of autonomy its evidence has earned, and the enterprise can raise or withdraw it at any time.</a:t>
            </a:r>
          </a:p>
        </p:txBody>
      </p:sp>
      <p:sp>
        <p:nvSpPr>
          <p:cNvPr id="42" name="Header"/>
          <p:cNvSpPr/>
          <p:nvPr/>
        </p:nvSpPr>
        <p:spPr>
          <a:xfrm>
            <a:off x="952500" y="3276600"/>
            <a:ext cx="11430000" cy="330200"/>
          </a:xfrm>
          <a:prstGeom prst="rect">
            <a:avLst/>
          </a:prstGeom>
          <a:noFill/>
          <a:ln>
            <a:noFill/>
          </a:ln>
        </p:spPr>
        <p:txBody>
          <a:bodyPr wrap="square" lIns="25400" tIns="25400" rIns="25400" bIns="25400" rtlCol="0" anchor="t">
            <a:noAutofit/>
          </a:bodyPr>
          <a:lstStyle/>
          <a:p>
            <a:pPr marL="0" indent="0" algn="l">
              <a:lnSpc>
                <a:spcPct val="100000"/>
              </a:lnSpc>
              <a:buNone/>
            </a:pPr>
            <a:r>
              <a:rPr lang="en-US" sz="1600" b="1" spc="180" dirty="0">
                <a:solidFill>
                  <a:srgbClr val="D3A518"/>
                </a:solidFill>
                <a:latin typeface="Abadi" panose="020B0604020104020204" pitchFamily="34" charset="0"/>
              </a:rPr>
              <a:t>EVIDENCE-BASED DECISION · FOUR LEVELS OF AUTONOMY</a:t>
            </a:r>
          </a:p>
        </p:txBody>
      </p:sp>
      <p:sp>
        <p:nvSpPr>
          <p:cNvPr id="43" name="Step 1"/>
          <p:cNvSpPr/>
          <p:nvPr/>
        </p:nvSpPr>
        <p:spPr>
          <a:xfrm>
            <a:off x="952500" y="6235700"/>
            <a:ext cx="3962400" cy="2730500"/>
          </a:xfrm>
          <a:prstGeom prst="roundRect">
            <a:avLst>
              <a:gd name="adj" fmla="val 4000"/>
            </a:avLst>
          </a:prstGeom>
          <a:solidFill>
            <a:srgbClr val="2F3448"/>
          </a:solidFill>
          <a:ln>
            <a:noFill/>
          </a:ln>
        </p:spPr>
        <p:txBody>
          <a:bodyPr wrap="square" lIns="254000" tIns="228600" rIns="254000" bIns="228600" rtlCol="0" anchor="t">
            <a:noAutofit/>
          </a:bodyPr>
          <a:lstStyle/>
          <a:p>
            <a:pPr marL="0" indent="0" algn="l">
              <a:lnSpc>
                <a:spcPct val="100000"/>
              </a:lnSpc>
              <a:buNone/>
            </a:pPr>
            <a:r>
              <a:rPr lang="en-US" sz="1600" b="1" dirty="0">
                <a:solidFill>
                  <a:srgbClr val="D3A518"/>
                </a:solidFill>
                <a:latin typeface="Abadi" panose="020B0604020104020204" pitchFamily="34" charset="0"/>
              </a:rPr>
              <a:t>01</a:t>
            </a:r>
          </a:p>
          <a:p>
            <a:pPr marL="0" indent="0" algn="l">
              <a:lnSpc>
                <a:spcPct val="100000"/>
              </a:lnSpc>
              <a:spcBef>
                <a:spcPts val="200"/>
              </a:spcBef>
              <a:buNone/>
            </a:pPr>
            <a:r>
              <a:rPr lang="en-US" sz="3000" b="1" spc="40" dirty="0">
                <a:solidFill>
                  <a:srgbClr val="E4E6EE"/>
                </a:solidFill>
                <a:latin typeface="Abadi" panose="020B0604020104020204" pitchFamily="34" charset="0"/>
              </a:rPr>
              <a:t>RESTRICT</a:t>
            </a:r>
          </a:p>
          <a:p>
            <a:pPr marL="0" indent="0" algn="l">
              <a:lnSpc>
                <a:spcPct val="100000"/>
              </a:lnSpc>
              <a:spcBef>
                <a:spcPts val="600"/>
              </a:spcBef>
              <a:buNone/>
            </a:pPr>
            <a:r>
              <a:rPr lang="en-US" sz="2200" b="1" dirty="0">
                <a:solidFill>
                  <a:srgbClr val="E4E6EE"/>
                </a:solidFill>
                <a:latin typeface="Abadi" panose="020B0604020104020204" pitchFamily="34" charset="0"/>
              </a:rPr>
              <a:t>Human approves every action</a:t>
            </a:r>
          </a:p>
          <a:p>
            <a:pPr marL="0" indent="0" algn="l">
              <a:lnSpc>
                <a:spcPct val="100000"/>
              </a:lnSpc>
              <a:spcBef>
                <a:spcPts val="1200"/>
              </a:spcBef>
              <a:buNone/>
            </a:pPr>
            <a:r>
              <a:rPr lang="en-US" sz="1600" b="1" spc="120" dirty="0">
                <a:solidFill>
                  <a:srgbClr val="D3A518"/>
                </a:solidFill>
                <a:latin typeface="Abadi" panose="020B0604020104020204" pitchFamily="34" charset="0"/>
              </a:rPr>
              <a:t>WHEN </a:t>
            </a:r>
            <a:r>
              <a:rPr lang="en-US" sz="1800" dirty="0">
                <a:solidFill>
                  <a:srgbClr val="B8BCCB"/>
                </a:solidFill>
                <a:latin typeface="Abadi" panose="020B0604020104020204" pitchFamily="34" charset="0"/>
              </a:rPr>
              <a:t>The contract is breached</a:t>
            </a:r>
          </a:p>
        </p:txBody>
      </p:sp>
      <p:sp>
        <p:nvSpPr>
          <p:cNvPr id="44" name="Step 2"/>
          <p:cNvSpPr/>
          <p:nvPr/>
        </p:nvSpPr>
        <p:spPr>
          <a:xfrm>
            <a:off x="5092700" y="5473700"/>
            <a:ext cx="3962400" cy="3492500"/>
          </a:xfrm>
          <a:prstGeom prst="roundRect">
            <a:avLst>
              <a:gd name="adj" fmla="val 4000"/>
            </a:avLst>
          </a:prstGeom>
          <a:solidFill>
            <a:srgbClr val="FFFFFF"/>
          </a:solidFill>
          <a:ln>
            <a:noFill/>
          </a:ln>
          <a:effectLst>
            <a:outerShdw blurRad="114300" dist="19050" dir="5400000" algn="bl" rotWithShape="0">
              <a:srgbClr val="00051E">
                <a:alpha val="10000"/>
              </a:srgbClr>
            </a:outerShdw>
          </a:effectLst>
        </p:spPr>
        <p:txBody>
          <a:bodyPr wrap="square" lIns="254000" tIns="228600" rIns="254000" bIns="228600" rtlCol="0" anchor="t">
            <a:noAutofit/>
          </a:bodyPr>
          <a:lstStyle/>
          <a:p>
            <a:pPr marL="0" indent="0" algn="l">
              <a:lnSpc>
                <a:spcPct val="100000"/>
              </a:lnSpc>
              <a:buNone/>
            </a:pPr>
            <a:r>
              <a:rPr lang="en-US" sz="1600" b="1" dirty="0">
                <a:solidFill>
                  <a:srgbClr val="D3A518"/>
                </a:solidFill>
                <a:latin typeface="Abadi" panose="020B0604020104020204" pitchFamily="34" charset="0"/>
              </a:rPr>
              <a:t>02</a:t>
            </a:r>
          </a:p>
          <a:p>
            <a:pPr marL="0" indent="0" algn="l">
              <a:lnSpc>
                <a:spcPct val="100000"/>
              </a:lnSpc>
              <a:spcBef>
                <a:spcPts val="200"/>
              </a:spcBef>
              <a:buNone/>
            </a:pPr>
            <a:r>
              <a:rPr lang="en-US" sz="3000" b="1" spc="40" dirty="0">
                <a:solidFill>
                  <a:srgbClr val="00051E"/>
                </a:solidFill>
                <a:latin typeface="Abadi" panose="020B0604020104020204" pitchFamily="34" charset="0"/>
              </a:rPr>
              <a:t>OPTIMIZE</a:t>
            </a:r>
          </a:p>
          <a:p>
            <a:pPr marL="0" indent="0" algn="l">
              <a:lnSpc>
                <a:spcPct val="100000"/>
              </a:lnSpc>
              <a:spcBef>
                <a:spcPts val="600"/>
              </a:spcBef>
              <a:buNone/>
            </a:pPr>
            <a:r>
              <a:rPr lang="en-US" sz="2200" b="1" dirty="0">
                <a:solidFill>
                  <a:srgbClr val="00051E"/>
                </a:solidFill>
                <a:latin typeface="Abadi" panose="020B0604020104020204" pitchFamily="34" charset="0"/>
              </a:rPr>
              <a:t>Supervised while fixes land</a:t>
            </a:r>
          </a:p>
          <a:p>
            <a:pPr marL="0" indent="0" algn="l">
              <a:lnSpc>
                <a:spcPct val="100000"/>
              </a:lnSpc>
              <a:spcBef>
                <a:spcPts val="1200"/>
              </a:spcBef>
              <a:buNone/>
            </a:pPr>
            <a:r>
              <a:rPr lang="en-US" sz="1600" b="1" spc="120" dirty="0">
                <a:solidFill>
                  <a:srgbClr val="D3A518"/>
                </a:solidFill>
                <a:latin typeface="Abadi" panose="020B0604020104020204" pitchFamily="34" charset="0"/>
              </a:rPr>
              <a:t>WHEN </a:t>
            </a:r>
            <a:r>
              <a:rPr lang="en-US" sz="1800" dirty="0">
                <a:solidFill>
                  <a:srgbClr val="4A4E63"/>
                </a:solidFill>
                <a:latin typeface="Abadi" panose="020B0604020104020204" pitchFamily="34" charset="0"/>
              </a:rPr>
              <a:t>It works, but cost or quality drifts</a:t>
            </a:r>
          </a:p>
          <a:p>
            <a:pPr marL="0" indent="0" algn="l">
              <a:lnSpc>
                <a:spcPct val="100000"/>
              </a:lnSpc>
              <a:spcBef>
                <a:spcPts val="1200"/>
              </a:spcBef>
              <a:buNone/>
            </a:pPr>
            <a:r>
              <a:rPr lang="en-US" sz="1600" b="1" dirty="0">
                <a:solidFill>
                  <a:srgbClr val="D3A518"/>
                </a:solidFill>
                <a:latin typeface="Abadi" panose="020B0604020104020204" pitchFamily="34" charset="0"/>
              </a:rPr>
              <a:t>Today: Claims Agent, score 78</a:t>
            </a:r>
          </a:p>
        </p:txBody>
      </p:sp>
      <p:sp>
        <p:nvSpPr>
          <p:cNvPr id="45" name="Step 3"/>
          <p:cNvSpPr/>
          <p:nvPr/>
        </p:nvSpPr>
        <p:spPr>
          <a:xfrm>
            <a:off x="9232900" y="4711700"/>
            <a:ext cx="3962400" cy="4254500"/>
          </a:xfrm>
          <a:prstGeom prst="roundRect">
            <a:avLst>
              <a:gd name="adj" fmla="val 4000"/>
            </a:avLst>
          </a:prstGeom>
          <a:solidFill>
            <a:srgbClr val="FFFFFF"/>
          </a:solidFill>
          <a:ln>
            <a:noFill/>
          </a:ln>
          <a:effectLst>
            <a:outerShdw blurRad="114300" dist="19050" dir="5400000" algn="bl" rotWithShape="0">
              <a:srgbClr val="00051E">
                <a:alpha val="10000"/>
              </a:srgbClr>
            </a:outerShdw>
          </a:effectLst>
        </p:spPr>
        <p:txBody>
          <a:bodyPr wrap="square" lIns="254000" tIns="228600" rIns="254000" bIns="228600" rtlCol="0" anchor="t">
            <a:noAutofit/>
          </a:bodyPr>
          <a:lstStyle/>
          <a:p>
            <a:pPr marL="0" indent="0" algn="l">
              <a:lnSpc>
                <a:spcPct val="100000"/>
              </a:lnSpc>
              <a:buNone/>
            </a:pPr>
            <a:r>
              <a:rPr lang="en-US" sz="1600" b="1" dirty="0">
                <a:solidFill>
                  <a:srgbClr val="D3A518"/>
                </a:solidFill>
                <a:latin typeface="Abadi" panose="020B0604020104020204" pitchFamily="34" charset="0"/>
              </a:rPr>
              <a:t>03</a:t>
            </a:r>
          </a:p>
          <a:p>
            <a:pPr marL="0" indent="0" algn="l">
              <a:lnSpc>
                <a:spcPct val="100000"/>
              </a:lnSpc>
              <a:spcBef>
                <a:spcPts val="200"/>
              </a:spcBef>
              <a:buNone/>
            </a:pPr>
            <a:r>
              <a:rPr lang="en-US" sz="3000" b="1" spc="40" dirty="0">
                <a:solidFill>
                  <a:srgbClr val="00051E"/>
                </a:solidFill>
                <a:latin typeface="Abadi" panose="020B0604020104020204" pitchFamily="34" charset="0"/>
              </a:rPr>
              <a:t>TRUST</a:t>
            </a:r>
          </a:p>
          <a:p>
            <a:pPr marL="0" indent="0" algn="l">
              <a:lnSpc>
                <a:spcPct val="100000"/>
              </a:lnSpc>
              <a:spcBef>
                <a:spcPts val="600"/>
              </a:spcBef>
              <a:buNone/>
            </a:pPr>
            <a:r>
              <a:rPr lang="en-US" sz="2200" b="1" dirty="0">
                <a:solidFill>
                  <a:srgbClr val="00051E"/>
                </a:solidFill>
                <a:latin typeface="Abadi" panose="020B0604020104020204" pitchFamily="34" charset="0"/>
              </a:rPr>
              <a:t>Acts alone within policy</a:t>
            </a:r>
          </a:p>
          <a:p>
            <a:pPr marL="0" indent="0" algn="l">
              <a:lnSpc>
                <a:spcPct val="100000"/>
              </a:lnSpc>
              <a:spcBef>
                <a:spcPts val="1200"/>
              </a:spcBef>
              <a:buNone/>
            </a:pPr>
            <a:r>
              <a:rPr lang="en-US" sz="1600" b="1" spc="120" dirty="0">
                <a:solidFill>
                  <a:srgbClr val="D3A518"/>
                </a:solidFill>
                <a:latin typeface="Abadi" panose="020B0604020104020204" pitchFamily="34" charset="0"/>
              </a:rPr>
              <a:t>WHEN </a:t>
            </a:r>
            <a:r>
              <a:rPr lang="en-US" sz="1800" dirty="0">
                <a:solidFill>
                  <a:srgbClr val="4A4E63"/>
                </a:solidFill>
                <a:latin typeface="Abadi" panose="020B0604020104020204" pitchFamily="34" charset="0"/>
              </a:rPr>
              <a:t>The contract is met consistently</a:t>
            </a:r>
          </a:p>
        </p:txBody>
      </p:sp>
      <p:sp>
        <p:nvSpPr>
          <p:cNvPr id="46" name="Step 4"/>
          <p:cNvSpPr/>
          <p:nvPr/>
        </p:nvSpPr>
        <p:spPr>
          <a:xfrm>
            <a:off x="13373100" y="3949700"/>
            <a:ext cx="3962400" cy="5016500"/>
          </a:xfrm>
          <a:prstGeom prst="roundRect">
            <a:avLst>
              <a:gd name="adj" fmla="val 4000"/>
            </a:avLst>
          </a:prstGeom>
          <a:solidFill>
            <a:srgbClr val="FFFFFF"/>
          </a:solidFill>
          <a:ln w="28575">
            <a:solidFill>
              <a:srgbClr val="D3A518"/>
            </a:solidFill>
          </a:ln>
          <a:effectLst>
            <a:outerShdw blurRad="114300" dist="19050" dir="5400000" algn="bl" rotWithShape="0">
              <a:srgbClr val="00051E">
                <a:alpha val="10000"/>
              </a:srgbClr>
            </a:outerShdw>
          </a:effectLst>
        </p:spPr>
        <p:txBody>
          <a:bodyPr wrap="square" lIns="254000" tIns="228600" rIns="254000" bIns="228600" rtlCol="0" anchor="t">
            <a:noAutofit/>
          </a:bodyPr>
          <a:lstStyle/>
          <a:p>
            <a:pPr marL="0" indent="0" algn="l">
              <a:lnSpc>
                <a:spcPct val="100000"/>
              </a:lnSpc>
              <a:buNone/>
            </a:pPr>
            <a:r>
              <a:rPr lang="en-US" sz="1600" b="1" dirty="0">
                <a:solidFill>
                  <a:srgbClr val="D3A518"/>
                </a:solidFill>
                <a:latin typeface="Abadi" panose="020B0604020104020204" pitchFamily="34" charset="0"/>
              </a:rPr>
              <a:t>04</a:t>
            </a:r>
          </a:p>
          <a:p>
            <a:pPr marL="0" indent="0" algn="l">
              <a:lnSpc>
                <a:spcPct val="100000"/>
              </a:lnSpc>
              <a:spcBef>
                <a:spcPts val="200"/>
              </a:spcBef>
              <a:buNone/>
            </a:pPr>
            <a:r>
              <a:rPr lang="en-US" sz="3000" b="1" spc="40" dirty="0">
                <a:solidFill>
                  <a:srgbClr val="00051E"/>
                </a:solidFill>
                <a:latin typeface="Abadi" panose="020B0604020104020204" pitchFamily="34" charset="0"/>
              </a:rPr>
              <a:t>SCALE</a:t>
            </a:r>
          </a:p>
          <a:p>
            <a:pPr marL="0" indent="0" algn="l">
              <a:lnSpc>
                <a:spcPct val="100000"/>
              </a:lnSpc>
              <a:spcBef>
                <a:spcPts val="600"/>
              </a:spcBef>
              <a:buNone/>
            </a:pPr>
            <a:r>
              <a:rPr lang="en-US" sz="2200" b="1" dirty="0">
                <a:solidFill>
                  <a:srgbClr val="00051E"/>
                </a:solidFill>
                <a:latin typeface="Abadi" panose="020B0604020104020204" pitchFamily="34" charset="0"/>
              </a:rPr>
              <a:t>Earns more scope and volume</a:t>
            </a:r>
          </a:p>
          <a:p>
            <a:pPr marL="0" indent="0" algn="l">
              <a:lnSpc>
                <a:spcPct val="100000"/>
              </a:lnSpc>
              <a:spcBef>
                <a:spcPts val="1200"/>
              </a:spcBef>
              <a:buNone/>
            </a:pPr>
            <a:r>
              <a:rPr lang="en-US" sz="1600" b="1" spc="120" dirty="0">
                <a:solidFill>
                  <a:srgbClr val="D3A518"/>
                </a:solidFill>
                <a:latin typeface="Abadi" panose="020B0604020104020204" pitchFamily="34" charset="0"/>
              </a:rPr>
              <a:t>WHEN </a:t>
            </a:r>
            <a:r>
              <a:rPr lang="en-US" sz="1800" dirty="0">
                <a:solidFill>
                  <a:srgbClr val="4A4E63"/>
                </a:solidFill>
                <a:latin typeface="Abadi" panose="020B0604020104020204" pitchFamily="34" charset="0"/>
              </a:rPr>
              <a:t>Evidence holds on all 7 dimensions</a:t>
            </a:r>
          </a:p>
        </p:txBody>
      </p:sp>
      <p:cxnSp>
        <p:nvCxnSpPr>
          <p:cNvPr id="47" name="Evidence Axis"/>
          <p:cNvCxnSpPr/>
          <p:nvPr/>
        </p:nvCxnSpPr>
        <p:spPr>
          <a:xfrm>
            <a:off x="952500" y="9194800"/>
            <a:ext cx="16383000" cy="0"/>
          </a:xfrm>
          <a:prstGeom prst="line">
            <a:avLst/>
          </a:prstGeom>
          <a:ln w="22225">
            <a:solidFill>
              <a:srgbClr val="D3A518"/>
            </a:solidFill>
            <a:headEnd type="triangle" w="med" len="med"/>
            <a:tailEnd type="triangle" w="med" len="med"/>
          </a:ln>
        </p:spPr>
      </p:cxnSp>
      <p:sp>
        <p:nvSpPr>
          <p:cNvPr id="48" name="Axis Left"/>
          <p:cNvSpPr/>
          <p:nvPr/>
        </p:nvSpPr>
        <p:spPr>
          <a:xfrm>
            <a:off x="952500" y="9321800"/>
            <a:ext cx="3810000" cy="330200"/>
          </a:xfrm>
          <a:prstGeom prst="rect">
            <a:avLst/>
          </a:prstGeom>
          <a:noFill/>
          <a:ln>
            <a:noFill/>
          </a:ln>
        </p:spPr>
        <p:txBody>
          <a:bodyPr wrap="square" lIns="25400" tIns="25400" rIns="25400" bIns="25400" rtlCol="0" anchor="t">
            <a:noAutofit/>
          </a:bodyPr>
          <a:lstStyle/>
          <a:p>
            <a:pPr marL="0" indent="0" algn="l">
              <a:lnSpc>
                <a:spcPct val="100000"/>
              </a:lnSpc>
              <a:buNone/>
            </a:pPr>
            <a:r>
              <a:rPr lang="en-US" sz="1400" b="1" spc="150" dirty="0">
                <a:solidFill>
                  <a:srgbClr val="B8BCCB"/>
                </a:solidFill>
                <a:latin typeface="Abadi" panose="020B0604020104020204" pitchFamily="34" charset="0"/>
              </a:rPr>
              <a:t>LESS AUTONOMY</a:t>
            </a:r>
          </a:p>
        </p:txBody>
      </p:sp>
      <p:sp>
        <p:nvSpPr>
          <p:cNvPr id="49" name="Axis Centre"/>
          <p:cNvSpPr/>
          <p:nvPr/>
        </p:nvSpPr>
        <p:spPr>
          <a:xfrm>
            <a:off x="5334000" y="9321800"/>
            <a:ext cx="7620000" cy="330200"/>
          </a:xfrm>
          <a:prstGeom prst="rect">
            <a:avLst/>
          </a:prstGeom>
          <a:noFill/>
          <a:ln>
            <a:noFill/>
          </a:ln>
        </p:spPr>
        <p:txBody>
          <a:bodyPr wrap="square" lIns="25400" tIns="25400" rIns="25400" bIns="25400" rtlCol="0" anchor="t">
            <a:noAutofit/>
          </a:bodyPr>
          <a:lstStyle/>
          <a:p>
            <a:pPr marL="0" indent="0" algn="ctr">
              <a:lnSpc>
                <a:spcPct val="100000"/>
              </a:lnSpc>
              <a:buNone/>
            </a:pPr>
            <a:r>
              <a:rPr lang="en-US" sz="1800" b="1" dirty="0">
                <a:solidFill>
                  <a:srgbClr val="FFFFFF"/>
                </a:solidFill>
                <a:latin typeface="Abadi" panose="020B0604020104020204" pitchFamily="34" charset="0"/>
              </a:rPr>
              <a:t>Evidence moves every agent up or down</a:t>
            </a:r>
          </a:p>
        </p:txBody>
      </p:sp>
      <p:sp>
        <p:nvSpPr>
          <p:cNvPr id="50" name="Axis Right"/>
          <p:cNvSpPr/>
          <p:nvPr/>
        </p:nvSpPr>
        <p:spPr>
          <a:xfrm>
            <a:off x="13525500" y="9321800"/>
            <a:ext cx="3810000" cy="330200"/>
          </a:xfrm>
          <a:prstGeom prst="rect">
            <a:avLst/>
          </a:prstGeom>
          <a:noFill/>
          <a:ln>
            <a:noFill/>
          </a:ln>
        </p:spPr>
        <p:txBody>
          <a:bodyPr wrap="square" lIns="25400" tIns="25400" rIns="25400" bIns="25400" rtlCol="0" anchor="t">
            <a:noAutofit/>
          </a:bodyPr>
          <a:lstStyle/>
          <a:p>
            <a:pPr marL="0" indent="0" algn="r">
              <a:lnSpc>
                <a:spcPct val="100000"/>
              </a:lnSpc>
              <a:buNone/>
            </a:pPr>
            <a:r>
              <a:rPr lang="en-US" sz="1400" b="1" spc="150" dirty="0">
                <a:solidFill>
                  <a:srgbClr val="D3A518"/>
                </a:solidFill>
                <a:latin typeface="Abadi" panose="020B0604020104020204" pitchFamily="34" charset="0"/>
              </a:rPr>
              <a:t>MORE AUTONOMY</a:t>
            </a:r>
          </a:p>
        </p:txBody>
      </p:sp>
    </p:spTree>
    <p:extLst>
      <p:ext uri="{BB962C8B-B14F-4D97-AF65-F5344CB8AC3E}">
        <p14:creationId xmlns:p14="http://schemas.microsoft.com/office/powerpoint/2010/main" val="109233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852617"/>
            <a:ext cx="1047750" cy="76200"/>
          </a:xfrm>
          <a:prstGeom prst="rect">
            <a:avLst/>
          </a:prstGeom>
          <a:solidFill>
            <a:srgbClr val="D3A518"/>
          </a:solidFill>
          <a:ln/>
        </p:spPr>
        <p:txBody>
          <a:bodyPr/>
          <a:lstStyle/>
          <a:p>
            <a:endParaRPr lang="en-IN" dirty="0">
              <a:latin typeface="Abadi" panose="020B0604020104020204" pitchFamily="34" charset="0"/>
            </a:endParaRPr>
          </a:p>
        </p:txBody>
      </p:sp>
      <p:sp>
        <p:nvSpPr>
          <p:cNvPr id="3" name="Text 1"/>
          <p:cNvSpPr/>
          <p:nvPr/>
        </p:nvSpPr>
        <p:spPr>
          <a:xfrm>
            <a:off x="952500" y="1359243"/>
            <a:ext cx="16344900" cy="561975"/>
          </a:xfrm>
          <a:prstGeom prst="rect">
            <a:avLst/>
          </a:prstGeom>
          <a:noFill/>
          <a:ln/>
        </p:spPr>
        <p:txBody>
          <a:bodyPr wrap="square" lIns="25400" tIns="25400" rIns="25400" bIns="25400" rtlCol="0" anchor="t">
            <a:normAutofit/>
          </a:bodyPr>
          <a:lstStyle/>
          <a:p>
            <a:pPr marL="0" indent="0" algn="l">
              <a:lnSpc>
                <a:spcPct val="104167"/>
              </a:lnSpc>
              <a:buNone/>
            </a:pPr>
            <a:r>
              <a:rPr lang="en-US" sz="3300" dirty="0">
                <a:solidFill>
                  <a:srgbClr val="FFFFFF">
                    <a:alpha val="80000"/>
                  </a:srgbClr>
                </a:solidFill>
                <a:latin typeface="Abadi" panose="020B0604020104020204" pitchFamily="34" charset="0"/>
                <a:ea typeface="Lato" pitchFamily="34" charset="-122"/>
                <a:cs typeface="Lato" pitchFamily="34" charset="-120"/>
              </a:rPr>
              <a:t>The future of enterprise AI will not be measured by how many agents we deploy.</a:t>
            </a:r>
            <a:endParaRPr lang="en-US" sz="3300" dirty="0">
              <a:latin typeface="Abadi" panose="020B0604020104020204" pitchFamily="34" charset="0"/>
            </a:endParaRPr>
          </a:p>
        </p:txBody>
      </p:sp>
      <p:sp>
        <p:nvSpPr>
          <p:cNvPr id="4" name="Text 2"/>
          <p:cNvSpPr/>
          <p:nvPr/>
        </p:nvSpPr>
        <p:spPr>
          <a:xfrm>
            <a:off x="952500" y="2264118"/>
            <a:ext cx="15304770" cy="1085850"/>
          </a:xfrm>
          <a:prstGeom prst="rect">
            <a:avLst/>
          </a:prstGeom>
          <a:noFill/>
          <a:ln/>
        </p:spPr>
        <p:txBody>
          <a:bodyPr wrap="square" lIns="25400" tIns="25400" rIns="25400" bIns="25400" rtlCol="0" anchor="t">
            <a:normAutofit/>
          </a:bodyPr>
          <a:lstStyle/>
          <a:p>
            <a:pPr marL="0" indent="0" algn="l">
              <a:lnSpc>
                <a:spcPct val="104167"/>
              </a:lnSpc>
              <a:buNone/>
            </a:pPr>
            <a:r>
              <a:rPr lang="en-US" sz="3300" b="1" dirty="0">
                <a:solidFill>
                  <a:srgbClr val="FFFFFF"/>
                </a:solidFill>
                <a:latin typeface="Abadi" panose="020B0604020104020204" pitchFamily="34" charset="0"/>
                <a:ea typeface="Lato" pitchFamily="34" charset="-122"/>
                <a:cs typeface="Lato" pitchFamily="34" charset="-120"/>
              </a:rPr>
              <a:t>It will be measured by how confidently we can decide which agents to trust, optimize, restrict and scale.</a:t>
            </a:r>
            <a:endParaRPr lang="en-US" sz="3300" dirty="0">
              <a:latin typeface="Abadi" panose="020B0604020104020204" pitchFamily="34" charset="0"/>
            </a:endParaRPr>
          </a:p>
        </p:txBody>
      </p:sp>
      <p:sp>
        <p:nvSpPr>
          <p:cNvPr id="5" name="Text 3"/>
          <p:cNvSpPr/>
          <p:nvPr/>
        </p:nvSpPr>
        <p:spPr>
          <a:xfrm>
            <a:off x="952500" y="7898130"/>
            <a:ext cx="9681210" cy="952500"/>
          </a:xfrm>
          <a:prstGeom prst="rect">
            <a:avLst/>
          </a:prstGeom>
          <a:noFill/>
          <a:ln/>
        </p:spPr>
        <p:txBody>
          <a:bodyPr wrap="square" lIns="25400" tIns="25400" rIns="25400" bIns="25400" rtlCol="0" anchor="ctr">
            <a:normAutofit lnSpcReduction="10000"/>
          </a:bodyPr>
          <a:lstStyle/>
          <a:p>
            <a:pPr marL="0" indent="0" algn="l">
              <a:lnSpc>
                <a:spcPct val="83333"/>
              </a:lnSpc>
              <a:buNone/>
            </a:pPr>
            <a:r>
              <a:rPr lang="en-US" sz="7200" b="1" kern="0" spc="300" dirty="0">
                <a:solidFill>
                  <a:srgbClr val="FFFFFF"/>
                </a:solidFill>
                <a:latin typeface="Abadi" panose="020B0604020104020204" pitchFamily="34" charset="0"/>
                <a:ea typeface="Lato" pitchFamily="34" charset="-122"/>
                <a:cs typeface="Lato" pitchFamily="34" charset="-120"/>
              </a:rPr>
              <a:t>BEYOND AGENTS</a:t>
            </a:r>
            <a:endParaRPr lang="en-US" sz="7200" spc="300" dirty="0">
              <a:latin typeface="Abadi" panose="020B0604020104020204" pitchFamily="34" charset="0"/>
            </a:endParaRPr>
          </a:p>
        </p:txBody>
      </p:sp>
      <p:sp>
        <p:nvSpPr>
          <p:cNvPr id="6" name="Text 4"/>
          <p:cNvSpPr/>
          <p:nvPr/>
        </p:nvSpPr>
        <p:spPr>
          <a:xfrm>
            <a:off x="952500" y="8983980"/>
            <a:ext cx="9681210" cy="54102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300" dirty="0">
                <a:solidFill>
                  <a:srgbClr val="D3A518"/>
                </a:solidFill>
                <a:latin typeface="Abadi" panose="020B0604020104020204" pitchFamily="34" charset="0"/>
                <a:ea typeface="Lato" pitchFamily="34" charset="-122"/>
                <a:cs typeface="Lato" pitchFamily="34" charset="-120"/>
              </a:rPr>
              <a:t>Measure Intelligence Before You Scale Autonomy.</a:t>
            </a:r>
            <a:endParaRPr lang="en-US" sz="3300" dirty="0">
              <a:latin typeface="Abadi" panose="020B0604020104020204" pitchFamily="34" charset="0"/>
            </a:endParaRPr>
          </a:p>
        </p:txBody>
      </p:sp>
      <p:sp>
        <p:nvSpPr>
          <p:cNvPr id="9" name="Shape 12">
            <a:extLst>
              <a:ext uri="{FF2B5EF4-FFF2-40B4-BE49-F238E27FC236}">
                <a16:creationId xmlns:a16="http://schemas.microsoft.com/office/drawing/2014/main" id="{0880D2B6-48C3-2F5E-46E5-149863760C7B}"/>
              </a:ext>
            </a:extLst>
          </p:cNvPr>
          <p:cNvSpPr/>
          <p:nvPr/>
        </p:nvSpPr>
        <p:spPr>
          <a:xfrm>
            <a:off x="952500" y="3918364"/>
            <a:ext cx="16383000" cy="3105150"/>
          </a:xfrm>
          <a:prstGeom prst="roundRect">
            <a:avLst>
              <a:gd name="adj" fmla="val 1840"/>
            </a:avLst>
          </a:prstGeom>
          <a:solidFill>
            <a:srgbClr val="2E3349"/>
          </a:solidFill>
          <a:ln/>
        </p:spPr>
        <p:txBody>
          <a:bodyPr/>
          <a:lstStyle/>
          <a:p>
            <a:endParaRPr lang="en-IN" dirty="0">
              <a:latin typeface="Abadi" panose="020B0604020104020204" pitchFamily="34" charset="0"/>
            </a:endParaRPr>
          </a:p>
        </p:txBody>
      </p:sp>
      <p:sp>
        <p:nvSpPr>
          <p:cNvPr id="11" name="Text 13">
            <a:extLst>
              <a:ext uri="{FF2B5EF4-FFF2-40B4-BE49-F238E27FC236}">
                <a16:creationId xmlns:a16="http://schemas.microsoft.com/office/drawing/2014/main" id="{B6F4352C-1BE6-C5F8-0059-E722C9F4AFA9}"/>
              </a:ext>
            </a:extLst>
          </p:cNvPr>
          <p:cNvSpPr/>
          <p:nvPr/>
        </p:nvSpPr>
        <p:spPr>
          <a:xfrm>
            <a:off x="1447800" y="4870864"/>
            <a:ext cx="7184535" cy="1238250"/>
          </a:xfrm>
          <a:prstGeom prst="rect">
            <a:avLst/>
          </a:prstGeom>
          <a:noFill/>
          <a:ln/>
        </p:spPr>
        <p:txBody>
          <a:bodyPr wrap="square" lIns="25400" tIns="25400" rIns="25400" bIns="25400" rtlCol="0" anchor="ctr">
            <a:normAutofit lnSpcReduction="10000"/>
          </a:bodyPr>
          <a:lstStyle/>
          <a:p>
            <a:pPr marL="0" indent="0" algn="l">
              <a:lnSpc>
                <a:spcPct val="87500"/>
              </a:lnSpc>
              <a:buNone/>
            </a:pPr>
            <a:r>
              <a:rPr lang="en-US" sz="4500" b="1" kern="0" spc="300" dirty="0">
                <a:solidFill>
                  <a:srgbClr val="FFFFFF"/>
                </a:solidFill>
                <a:latin typeface="Abadi" panose="020B0604020104020204" pitchFamily="34" charset="0"/>
                <a:ea typeface="Lato" pitchFamily="34" charset="-122"/>
                <a:cs typeface="Lato" pitchFamily="34" charset="-120"/>
              </a:rPr>
              <a:t>THE MEASURABLE AI ENTERPRISE</a:t>
            </a:r>
            <a:endParaRPr lang="en-US" sz="4500" spc="300" dirty="0">
              <a:latin typeface="Abadi" panose="020B0604020104020204" pitchFamily="34" charset="0"/>
            </a:endParaRPr>
          </a:p>
        </p:txBody>
      </p:sp>
      <p:sp>
        <p:nvSpPr>
          <p:cNvPr id="13" name="Text 14">
            <a:extLst>
              <a:ext uri="{FF2B5EF4-FFF2-40B4-BE49-F238E27FC236}">
                <a16:creationId xmlns:a16="http://schemas.microsoft.com/office/drawing/2014/main" id="{A15750C8-6E5E-A554-A87C-E5C186756B21}"/>
              </a:ext>
            </a:extLst>
          </p:cNvPr>
          <p:cNvSpPr/>
          <p:nvPr/>
        </p:nvSpPr>
        <p:spPr>
          <a:xfrm>
            <a:off x="9089827" y="433746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agent observable.</a:t>
            </a:r>
            <a:endParaRPr lang="en-US" sz="2100" dirty="0">
              <a:latin typeface="Abadi" panose="020B0604020104020204" pitchFamily="34" charset="0"/>
            </a:endParaRPr>
          </a:p>
        </p:txBody>
      </p:sp>
      <p:sp>
        <p:nvSpPr>
          <p:cNvPr id="15" name="Text 15">
            <a:extLst>
              <a:ext uri="{FF2B5EF4-FFF2-40B4-BE49-F238E27FC236}">
                <a16:creationId xmlns:a16="http://schemas.microsoft.com/office/drawing/2014/main" id="{A73E6EFC-3DED-38BD-A66D-AD326F41F9B0}"/>
              </a:ext>
            </a:extLst>
          </p:cNvPr>
          <p:cNvSpPr/>
          <p:nvPr/>
        </p:nvSpPr>
        <p:spPr>
          <a:xfrm>
            <a:off x="9089827" y="481752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score explainable.</a:t>
            </a:r>
            <a:endParaRPr lang="en-US" sz="2100" dirty="0">
              <a:latin typeface="Abadi" panose="020B0604020104020204" pitchFamily="34" charset="0"/>
            </a:endParaRPr>
          </a:p>
        </p:txBody>
      </p:sp>
      <p:sp>
        <p:nvSpPr>
          <p:cNvPr id="17" name="Text 16">
            <a:extLst>
              <a:ext uri="{FF2B5EF4-FFF2-40B4-BE49-F238E27FC236}">
                <a16:creationId xmlns:a16="http://schemas.microsoft.com/office/drawing/2014/main" id="{9F84130B-F55B-32BD-8406-A435BC98AE20}"/>
              </a:ext>
            </a:extLst>
          </p:cNvPr>
          <p:cNvSpPr/>
          <p:nvPr/>
        </p:nvSpPr>
        <p:spPr>
          <a:xfrm>
            <a:off x="9089827" y="529758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risk visible.</a:t>
            </a:r>
            <a:endParaRPr lang="en-US" sz="2100" dirty="0">
              <a:latin typeface="Abadi" panose="020B0604020104020204" pitchFamily="34" charset="0"/>
            </a:endParaRPr>
          </a:p>
        </p:txBody>
      </p:sp>
      <p:sp>
        <p:nvSpPr>
          <p:cNvPr id="19" name="Text 17">
            <a:extLst>
              <a:ext uri="{FF2B5EF4-FFF2-40B4-BE49-F238E27FC236}">
                <a16:creationId xmlns:a16="http://schemas.microsoft.com/office/drawing/2014/main" id="{02C3267D-D817-BE31-F46B-720E0AF23B67}"/>
              </a:ext>
            </a:extLst>
          </p:cNvPr>
          <p:cNvSpPr/>
          <p:nvPr/>
        </p:nvSpPr>
        <p:spPr>
          <a:xfrm>
            <a:off x="9089827" y="577764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optimization evidence-based.</a:t>
            </a:r>
            <a:endParaRPr lang="en-US" sz="2100" dirty="0">
              <a:latin typeface="Abadi" panose="020B0604020104020204" pitchFamily="34" charset="0"/>
            </a:endParaRPr>
          </a:p>
        </p:txBody>
      </p:sp>
      <p:sp>
        <p:nvSpPr>
          <p:cNvPr id="21" name="Text 18">
            <a:extLst>
              <a:ext uri="{FF2B5EF4-FFF2-40B4-BE49-F238E27FC236}">
                <a16:creationId xmlns:a16="http://schemas.microsoft.com/office/drawing/2014/main" id="{2C78BDFB-016C-C6F2-C2D4-B9CB1E462E54}"/>
              </a:ext>
            </a:extLst>
          </p:cNvPr>
          <p:cNvSpPr/>
          <p:nvPr/>
        </p:nvSpPr>
        <p:spPr>
          <a:xfrm>
            <a:off x="9089827" y="6257703"/>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b="1" dirty="0">
                <a:solidFill>
                  <a:srgbClr val="D3A518"/>
                </a:solidFill>
                <a:latin typeface="Abadi" panose="020B0604020104020204" pitchFamily="34" charset="0"/>
                <a:ea typeface="Lato" pitchFamily="34" charset="-122"/>
                <a:cs typeface="Lato" pitchFamily="34" charset="-120"/>
              </a:rPr>
              <a:t>Every increase in autonomy deliberate.</a:t>
            </a:r>
            <a:endParaRPr lang="en-US" sz="2100" dirty="0">
              <a:latin typeface="Abadi" panose="020B0604020104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a:extLst>
            <a:ext uri="{FF2B5EF4-FFF2-40B4-BE49-F238E27FC236}">
              <a16:creationId xmlns:a16="http://schemas.microsoft.com/office/drawing/2014/main" id="{AE2FABB6-5527-B1DD-3EC9-2326505D4AD5}"/>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E29A486C-9E1F-CA7B-DB62-02328CD1CA65}"/>
              </a:ext>
            </a:extLst>
          </p:cNvPr>
          <p:cNvSpPr txBox="1"/>
          <p:nvPr/>
        </p:nvSpPr>
        <p:spPr>
          <a:xfrm>
            <a:off x="1943100" y="3318387"/>
            <a:ext cx="14401800" cy="1569660"/>
          </a:xfrm>
          <a:prstGeom prst="rect">
            <a:avLst/>
          </a:prstGeom>
          <a:noFill/>
        </p:spPr>
        <p:txBody>
          <a:bodyPr wrap="square" rtlCol="0">
            <a:spAutoFit/>
          </a:bodyPr>
          <a:lstStyle/>
          <a:p>
            <a:pPr algn="ctr"/>
            <a:r>
              <a:rPr lang="en-IN" sz="9600" b="1" dirty="0">
                <a:solidFill>
                  <a:schemeClr val="bg1"/>
                </a:solidFill>
                <a:latin typeface="Abadi" panose="020B0604020104020204" pitchFamily="34" charset="0"/>
              </a:rPr>
              <a:t>Thank You !</a:t>
            </a:r>
          </a:p>
        </p:txBody>
      </p:sp>
      <p:pic>
        <p:nvPicPr>
          <p:cNvPr id="16" name="Image 0" descr="preencoded.png">
            <a:extLst>
              <a:ext uri="{FF2B5EF4-FFF2-40B4-BE49-F238E27FC236}">
                <a16:creationId xmlns:a16="http://schemas.microsoft.com/office/drawing/2014/main" id="{E564AB75-0B81-B9DC-58A7-663432DDD65C}"/>
              </a:ext>
            </a:extLst>
          </p:cNvPr>
          <p:cNvPicPr>
            <a:picLocks noChangeAspect="1"/>
          </p:cNvPicPr>
          <p:nvPr/>
        </p:nvPicPr>
        <p:blipFill>
          <a:blip r:embed="rId3"/>
          <a:srcRect t="-3" b="-3"/>
          <a:stretch/>
        </p:blipFill>
        <p:spPr>
          <a:xfrm>
            <a:off x="1279848" y="3978632"/>
            <a:ext cx="15728304" cy="5819818"/>
          </a:xfrm>
          <a:prstGeom prst="rect">
            <a:avLst/>
          </a:prstGeom>
        </p:spPr>
      </p:pic>
      <p:sp>
        <p:nvSpPr>
          <p:cNvPr id="2" name="TextBox 1">
            <a:extLst>
              <a:ext uri="{FF2B5EF4-FFF2-40B4-BE49-F238E27FC236}">
                <a16:creationId xmlns:a16="http://schemas.microsoft.com/office/drawing/2014/main" id="{34A2BDF5-B282-BBC8-CE42-4FA359669741}"/>
              </a:ext>
            </a:extLst>
          </p:cNvPr>
          <p:cNvSpPr txBox="1"/>
          <p:nvPr/>
        </p:nvSpPr>
        <p:spPr>
          <a:xfrm>
            <a:off x="1736625" y="1342103"/>
            <a:ext cx="14929055" cy="1569660"/>
          </a:xfrm>
          <a:prstGeom prst="rect">
            <a:avLst/>
          </a:prstGeom>
          <a:noFill/>
        </p:spPr>
        <p:txBody>
          <a:bodyPr wrap="square" rtlCol="0">
            <a:spAutoFit/>
          </a:bodyPr>
          <a:lstStyle/>
          <a:p>
            <a:pPr algn="ctr"/>
            <a:r>
              <a:rPr lang="en-IN" sz="4800" b="1" dirty="0">
                <a:solidFill>
                  <a:schemeClr val="bg1"/>
                </a:solidFill>
                <a:latin typeface="Abadi" panose="020B0604020104020204" pitchFamily="34" charset="0"/>
              </a:rPr>
              <a:t>Feel Free To Connect With Us For A Demo </a:t>
            </a:r>
          </a:p>
          <a:p>
            <a:pPr algn="ctr"/>
            <a:r>
              <a:rPr lang="en-IN" sz="4800" b="1" dirty="0">
                <a:solidFill>
                  <a:schemeClr val="bg1"/>
                </a:solidFill>
                <a:latin typeface="Abadi" panose="020B0604020104020204" pitchFamily="34" charset="0"/>
              </a:rPr>
              <a:t>Of DPI In Action</a:t>
            </a:r>
          </a:p>
        </p:txBody>
      </p:sp>
    </p:spTree>
    <p:extLst>
      <p:ext uri="{BB962C8B-B14F-4D97-AF65-F5344CB8AC3E}">
        <p14:creationId xmlns:p14="http://schemas.microsoft.com/office/powerpoint/2010/main" val="2258375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AFD51DD-2B7D-422D-A89C-CC3892B5BA26}">
  <we:reference id="WA200010001" version="1.0.0.1" store="Omex" storeType="OMEX"/>
  <we:alternateReferences>
    <we:reference id="WA200010001" version="1.0.0.1" store="WA200010001" storeType="OMEX"/>
  </we:alternateReferences>
  <we:properties>
    <we:property name="claude.fileId" value="&quot;147c7f33-06ea-4d88-91c1-71b5b660748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1476</TotalTime>
  <Words>1311</Words>
  <Application>Microsoft Office PowerPoint</Application>
  <PresentationFormat>Custom</PresentationFormat>
  <Paragraphs>241</Paragraphs>
  <Slides>11</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Abadi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Vinay Vijesh (Intelligenz IT)</cp:lastModifiedBy>
  <cp:revision>42</cp:revision>
  <dcterms:created xsi:type="dcterms:W3CDTF">2026-09-17T13:53:28Z</dcterms:created>
  <dcterms:modified xsi:type="dcterms:W3CDTF">2026-09-23T06:37:20Z</dcterms:modified>
</cp:coreProperties>
</file>