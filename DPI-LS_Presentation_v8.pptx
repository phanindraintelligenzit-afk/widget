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2" r:id="rId13"/>
    <p:sldId id="263" r:id="rId14"/>
    <p:sldId id="257" r:id="rId8"/>
    <p:sldId id="258" r:id="rId9"/>
    <p:sldId id="259" r:id="rId10"/>
    <p:sldId id="260" r:id="rId11"/>
    <p:sldId id="261" r:id="rId12"/>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548640" y="457200"/>
            <a:ext cx="6400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t>01</a:t>
            </a:r>
          </a:p>
        </p:txBody>
      </p:sp>
      <p:sp>
        <p:nvSpPr>
          <p:cNvPr id="3" name="TextBox 2"/>
          <p:cNvSpPr txBox="1"/>
          <p:nvPr/>
        </p:nvSpPr>
        <p:spPr>
          <a:xfrm>
            <a:off x="548640" y="1097280"/>
            <a:ext cx="5029200" cy="731520"/>
          </a:xfrm>
          <a:prstGeom prst="rect">
            <a:avLst/>
          </a:prstGeom>
          <a:noFill/>
        </p:spPr>
        <p:txBody>
          <a:bodyPr wrap="square">
            <a:spAutoFit/>
          </a:bodyPr>
          <a:lstStyle/>
          <a:p>
            <a:pPr>
              <a:defRPr sz="3600" b="1">
                <a:solidFill>
                  <a:srgbClr val="F1F5F9"/>
                </a:solidFill>
              </a:defRPr>
            </a:pPr>
            <a:r>
              <a:rPr>
                <a:solidFill>
                  <a:srgbClr val="FFFFFF"/>
                </a:solidFill>
              </a:rPr>
              <a:t>What is DPI-LS?</a:t>
            </a:r>
          </a:p>
        </p:txBody>
      </p:sp>
      <p:sp>
        <p:nvSpPr>
          <p:cNvPr id="4" name="TextBox 3"/>
          <p:cNvSpPr txBox="1"/>
          <p:nvPr/>
        </p:nvSpPr>
        <p:spPr>
          <a:xfrm>
            <a:off x="548640" y="1828800"/>
            <a:ext cx="5029200" cy="457200"/>
          </a:xfrm>
          <a:prstGeom prst="rect">
            <a:avLst/>
          </a:prstGeom>
          <a:noFill/>
        </p:spPr>
        <p:txBody>
          <a:bodyPr wrap="square">
            <a:spAutoFit/>
          </a:bodyPr>
          <a:lstStyle/>
          <a:p>
            <a:pPr>
              <a:defRPr sz="1800" b="1">
                <a:solidFill>
                  <a:srgbClr val="6366F1"/>
                </a:solidFill>
              </a:defRPr>
            </a:pPr>
            <a:r>
              <a:rPr>
                <a:solidFill>
                  <a:srgbClr val="FFFFFF"/>
                </a:solidFill>
              </a:rPr>
              <a:t>Digital Performance Index for Life Sciences</a:t>
            </a:r>
          </a:p>
        </p:txBody>
      </p:sp>
      <p:sp>
        <p:nvSpPr>
          <p:cNvPr id="5" name="Rounded Rectangle 4"/>
          <p:cNvSpPr/>
          <p:nvPr/>
        </p:nvSpPr>
        <p:spPr>
          <a:xfrm>
            <a:off x="548640" y="2468880"/>
            <a:ext cx="5029200" cy="914400"/>
          </a:xfrm>
          <a:prstGeom prst="round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200" b="1">
                <a:solidFill>
                  <a:srgbClr val="FFCC00"/>
                </a:solidFill>
              </a:rPr>
              <a:t>Workflow: </a:t>
            </a:r>
            <a:r>
              <a:rPr sz="1200">
                <a:solidFill>
                  <a:srgbClr val="FFFFFF"/>
                </a:solidFill>
              </a:rPr>
              <a:t>The system measures your AI's health — just like an airport departure board, you can instantly see if your digital workers are delayed, failing, or operating smoothly.</a:t>
            </a:r>
          </a:p>
        </p:txBody>
      </p:sp>
      <p:sp>
        <p:nvSpPr>
          <p:cNvPr id="6" name="TextBox 5"/>
          <p:cNvSpPr txBox="1"/>
          <p:nvPr/>
        </p:nvSpPr>
        <p:spPr>
          <a:xfrm>
            <a:off x="548640" y="3657600"/>
            <a:ext cx="5029200" cy="2926080"/>
          </a:xfrm>
          <a:prstGeom prst="rect">
            <a:avLst/>
          </a:prstGeom>
          <a:noFill/>
        </p:spPr>
        <p:txBody>
          <a:bodyPr wrap="square">
            <a:spAutoFit/>
          </a:bodyPr>
          <a:lstStyle/>
          <a:p>
            <a:pPr>
              <a:spcAft>
                <a:spcPts val="400"/>
              </a:spcAft>
              <a:defRPr sz="1300">
                <a:solidFill>
                  <a:srgbClr val="94A3B8"/>
                </a:solidFill>
              </a:defRPr>
            </a:pPr>
            <a:r>
              <a:rPr>
                <a:solidFill>
                  <a:srgbClr val="FFFFFF"/>
                </a:solidFill>
              </a:rPr>
              <a:t>When companies deploy AI to do important work, they need to know if the AI is doing a good job, working safely, and saving money.</a:t>
            </a:r>
          </a:p>
          <a:p>
            <a:pPr>
              <a:spcAft>
                <a:spcPts val="400"/>
              </a:spcAft>
              <a:defRPr sz="1300">
                <a:solidFill>
                  <a:srgbClr val="94A3B8"/>
                </a:solidFill>
              </a:defRPr>
            </a:pPr>
          </a:p>
          <a:p>
            <a:pPr>
              <a:spcAft>
                <a:spcPts val="400"/>
              </a:spcAft>
              <a:defRPr sz="1300">
                <a:solidFill>
                  <a:srgbClr val="94A3B8"/>
                </a:solidFill>
              </a:defRPr>
            </a:pPr>
            <a:r>
              <a:rPr>
                <a:solidFill>
                  <a:srgbClr val="FFFFFF"/>
                </a:solidFill>
              </a:rPr>
              <a:t>DPI-LS automatically measures 7 critical areas — Productivity, Quality, Execution, Governance, Risk, Validation, and Cost — and gives you a single, easy-to-understand score out of 100.</a:t>
            </a:r>
          </a:p>
        </p:txBody>
      </p:sp>
      <p:pic>
        <p:nvPicPr>
          <p:cNvPr id="7" name="Picture 6" descr="media_1787038316309.png"/>
          <p:cNvPicPr>
            <a:picLocks noChangeAspect="1"/>
          </p:cNvPicPr>
          <p:nvPr/>
        </p:nvPicPr>
        <p:blipFill>
          <a:blip r:embed="rId2"/>
          <a:stretch>
            <a:fillRect/>
          </a:stretch>
        </p:blipFill>
        <p:spPr>
          <a:xfrm>
            <a:off x="6035040" y="731520"/>
            <a:ext cx="5669280" cy="5303520"/>
          </a:xfrm>
          <a:prstGeom prst="rect">
            <a:avLst/>
          </a:prstGeom>
        </p:spPr>
      </p:pic>
      <p:sp>
        <p:nvSpPr>
          <p:cNvPr id="8" name="Rectangle 7"/>
          <p:cNvSpPr/>
          <p:nvPr/>
        </p:nvSpPr>
        <p:spPr>
          <a:xfrm>
            <a:off x="0" y="6720840"/>
            <a:ext cx="12191695" cy="1371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548640" y="274320"/>
            <a:ext cx="6400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t>02</a:t>
            </a:r>
          </a:p>
        </p:txBody>
      </p:sp>
      <p:sp>
        <p:nvSpPr>
          <p:cNvPr id="3" name="TextBox 2"/>
          <p:cNvSpPr txBox="1"/>
          <p:nvPr/>
        </p:nvSpPr>
        <p:spPr>
          <a:xfrm>
            <a:off x="1371600" y="274320"/>
            <a:ext cx="9144000" cy="548640"/>
          </a:xfrm>
          <a:prstGeom prst="rect">
            <a:avLst/>
          </a:prstGeom>
          <a:noFill/>
        </p:spPr>
        <p:txBody>
          <a:bodyPr wrap="square">
            <a:spAutoFit/>
          </a:bodyPr>
          <a:lstStyle/>
          <a:p>
            <a:pPr>
              <a:defRPr sz="3200" b="1">
                <a:solidFill>
                  <a:srgbClr val="F1F5F9"/>
                </a:solidFill>
              </a:defRPr>
            </a:pPr>
            <a:r>
              <a:rPr>
                <a:solidFill>
                  <a:srgbClr val="FFFFFF"/>
                </a:solidFill>
              </a:rPr>
              <a:t>DPI-LS Business Architecture Workflow</a:t>
            </a:r>
          </a:p>
        </p:txBody>
      </p:sp>
      <p:sp>
        <p:nvSpPr>
          <p:cNvPr id="4" name="TextBox 3"/>
          <p:cNvSpPr txBox="1"/>
          <p:nvPr/>
        </p:nvSpPr>
        <p:spPr>
          <a:xfrm>
            <a:off x="1371600" y="822960"/>
            <a:ext cx="9144000" cy="457200"/>
          </a:xfrm>
          <a:prstGeom prst="rect">
            <a:avLst/>
          </a:prstGeom>
          <a:noFill/>
        </p:spPr>
        <p:txBody>
          <a:bodyPr wrap="square">
            <a:spAutoFit/>
          </a:bodyPr>
          <a:lstStyle/>
          <a:p>
            <a:pPr>
              <a:defRPr sz="1600">
                <a:solidFill>
                  <a:srgbClr val="94A3B8"/>
                </a:solidFill>
              </a:defRPr>
            </a:pPr>
            <a:r>
              <a:rPr>
                <a:solidFill>
                  <a:srgbClr val="FFFFFF"/>
                </a:solidFill>
              </a:rPr>
              <a:t>End-to-End Event-Driven Automation — From Onboarding to Live Dashboard</a:t>
            </a:r>
          </a:p>
        </p:txBody>
      </p:sp>
      <p:sp>
        <p:nvSpPr>
          <p:cNvPr id="6" name="Rectangle 5"/>
          <p:cNvSpPr/>
          <p:nvPr/>
        </p:nvSpPr>
        <p:spPr>
          <a:xfrm>
            <a:off x="0" y="6720840"/>
            <a:ext cx="12191695" cy="1371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2560320" y="1645920"/>
            <a:ext cx="2120975" cy="5029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548640" y="457200"/>
            <a:ext cx="6400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t>03</a:t>
            </a:r>
          </a:p>
        </p:txBody>
      </p:sp>
      <p:sp>
        <p:nvSpPr>
          <p:cNvPr id="5" name="Rounded Rectangle 4"/>
          <p:cNvSpPr/>
          <p:nvPr/>
        </p:nvSpPr>
        <p:spPr>
          <a:xfrm>
            <a:off x="548640" y="2468880"/>
            <a:ext cx="5029200" cy="914400"/>
          </a:xfrm>
          <a:prstGeom prst="round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r>
              <a:rPr>
                <a:solidFill>
                  <a:srgbClr val="FFFFFF"/>
                </a:solidFill>
              </a:rPr>
              <a:t>First, users log into the system securely. The platform checks their role to see if they are an Admin, Manager, or Customer. This ensures that only authorized people can add new agents, rate their own agents, or submit feedback, keeping the entire system safe and accountable.</a:t>
            </a:r>
          </a:p>
        </p:txBody>
      </p:sp>
      <p:pic>
        <p:nvPicPr>
          <p:cNvPr id="7" name="Picture 6" descr="media_1787040119812.png"/>
          <p:cNvPicPr>
            <a:picLocks noChangeAspect="1"/>
          </p:cNvPicPr>
          <p:nvPr/>
        </p:nvPicPr>
        <p:blipFill>
          <a:blip r:embed="rId2"/>
          <a:stretch>
            <a:fillRect/>
          </a:stretch>
        </p:blipFill>
        <p:spPr>
          <a:xfrm>
            <a:off x="6035040" y="731520"/>
            <a:ext cx="5669280" cy="5303520"/>
          </a:xfrm>
          <a:prstGeom prst="rect">
            <a:avLst/>
          </a:prstGeom>
        </p:spPr>
      </p:pic>
      <p:pic>
        <p:nvPicPr>
          <p:cNvPr id="8" name="Picture 7" descr="image.png"/>
          <p:cNvPicPr>
            <a:picLocks noChangeAspect="1"/>
          </p:cNvPicPr>
          <p:nvPr/>
        </p:nvPicPr>
        <p:blipFill>
          <a:blip r:embed="rId2"/>
          <a:stretch>
            <a:fillRect/>
          </a:stretch>
        </p:blipFill>
        <p:spPr>
          <a:xfrm>
            <a:off x="5029200" y="2286000"/>
            <a:ext cx="3200400" cy="179397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548640" y="457200"/>
            <a:ext cx="6400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t>04</a:t>
            </a:r>
          </a:p>
        </p:txBody>
      </p:sp>
      <p:sp>
        <p:nvSpPr>
          <p:cNvPr id="3" name="TextBox 2"/>
          <p:cNvSpPr txBox="1"/>
          <p:nvPr/>
        </p:nvSpPr>
        <p:spPr>
          <a:xfrm>
            <a:off x="548640" y="1097280"/>
            <a:ext cx="5029200" cy="731520"/>
          </a:xfrm>
          <a:prstGeom prst="rect">
            <a:avLst/>
          </a:prstGeom>
          <a:noFill/>
        </p:spPr>
        <p:txBody>
          <a:bodyPr wrap="square">
            <a:spAutoFit/>
          </a:bodyPr>
          <a:lstStyle/>
          <a:p>
            <a:pPr>
              <a:defRPr sz="3600" b="1">
                <a:solidFill>
                  <a:srgbClr val="F1F5F9"/>
                </a:solidFill>
              </a:defRPr>
            </a:pPr>
            <a:r>
              <a:rPr>
                <a:solidFill>
                  <a:srgbClr val="FFFFFF"/>
                </a:solidFill>
              </a:rPr>
              <a:t>Agent Onboarding</a:t>
            </a:r>
          </a:p>
        </p:txBody>
      </p:sp>
      <p:sp>
        <p:nvSpPr>
          <p:cNvPr id="4" name="TextBox 3"/>
          <p:cNvSpPr txBox="1"/>
          <p:nvPr/>
        </p:nvSpPr>
        <p:spPr>
          <a:xfrm>
            <a:off x="548640" y="1828800"/>
            <a:ext cx="5029200" cy="457200"/>
          </a:xfrm>
          <a:prstGeom prst="rect">
            <a:avLst/>
          </a:prstGeom>
          <a:noFill/>
        </p:spPr>
        <p:txBody>
          <a:bodyPr wrap="square">
            <a:spAutoFit/>
          </a:bodyPr>
          <a:lstStyle/>
          <a:p>
            <a:pPr>
              <a:defRPr sz="1800" b="1">
                <a:solidFill>
                  <a:srgbClr val="6366F1"/>
                </a:solidFill>
              </a:defRPr>
            </a:pPr>
            <a:r>
              <a:rPr>
                <a:solidFill>
                  <a:srgbClr val="FFFFFF"/>
                </a:solidFill>
              </a:rPr>
              <a:t>Registering Your AI Worker in the System</a:t>
            </a:r>
          </a:p>
        </p:txBody>
      </p:sp>
      <p:sp>
        <p:nvSpPr>
          <p:cNvPr id="5" name="Rounded Rectangle 4"/>
          <p:cNvSpPr/>
          <p:nvPr/>
        </p:nvSpPr>
        <p:spPr>
          <a:xfrm>
            <a:off x="548640" y="2468880"/>
            <a:ext cx="5029200" cy="914400"/>
          </a:xfrm>
          <a:prstGeom prst="round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200" b="1">
                <a:solidFill>
                  <a:srgbClr val="FFCC00"/>
                </a:solidFill>
              </a:rPr>
              <a:t>Workflow: </a:t>
            </a:r>
            <a:r>
              <a:rPr sz="1200">
                <a:solidFill>
                  <a:srgbClr val="FFFFFF"/>
                </a:solidFill>
              </a:rPr>
              <a:t>First, you register the AI in the system by giving it an identity and assigning human managers so it is never running without supervision.</a:t>
            </a:r>
          </a:p>
        </p:txBody>
      </p:sp>
      <p:sp>
        <p:nvSpPr>
          <p:cNvPr id="6" name="TextBox 5"/>
          <p:cNvSpPr txBox="1"/>
          <p:nvPr/>
        </p:nvSpPr>
        <p:spPr>
          <a:xfrm>
            <a:off x="548640" y="3657600"/>
            <a:ext cx="5029200" cy="2926080"/>
          </a:xfrm>
          <a:prstGeom prst="rect">
            <a:avLst/>
          </a:prstGeom>
          <a:noFill/>
        </p:spPr>
        <p:txBody>
          <a:bodyPr wrap="square">
            <a:spAutoFit/>
          </a:bodyPr>
          <a:lstStyle/>
          <a:p>
            <a:pPr>
              <a:spcAft>
                <a:spcPts val="400"/>
              </a:spcAft>
              <a:defRPr sz="1300">
                <a:solidFill>
                  <a:srgbClr val="94A3B8"/>
                </a:solidFill>
              </a:defRPr>
            </a:pPr>
            <a:r>
              <a:rPr>
                <a:solidFill>
                  <a:srgbClr val="FFFFFF"/>
                </a:solidFill>
              </a:rPr>
              <a:t>Before we can track an AI's performance, we introduce it to the system.</a:t>
            </a:r>
          </a:p>
          <a:p>
            <a:pPr>
              <a:spcAft>
                <a:spcPts val="400"/>
              </a:spcAft>
              <a:defRPr sz="1300">
                <a:solidFill>
                  <a:srgbClr val="94A3B8"/>
                </a:solidFill>
              </a:defRPr>
            </a:pPr>
          </a:p>
          <a:p>
            <a:pPr>
              <a:spcAft>
                <a:spcPts val="400"/>
              </a:spcAft>
              <a:defRPr sz="1300">
                <a:solidFill>
                  <a:srgbClr val="94A3B8"/>
                </a:solidFill>
              </a:defRPr>
            </a:pPr>
            <a:r>
              <a:rPr>
                <a:solidFill>
                  <a:srgbClr val="FFFFFF"/>
                </a:solidFill>
              </a:rPr>
              <a:t>• Give the AI a unique ID and description</a:t>
            </a:r>
          </a:p>
          <a:p>
            <a:pPr>
              <a:spcAft>
                <a:spcPts val="400"/>
              </a:spcAft>
              <a:defRPr sz="1300">
                <a:solidFill>
                  <a:srgbClr val="94A3B8"/>
                </a:solidFill>
              </a:defRPr>
            </a:pPr>
            <a:r>
              <a:rPr>
                <a:solidFill>
                  <a:srgbClr val="FFFFFF"/>
                </a:solidFill>
              </a:rPr>
              <a:t>• Define its business role (e.g. Finance, Accounts Payable)</a:t>
            </a:r>
          </a:p>
          <a:p>
            <a:pPr>
              <a:spcAft>
                <a:spcPts val="400"/>
              </a:spcAft>
              <a:defRPr sz="1300">
                <a:solidFill>
                  <a:srgbClr val="94A3B8"/>
                </a:solidFill>
              </a:defRPr>
            </a:pPr>
            <a:r>
              <a:rPr>
                <a:solidFill>
                  <a:srgbClr val="FFFFFF"/>
                </a:solidFill>
              </a:rPr>
              <a:t>• Assign a Manager, Business Owner, and Technical Owner</a:t>
            </a:r>
          </a:p>
          <a:p>
            <a:pPr>
              <a:spcAft>
                <a:spcPts val="400"/>
              </a:spcAft>
              <a:defRPr sz="1300">
                <a:solidFill>
                  <a:srgbClr val="94A3B8"/>
                </a:solidFill>
              </a:defRPr>
            </a:pPr>
          </a:p>
          <a:p>
            <a:pPr>
              <a:spcAft>
                <a:spcPts val="400"/>
              </a:spcAft>
              <a:defRPr sz="1300">
                <a:solidFill>
                  <a:srgbClr val="94A3B8"/>
                </a:solidFill>
              </a:defRPr>
            </a:pPr>
            <a:r>
              <a:rPr>
                <a:solidFill>
                  <a:srgbClr val="FFFFFF"/>
                </a:solidFill>
              </a:rPr>
              <a:t>This ensures clear human accountability for the AI's actions.</a:t>
            </a:r>
          </a:p>
        </p:txBody>
      </p:sp>
      <p:pic>
        <p:nvPicPr>
          <p:cNvPr id="7" name="Picture 6" descr="media_1787040119812.png"/>
          <p:cNvPicPr>
            <a:picLocks noChangeAspect="1"/>
          </p:cNvPicPr>
          <p:nvPr/>
        </p:nvPicPr>
        <p:blipFill>
          <a:blip r:embed="rId2"/>
          <a:stretch>
            <a:fillRect/>
          </a:stretch>
        </p:blipFill>
        <p:spPr>
          <a:xfrm>
            <a:off x="6035040" y="731520"/>
            <a:ext cx="5669280" cy="5303520"/>
          </a:xfrm>
          <a:prstGeom prst="rect">
            <a:avLst/>
          </a:prstGeom>
        </p:spPr>
      </p:pic>
      <p:sp>
        <p:nvSpPr>
          <p:cNvPr id="8" name="Rectangle 7"/>
          <p:cNvSpPr/>
          <p:nvPr/>
        </p:nvSpPr>
        <p:spPr>
          <a:xfrm>
            <a:off x="0" y="6720840"/>
            <a:ext cx="12191695" cy="1371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548640" y="457200"/>
            <a:ext cx="6400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t>05</a:t>
            </a:r>
          </a:p>
        </p:txBody>
      </p:sp>
      <p:sp>
        <p:nvSpPr>
          <p:cNvPr id="3" name="TextBox 2"/>
          <p:cNvSpPr txBox="1"/>
          <p:nvPr/>
        </p:nvSpPr>
        <p:spPr>
          <a:xfrm>
            <a:off x="548640" y="1097280"/>
            <a:ext cx="5029200" cy="731520"/>
          </a:xfrm>
          <a:prstGeom prst="rect">
            <a:avLst/>
          </a:prstGeom>
          <a:noFill/>
        </p:spPr>
        <p:txBody>
          <a:bodyPr wrap="square">
            <a:spAutoFit/>
          </a:bodyPr>
          <a:lstStyle/>
          <a:p>
            <a:pPr>
              <a:defRPr sz="3600" b="1">
                <a:solidFill>
                  <a:srgbClr val="F1F5F9"/>
                </a:solidFill>
              </a:defRPr>
            </a:pPr>
            <a:r>
              <a:rPr>
                <a:solidFill>
                  <a:srgbClr val="FFFFFF"/>
                </a:solidFill>
              </a:rPr>
              <a:t>KRA Configuration</a:t>
            </a:r>
          </a:p>
        </p:txBody>
      </p:sp>
      <p:sp>
        <p:nvSpPr>
          <p:cNvPr id="4" name="TextBox 3"/>
          <p:cNvSpPr txBox="1"/>
          <p:nvPr/>
        </p:nvSpPr>
        <p:spPr>
          <a:xfrm>
            <a:off x="548640" y="1828800"/>
            <a:ext cx="5029200" cy="457200"/>
          </a:xfrm>
          <a:prstGeom prst="rect">
            <a:avLst/>
          </a:prstGeom>
          <a:noFill/>
        </p:spPr>
        <p:txBody>
          <a:bodyPr wrap="square">
            <a:spAutoFit/>
          </a:bodyPr>
          <a:lstStyle/>
          <a:p>
            <a:pPr>
              <a:defRPr sz="1800" b="1">
                <a:solidFill>
                  <a:srgbClr val="6366F1"/>
                </a:solidFill>
              </a:defRPr>
            </a:pPr>
            <a:r>
              <a:rPr>
                <a:solidFill>
                  <a:srgbClr val="FFFFFF"/>
                </a:solidFill>
              </a:rPr>
              <a:t>Defining What Success Looks Like</a:t>
            </a:r>
          </a:p>
        </p:txBody>
      </p:sp>
      <p:sp>
        <p:nvSpPr>
          <p:cNvPr id="5" name="Rounded Rectangle 4"/>
          <p:cNvSpPr/>
          <p:nvPr/>
        </p:nvSpPr>
        <p:spPr>
          <a:xfrm>
            <a:off x="548640" y="2468880"/>
            <a:ext cx="5029200" cy="914400"/>
          </a:xfrm>
          <a:prstGeom prst="round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200" b="1">
                <a:solidFill>
                  <a:srgbClr val="FFCC00"/>
                </a:solidFill>
              </a:rPr>
              <a:t>Workflow: </a:t>
            </a:r>
            <a:r>
              <a:rPr sz="1200">
                <a:solidFill>
                  <a:srgbClr val="FFFFFF"/>
                </a:solidFill>
              </a:rPr>
              <a:t>Next, you tell the system exactly what goals this AI needs to achieve and how important those goals are to your business.</a:t>
            </a:r>
          </a:p>
        </p:txBody>
      </p:sp>
      <p:sp>
        <p:nvSpPr>
          <p:cNvPr id="6" name="TextBox 5"/>
          <p:cNvSpPr txBox="1"/>
          <p:nvPr/>
        </p:nvSpPr>
        <p:spPr>
          <a:xfrm>
            <a:off x="548640" y="3657600"/>
            <a:ext cx="5029200" cy="2926080"/>
          </a:xfrm>
          <a:prstGeom prst="rect">
            <a:avLst/>
          </a:prstGeom>
          <a:noFill/>
        </p:spPr>
        <p:txBody>
          <a:bodyPr wrap="square">
            <a:spAutoFit/>
          </a:bodyPr>
          <a:lstStyle/>
          <a:p>
            <a:pPr>
              <a:spcAft>
                <a:spcPts val="400"/>
              </a:spcAft>
              <a:defRPr sz="1300">
                <a:solidFill>
                  <a:srgbClr val="94A3B8"/>
                </a:solidFill>
              </a:defRPr>
            </a:pPr>
            <a:r>
              <a:rPr>
                <a:solidFill>
                  <a:srgbClr val="FFFFFF"/>
                </a:solidFill>
              </a:rPr>
              <a:t>KRA stands for Key Result Area. Not all AI agents have the same goals.</a:t>
            </a:r>
          </a:p>
          <a:p>
            <a:pPr>
              <a:spcAft>
                <a:spcPts val="400"/>
              </a:spcAft>
              <a:defRPr sz="1300">
                <a:solidFill>
                  <a:srgbClr val="94A3B8"/>
                </a:solidFill>
              </a:defRPr>
            </a:pPr>
          </a:p>
          <a:p>
            <a:pPr>
              <a:spcAft>
                <a:spcPts val="400"/>
              </a:spcAft>
              <a:defRPr sz="1300">
                <a:solidFill>
                  <a:srgbClr val="94A3B8"/>
                </a:solidFill>
              </a:defRPr>
            </a:pPr>
            <a:r>
              <a:rPr>
                <a:solidFill>
                  <a:srgbClr val="FFFFFF"/>
                </a:solidFill>
              </a:rPr>
              <a:t>• Set a Target Value (e.g. 99.5% accuracy)</a:t>
            </a:r>
          </a:p>
          <a:p>
            <a:pPr>
              <a:spcAft>
                <a:spcPts val="400"/>
              </a:spcAft>
              <a:defRPr sz="1300">
                <a:solidFill>
                  <a:srgbClr val="94A3B8"/>
                </a:solidFill>
              </a:defRPr>
            </a:pPr>
            <a:r>
              <a:rPr>
                <a:solidFill>
                  <a:srgbClr val="FFFFFF"/>
                </a:solidFill>
              </a:rPr>
              <a:t>• Set a Weight (e.g. 85%)</a:t>
            </a:r>
          </a:p>
          <a:p>
            <a:pPr>
              <a:spcAft>
                <a:spcPts val="400"/>
              </a:spcAft>
              <a:defRPr sz="1300">
                <a:solidFill>
                  <a:srgbClr val="94A3B8"/>
                </a:solidFill>
              </a:defRPr>
            </a:pPr>
          </a:p>
          <a:p>
            <a:pPr>
              <a:spcAft>
                <a:spcPts val="400"/>
              </a:spcAft>
              <a:defRPr sz="1300">
                <a:solidFill>
                  <a:srgbClr val="94A3B8"/>
                </a:solidFill>
              </a:defRPr>
            </a:pPr>
            <a:r>
              <a:rPr>
                <a:solidFill>
                  <a:srgbClr val="FFFFFF"/>
                </a:solidFill>
              </a:rPr>
              <a:t>This tells the scoring engine that accuracy is critical for this agent. If the AI makes a mistake, its overall score will be heavily penalized.</a:t>
            </a:r>
          </a:p>
        </p:txBody>
      </p:sp>
      <p:pic>
        <p:nvPicPr>
          <p:cNvPr id="7" name="Picture 6" descr="media_1787040165323.png"/>
          <p:cNvPicPr>
            <a:picLocks noChangeAspect="1"/>
          </p:cNvPicPr>
          <p:nvPr/>
        </p:nvPicPr>
        <p:blipFill>
          <a:blip r:embed="rId2"/>
          <a:stretch>
            <a:fillRect/>
          </a:stretch>
        </p:blipFill>
        <p:spPr>
          <a:xfrm>
            <a:off x="6035040" y="731520"/>
            <a:ext cx="5669280" cy="5303520"/>
          </a:xfrm>
          <a:prstGeom prst="rect">
            <a:avLst/>
          </a:prstGeom>
        </p:spPr>
      </p:pic>
      <p:sp>
        <p:nvSpPr>
          <p:cNvPr id="8" name="Rectangle 7"/>
          <p:cNvSpPr/>
          <p:nvPr/>
        </p:nvSpPr>
        <p:spPr>
          <a:xfrm>
            <a:off x="0" y="6720840"/>
            <a:ext cx="12191695" cy="1371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548640" y="457200"/>
            <a:ext cx="6400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t>06</a:t>
            </a:r>
          </a:p>
        </p:txBody>
      </p:sp>
      <p:sp>
        <p:nvSpPr>
          <p:cNvPr id="3" name="TextBox 2"/>
          <p:cNvSpPr txBox="1"/>
          <p:nvPr/>
        </p:nvSpPr>
        <p:spPr>
          <a:xfrm>
            <a:off x="548640" y="1097280"/>
            <a:ext cx="5029200" cy="731520"/>
          </a:xfrm>
          <a:prstGeom prst="rect">
            <a:avLst/>
          </a:prstGeom>
          <a:noFill/>
        </p:spPr>
        <p:txBody>
          <a:bodyPr wrap="square">
            <a:spAutoFit/>
          </a:bodyPr>
          <a:lstStyle/>
          <a:p>
            <a:pPr>
              <a:defRPr sz="3600" b="1">
                <a:solidFill>
                  <a:srgbClr val="F1F5F9"/>
                </a:solidFill>
              </a:defRPr>
            </a:pPr>
            <a:r>
              <a:rPr>
                <a:solidFill>
                  <a:srgbClr val="FFFFFF"/>
                </a:solidFill>
              </a:rPr>
              <a:t>Static Data Configuration</a:t>
            </a:r>
          </a:p>
        </p:txBody>
      </p:sp>
      <p:sp>
        <p:nvSpPr>
          <p:cNvPr id="4" name="TextBox 3"/>
          <p:cNvSpPr txBox="1"/>
          <p:nvPr/>
        </p:nvSpPr>
        <p:spPr>
          <a:xfrm>
            <a:off x="548640" y="1828800"/>
            <a:ext cx="5029200" cy="457200"/>
          </a:xfrm>
          <a:prstGeom prst="rect">
            <a:avLst/>
          </a:prstGeom>
          <a:noFill/>
        </p:spPr>
        <p:txBody>
          <a:bodyPr wrap="square">
            <a:spAutoFit/>
          </a:bodyPr>
          <a:lstStyle/>
          <a:p>
            <a:pPr>
              <a:defRPr sz="1800" b="1">
                <a:solidFill>
                  <a:srgbClr val="6366F1"/>
                </a:solidFill>
              </a:defRPr>
            </a:pPr>
            <a:r>
              <a:rPr>
                <a:solidFill>
                  <a:srgbClr val="FFFFFF"/>
                </a:solidFill>
              </a:rPr>
              <a:t>Setting the Human Baseline</a:t>
            </a:r>
          </a:p>
        </p:txBody>
      </p:sp>
      <p:sp>
        <p:nvSpPr>
          <p:cNvPr id="5" name="Rounded Rectangle 4"/>
          <p:cNvSpPr/>
          <p:nvPr/>
        </p:nvSpPr>
        <p:spPr>
          <a:xfrm>
            <a:off x="548640" y="2468880"/>
            <a:ext cx="5029200" cy="914400"/>
          </a:xfrm>
          <a:prstGeom prst="round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200" b="1">
                <a:solidFill>
                  <a:srgbClr val="FFCC00"/>
                </a:solidFill>
              </a:rPr>
              <a:t>Workflow: </a:t>
            </a:r>
            <a:r>
              <a:rPr sz="1200">
                <a:solidFill>
                  <a:srgbClr val="FFFFFF"/>
                </a:solidFill>
              </a:rPr>
              <a:t>Then, you input the Human Baseline — how fast or cheap a human would do the job — so the system can prove if the AI is actually saving you time and money.</a:t>
            </a:r>
          </a:p>
        </p:txBody>
      </p:sp>
      <p:sp>
        <p:nvSpPr>
          <p:cNvPr id="6" name="TextBox 5"/>
          <p:cNvSpPr txBox="1"/>
          <p:nvPr/>
        </p:nvSpPr>
        <p:spPr>
          <a:xfrm>
            <a:off x="548640" y="3657600"/>
            <a:ext cx="5029200" cy="2926080"/>
          </a:xfrm>
          <a:prstGeom prst="rect">
            <a:avLst/>
          </a:prstGeom>
          <a:noFill/>
        </p:spPr>
        <p:txBody>
          <a:bodyPr wrap="square">
            <a:spAutoFit/>
          </a:bodyPr>
          <a:lstStyle/>
          <a:p>
            <a:pPr>
              <a:spcAft>
                <a:spcPts val="400"/>
              </a:spcAft>
              <a:defRPr sz="1300">
                <a:solidFill>
                  <a:srgbClr val="94A3B8"/>
                </a:solidFill>
              </a:defRPr>
            </a:pPr>
            <a:r>
              <a:rPr>
                <a:solidFill>
                  <a:srgbClr val="FFFFFF"/>
                </a:solidFill>
              </a:rPr>
              <a:t>To know if an AI is truly efficient, we compare it against how a human would do the same job.</a:t>
            </a:r>
          </a:p>
          <a:p>
            <a:pPr>
              <a:spcAft>
                <a:spcPts val="400"/>
              </a:spcAft>
              <a:defRPr sz="1300">
                <a:solidFill>
                  <a:srgbClr val="94A3B8"/>
                </a:solidFill>
              </a:defRPr>
            </a:pPr>
          </a:p>
          <a:p>
            <a:pPr>
              <a:spcAft>
                <a:spcPts val="400"/>
              </a:spcAft>
              <a:defRPr sz="1300">
                <a:solidFill>
                  <a:srgbClr val="94A3B8"/>
                </a:solidFill>
              </a:defRPr>
            </a:pPr>
            <a:r>
              <a:rPr>
                <a:solidFill>
                  <a:srgbClr val="FFFFFF"/>
                </a:solidFill>
              </a:rPr>
              <a:t>• If a human processes 10 invoices per hour, set baseline to 10</a:t>
            </a:r>
          </a:p>
          <a:p>
            <a:pPr>
              <a:spcAft>
                <a:spcPts val="400"/>
              </a:spcAft>
              <a:defRPr sz="1300">
                <a:solidFill>
                  <a:srgbClr val="94A3B8"/>
                </a:solidFill>
              </a:defRPr>
            </a:pPr>
            <a:r>
              <a:rPr>
                <a:solidFill>
                  <a:srgbClr val="FFFFFF"/>
                </a:solidFill>
              </a:rPr>
              <a:t>• If the AI processes 20 invoices, the system calculates it is 2x more productive</a:t>
            </a:r>
          </a:p>
          <a:p>
            <a:pPr>
              <a:spcAft>
                <a:spcPts val="400"/>
              </a:spcAft>
              <a:defRPr sz="1300">
                <a:solidFill>
                  <a:srgbClr val="94A3B8"/>
                </a:solidFill>
              </a:defRPr>
            </a:pPr>
          </a:p>
          <a:p>
            <a:pPr>
              <a:spcAft>
                <a:spcPts val="400"/>
              </a:spcAft>
              <a:defRPr sz="1300">
                <a:solidFill>
                  <a:srgbClr val="94A3B8"/>
                </a:solidFill>
              </a:defRPr>
            </a:pPr>
            <a:r>
              <a:rPr>
                <a:solidFill>
                  <a:srgbClr val="FFFFFF"/>
                </a:solidFill>
              </a:rPr>
              <a:t>This directly feeds into the Productivity and Cost dimensions.</a:t>
            </a:r>
          </a:p>
        </p:txBody>
      </p:sp>
      <p:pic>
        <p:nvPicPr>
          <p:cNvPr id="7" name="Picture 6" descr="media_1787040198522.png"/>
          <p:cNvPicPr>
            <a:picLocks noChangeAspect="1"/>
          </p:cNvPicPr>
          <p:nvPr/>
        </p:nvPicPr>
        <p:blipFill>
          <a:blip r:embed="rId2"/>
          <a:stretch>
            <a:fillRect/>
          </a:stretch>
        </p:blipFill>
        <p:spPr>
          <a:xfrm>
            <a:off x="6035040" y="731520"/>
            <a:ext cx="5669280" cy="5303520"/>
          </a:xfrm>
          <a:prstGeom prst="rect">
            <a:avLst/>
          </a:prstGeom>
        </p:spPr>
      </p:pic>
      <p:sp>
        <p:nvSpPr>
          <p:cNvPr id="8" name="Rectangle 7"/>
          <p:cNvSpPr/>
          <p:nvPr/>
        </p:nvSpPr>
        <p:spPr>
          <a:xfrm>
            <a:off x="0" y="6720840"/>
            <a:ext cx="12191695" cy="1371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548640" y="457200"/>
            <a:ext cx="6400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t>07</a:t>
            </a:r>
          </a:p>
        </p:txBody>
      </p:sp>
      <p:sp>
        <p:nvSpPr>
          <p:cNvPr id="3" name="TextBox 2"/>
          <p:cNvSpPr txBox="1"/>
          <p:nvPr/>
        </p:nvSpPr>
        <p:spPr>
          <a:xfrm>
            <a:off x="548640" y="1097280"/>
            <a:ext cx="5029200" cy="731520"/>
          </a:xfrm>
          <a:prstGeom prst="rect">
            <a:avLst/>
          </a:prstGeom>
          <a:noFill/>
        </p:spPr>
        <p:txBody>
          <a:bodyPr wrap="square">
            <a:spAutoFit/>
          </a:bodyPr>
          <a:lstStyle/>
          <a:p>
            <a:pPr>
              <a:defRPr sz="3600" b="1">
                <a:solidFill>
                  <a:srgbClr val="F1F5F9"/>
                </a:solidFill>
              </a:defRPr>
            </a:pPr>
            <a:r>
              <a:rPr>
                <a:solidFill>
                  <a:srgbClr val="FFFFFF"/>
                </a:solidFill>
              </a:rPr>
              <a:t>Manager Review</a:t>
            </a:r>
          </a:p>
        </p:txBody>
      </p:sp>
      <p:sp>
        <p:nvSpPr>
          <p:cNvPr id="4" name="TextBox 3"/>
          <p:cNvSpPr txBox="1"/>
          <p:nvPr/>
        </p:nvSpPr>
        <p:spPr>
          <a:xfrm>
            <a:off x="548640" y="1828800"/>
            <a:ext cx="5029200" cy="457200"/>
          </a:xfrm>
          <a:prstGeom prst="rect">
            <a:avLst/>
          </a:prstGeom>
          <a:noFill/>
        </p:spPr>
        <p:txBody>
          <a:bodyPr wrap="square">
            <a:spAutoFit/>
          </a:bodyPr>
          <a:lstStyle/>
          <a:p>
            <a:pPr>
              <a:defRPr sz="1800" b="1">
                <a:solidFill>
                  <a:srgbClr val="6366F1"/>
                </a:solidFill>
              </a:defRPr>
            </a:pPr>
            <a:r>
              <a:rPr>
                <a:solidFill>
                  <a:srgbClr val="FFFFFF"/>
                </a:solidFill>
              </a:rPr>
              <a:t>Human Feedback Meets AI Automation</a:t>
            </a:r>
          </a:p>
        </p:txBody>
      </p:sp>
      <p:sp>
        <p:nvSpPr>
          <p:cNvPr id="5" name="Rounded Rectangle 4"/>
          <p:cNvSpPr/>
          <p:nvPr/>
        </p:nvSpPr>
        <p:spPr>
          <a:xfrm>
            <a:off x="548640" y="2468880"/>
            <a:ext cx="5029200" cy="914400"/>
          </a:xfrm>
          <a:prstGeom prst="round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200" b="1">
                <a:solidFill>
                  <a:srgbClr val="FFCC00"/>
                </a:solidFill>
              </a:rPr>
              <a:t>Workflow: </a:t>
            </a:r>
            <a:r>
              <a:rPr sz="1200">
                <a:solidFill>
                  <a:srgbClr val="FFFFFF"/>
                </a:solidFill>
              </a:rPr>
              <a:t>A human supervisor leaves a 1 to 5 star rating. Clicking Submit automatically triggers the backend to calculate the AI's final score.</a:t>
            </a:r>
          </a:p>
        </p:txBody>
      </p:sp>
      <p:sp>
        <p:nvSpPr>
          <p:cNvPr id="6" name="TextBox 5"/>
          <p:cNvSpPr txBox="1"/>
          <p:nvPr/>
        </p:nvSpPr>
        <p:spPr>
          <a:xfrm>
            <a:off x="548640" y="3657600"/>
            <a:ext cx="5029200" cy="2926080"/>
          </a:xfrm>
          <a:prstGeom prst="rect">
            <a:avLst/>
          </a:prstGeom>
          <a:noFill/>
        </p:spPr>
        <p:txBody>
          <a:bodyPr wrap="square">
            <a:spAutoFit/>
          </a:bodyPr>
          <a:lstStyle/>
          <a:p>
            <a:pPr>
              <a:spcAft>
                <a:spcPts val="400"/>
              </a:spcAft>
              <a:defRPr sz="1300">
                <a:solidFill>
                  <a:srgbClr val="94A3B8"/>
                </a:solidFill>
              </a:defRPr>
            </a:pPr>
            <a:r>
              <a:rPr>
                <a:solidFill>
                  <a:srgbClr val="FFFFFF"/>
                </a:solidFill>
              </a:rPr>
              <a:t>Numbers don't tell the whole story. The Manager Review blends subjective human feedback with objective data.</a:t>
            </a:r>
          </a:p>
          <a:p>
            <a:pPr>
              <a:spcAft>
                <a:spcPts val="400"/>
              </a:spcAft>
              <a:defRPr sz="1300">
                <a:solidFill>
                  <a:srgbClr val="94A3B8"/>
                </a:solidFill>
              </a:defRPr>
            </a:pPr>
          </a:p>
          <a:p>
            <a:pPr>
              <a:spcAft>
                <a:spcPts val="400"/>
              </a:spcAft>
              <a:defRPr sz="1300">
                <a:solidFill>
                  <a:srgbClr val="94A3B8"/>
                </a:solidFill>
              </a:defRPr>
            </a:pPr>
            <a:r>
              <a:rPr>
                <a:solidFill>
                  <a:srgbClr val="FFFFFF"/>
                </a:solidFill>
              </a:rPr>
              <a:t>• The manager selects a rating from 1 to 5</a:t>
            </a:r>
          </a:p>
          <a:p>
            <a:pPr>
              <a:spcAft>
                <a:spcPts val="400"/>
              </a:spcAft>
              <a:defRPr sz="1300">
                <a:solidFill>
                  <a:srgbClr val="94A3B8"/>
                </a:solidFill>
              </a:defRPr>
            </a:pPr>
            <a:r>
              <a:rPr>
                <a:solidFill>
                  <a:srgbClr val="FFFFFF"/>
                </a:solidFill>
              </a:rPr>
              <a:t>• Leaves written comments or improvement plans</a:t>
            </a:r>
          </a:p>
          <a:p>
            <a:pPr>
              <a:spcAft>
                <a:spcPts val="400"/>
              </a:spcAft>
              <a:defRPr sz="1300">
                <a:solidFill>
                  <a:srgbClr val="94A3B8"/>
                </a:solidFill>
              </a:defRPr>
            </a:pPr>
            <a:r>
              <a:rPr>
                <a:solidFill>
                  <a:srgbClr val="FFFFFF"/>
                </a:solidFill>
              </a:rPr>
              <a:t>• Clicking Submit triggers the automated evaluation</a:t>
            </a:r>
          </a:p>
          <a:p>
            <a:pPr>
              <a:spcAft>
                <a:spcPts val="400"/>
              </a:spcAft>
              <a:defRPr sz="1300">
                <a:solidFill>
                  <a:srgbClr val="94A3B8"/>
                </a:solidFill>
              </a:defRPr>
            </a:pPr>
          </a:p>
          <a:p>
            <a:pPr>
              <a:spcAft>
                <a:spcPts val="400"/>
              </a:spcAft>
              <a:defRPr sz="1300">
                <a:solidFill>
                  <a:srgbClr val="94A3B8"/>
                </a:solidFill>
              </a:defRPr>
            </a:pPr>
            <a:r>
              <a:rPr>
                <a:solidFill>
                  <a:srgbClr val="FFFFFF"/>
                </a:solidFill>
              </a:rPr>
              <a:t>The system gathers the baseline, KRA weights, and feedback, then runs a full telemetry evaluation in the background.</a:t>
            </a:r>
          </a:p>
        </p:txBody>
      </p:sp>
      <p:pic>
        <p:nvPicPr>
          <p:cNvPr id="7" name="Picture 6" descr="media_1787040244530.png"/>
          <p:cNvPicPr>
            <a:picLocks noChangeAspect="1"/>
          </p:cNvPicPr>
          <p:nvPr/>
        </p:nvPicPr>
        <p:blipFill>
          <a:blip r:embed="rId2"/>
          <a:stretch>
            <a:fillRect/>
          </a:stretch>
        </p:blipFill>
        <p:spPr>
          <a:xfrm>
            <a:off x="6035040" y="731520"/>
            <a:ext cx="5669280" cy="5303520"/>
          </a:xfrm>
          <a:prstGeom prst="rect">
            <a:avLst/>
          </a:prstGeom>
        </p:spPr>
      </p:pic>
      <p:sp>
        <p:nvSpPr>
          <p:cNvPr id="8" name="Rectangle 7"/>
          <p:cNvSpPr/>
          <p:nvPr/>
        </p:nvSpPr>
        <p:spPr>
          <a:xfrm>
            <a:off x="0" y="6720840"/>
            <a:ext cx="12191695" cy="1371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548640" y="457200"/>
            <a:ext cx="6400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t>08</a:t>
            </a:r>
          </a:p>
        </p:txBody>
      </p:sp>
      <p:sp>
        <p:nvSpPr>
          <p:cNvPr id="3" name="TextBox 2"/>
          <p:cNvSpPr txBox="1"/>
          <p:nvPr/>
        </p:nvSpPr>
        <p:spPr>
          <a:xfrm>
            <a:off x="548640" y="1097280"/>
            <a:ext cx="5029200" cy="731520"/>
          </a:xfrm>
          <a:prstGeom prst="rect">
            <a:avLst/>
          </a:prstGeom>
          <a:noFill/>
        </p:spPr>
        <p:txBody>
          <a:bodyPr wrap="square">
            <a:spAutoFit/>
          </a:bodyPr>
          <a:lstStyle/>
          <a:p>
            <a:pPr>
              <a:defRPr sz="3600" b="1">
                <a:solidFill>
                  <a:srgbClr val="F1F5F9"/>
                </a:solidFill>
              </a:defRPr>
            </a:pPr>
            <a:r>
              <a:rPr>
                <a:solidFill>
                  <a:srgbClr val="FFFFFF"/>
                </a:solidFill>
              </a:rPr>
              <a:t>The DPI-LS Dashboard</a:t>
            </a:r>
          </a:p>
        </p:txBody>
      </p:sp>
      <p:sp>
        <p:nvSpPr>
          <p:cNvPr id="4" name="TextBox 3"/>
          <p:cNvSpPr txBox="1"/>
          <p:nvPr/>
        </p:nvSpPr>
        <p:spPr>
          <a:xfrm>
            <a:off x="548640" y="1828800"/>
            <a:ext cx="5029200" cy="457200"/>
          </a:xfrm>
          <a:prstGeom prst="rect">
            <a:avLst/>
          </a:prstGeom>
          <a:noFill/>
        </p:spPr>
        <p:txBody>
          <a:bodyPr wrap="square">
            <a:spAutoFit/>
          </a:bodyPr>
          <a:lstStyle/>
          <a:p>
            <a:pPr>
              <a:defRPr sz="1800" b="1">
                <a:solidFill>
                  <a:srgbClr val="6366F1"/>
                </a:solidFill>
              </a:defRPr>
            </a:pPr>
            <a:r>
              <a:rPr>
                <a:solidFill>
                  <a:srgbClr val="FFFFFF"/>
                </a:solidFill>
              </a:rPr>
              <a:t>Your Central Command Center</a:t>
            </a:r>
          </a:p>
        </p:txBody>
      </p:sp>
      <p:sp>
        <p:nvSpPr>
          <p:cNvPr id="5" name="Rounded Rectangle 4"/>
          <p:cNvSpPr/>
          <p:nvPr/>
        </p:nvSpPr>
        <p:spPr>
          <a:xfrm>
            <a:off x="548640" y="2468880"/>
            <a:ext cx="5029200" cy="914400"/>
          </a:xfrm>
          <a:prstGeom prst="round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200" b="1">
                <a:solidFill>
                  <a:srgbClr val="FFCC00"/>
                </a:solidFill>
              </a:rPr>
              <a:t>Workflow: </a:t>
            </a:r>
            <a:r>
              <a:rPr sz="1200">
                <a:solidFill>
                  <a:srgbClr val="FFFFFF"/>
                </a:solidFill>
              </a:rPr>
              <a:t>All the automation finishes and the results flow into this live command center, where executives can monitor all agents at a glance.</a:t>
            </a:r>
          </a:p>
        </p:txBody>
      </p:sp>
      <p:sp>
        <p:nvSpPr>
          <p:cNvPr id="6" name="TextBox 5"/>
          <p:cNvSpPr txBox="1"/>
          <p:nvPr/>
        </p:nvSpPr>
        <p:spPr>
          <a:xfrm>
            <a:off x="548640" y="3657600"/>
            <a:ext cx="5029200" cy="2926080"/>
          </a:xfrm>
          <a:prstGeom prst="rect">
            <a:avLst/>
          </a:prstGeom>
          <a:noFill/>
        </p:spPr>
        <p:txBody>
          <a:bodyPr wrap="square">
            <a:spAutoFit/>
          </a:bodyPr>
          <a:lstStyle/>
          <a:p>
            <a:pPr>
              <a:spcAft>
                <a:spcPts val="400"/>
              </a:spcAft>
              <a:defRPr sz="1300">
                <a:solidFill>
                  <a:srgbClr val="94A3B8"/>
                </a:solidFill>
              </a:defRPr>
            </a:pPr>
            <a:r>
              <a:rPr>
                <a:solidFill>
                  <a:srgbClr val="FFFFFF"/>
                </a:solidFill>
              </a:rPr>
              <a:t>The Dashboard has four main sections:</a:t>
            </a:r>
          </a:p>
          <a:p>
            <a:pPr>
              <a:spcAft>
                <a:spcPts val="400"/>
              </a:spcAft>
              <a:defRPr sz="1300">
                <a:solidFill>
                  <a:srgbClr val="94A3B8"/>
                </a:solidFill>
              </a:defRPr>
            </a:pPr>
          </a:p>
          <a:p>
            <a:pPr>
              <a:spcAft>
                <a:spcPts val="400"/>
              </a:spcAft>
              <a:defRPr sz="1300">
                <a:solidFill>
                  <a:srgbClr val="94A3B8"/>
                </a:solidFill>
              </a:defRPr>
            </a:pPr>
            <a:r>
              <a:rPr>
                <a:solidFill>
                  <a:srgbClr val="FFFFFF"/>
                </a:solidFill>
              </a:rPr>
              <a:t>• Dashboard — The main leaderboard with scores across 7 dimensions</a:t>
            </a:r>
          </a:p>
          <a:p>
            <a:pPr>
              <a:spcAft>
                <a:spcPts val="400"/>
              </a:spcAft>
              <a:defRPr sz="1300">
                <a:solidFill>
                  <a:srgbClr val="94A3B8"/>
                </a:solidFill>
              </a:defRPr>
            </a:pPr>
            <a:r>
              <a:rPr>
                <a:solidFill>
                  <a:srgbClr val="FFFFFF"/>
                </a:solidFill>
              </a:rPr>
              <a:t>• Resources — Documentation and AI operations manuals</a:t>
            </a:r>
          </a:p>
          <a:p>
            <a:pPr>
              <a:spcAft>
                <a:spcPts val="400"/>
              </a:spcAft>
              <a:defRPr sz="1300">
                <a:solidFill>
                  <a:srgbClr val="94A3B8"/>
                </a:solidFill>
              </a:defRPr>
            </a:pPr>
            <a:r>
              <a:rPr>
                <a:solidFill>
                  <a:srgbClr val="FFFFFF"/>
                </a:solidFill>
              </a:rPr>
              <a:t>• DPI-LS Score — Detailed scoring methodology breakdown</a:t>
            </a:r>
          </a:p>
          <a:p>
            <a:pPr>
              <a:spcAft>
                <a:spcPts val="400"/>
              </a:spcAft>
              <a:defRPr sz="1300">
                <a:solidFill>
                  <a:srgbClr val="94A3B8"/>
                </a:solidFill>
              </a:defRPr>
            </a:pPr>
            <a:r>
              <a:rPr>
                <a:solidFill>
                  <a:srgbClr val="FFFFFF"/>
                </a:solidFill>
              </a:rPr>
              <a:t>• Submit Customer Feedback — End-user portal that feeds into Quality scores</a:t>
            </a:r>
          </a:p>
        </p:txBody>
      </p:sp>
      <p:pic>
        <p:nvPicPr>
          <p:cNvPr id="7" name="Picture 6" descr="media_1787040272042.png"/>
          <p:cNvPicPr>
            <a:picLocks noChangeAspect="1"/>
          </p:cNvPicPr>
          <p:nvPr/>
        </p:nvPicPr>
        <p:blipFill>
          <a:blip r:embed="rId2"/>
          <a:stretch>
            <a:fillRect/>
          </a:stretch>
        </p:blipFill>
        <p:spPr>
          <a:xfrm>
            <a:off x="6035040" y="731520"/>
            <a:ext cx="5669280" cy="5303520"/>
          </a:xfrm>
          <a:prstGeom prst="rect">
            <a:avLst/>
          </a:prstGeom>
        </p:spPr>
      </p:pic>
      <p:sp>
        <p:nvSpPr>
          <p:cNvPr id="8" name="Rectangle 7"/>
          <p:cNvSpPr/>
          <p:nvPr/>
        </p:nvSpPr>
        <p:spPr>
          <a:xfrm>
            <a:off x="0" y="6720840"/>
            <a:ext cx="12191695" cy="1371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548640" y="457200"/>
            <a:ext cx="6400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a:solidFill>
                  <a:srgbClr val="FFFFFF"/>
                </a:solidFill>
              </a:rPr>
              <a:t>09</a:t>
            </a:r>
          </a:p>
        </p:txBody>
      </p:sp>
      <p:sp>
        <p:nvSpPr>
          <p:cNvPr id="3" name="TextBox 2"/>
          <p:cNvSpPr txBox="1"/>
          <p:nvPr/>
        </p:nvSpPr>
        <p:spPr>
          <a:xfrm>
            <a:off x="548640" y="1097280"/>
            <a:ext cx="5029200" cy="731520"/>
          </a:xfrm>
          <a:prstGeom prst="rect">
            <a:avLst/>
          </a:prstGeom>
          <a:noFill/>
        </p:spPr>
        <p:txBody>
          <a:bodyPr wrap="square">
            <a:spAutoFit/>
          </a:bodyPr>
          <a:lstStyle/>
          <a:p>
            <a:r>
              <a:rPr>
                <a:solidFill>
                  <a:srgbClr val="FFFFFF"/>
                </a:solidFill>
              </a:rPr>
              <a:t>Agent Profile View</a:t>
            </a:r>
          </a:p>
        </p:txBody>
      </p:sp>
      <p:sp>
        <p:nvSpPr>
          <p:cNvPr id="4" name="TextBox 3"/>
          <p:cNvSpPr txBox="1"/>
          <p:nvPr/>
        </p:nvSpPr>
        <p:spPr>
          <a:xfrm>
            <a:off x="548640" y="1828800"/>
            <a:ext cx="5029200" cy="457200"/>
          </a:xfrm>
          <a:prstGeom prst="rect">
            <a:avLst/>
          </a:prstGeom>
          <a:noFill/>
        </p:spPr>
        <p:txBody>
          <a:bodyPr wrap="square">
            <a:spAutoFit/>
          </a:bodyPr>
          <a:lstStyle/>
          <a:p>
            <a:r>
              <a:rPr>
                <a:solidFill>
                  <a:srgbClr val="FFFFFF"/>
                </a:solidFill>
              </a:rPr>
              <a:t>Deep Dive into Digital Worker Configurations</a:t>
            </a:r>
          </a:p>
        </p:txBody>
      </p:sp>
      <p:sp>
        <p:nvSpPr>
          <p:cNvPr id="5" name="Rounded Rectangle 4"/>
          <p:cNvSpPr/>
          <p:nvPr/>
        </p:nvSpPr>
        <p:spPr>
          <a:xfrm>
            <a:off x="548640" y="2468880"/>
            <a:ext cx="5029200" cy="914400"/>
          </a:xfrm>
          <a:prstGeom prst="round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r>
              <a:rPr>
                <a:solidFill>
                  <a:srgbClr val="FFCC00"/>
                </a:solidFill>
              </a:rPr>
              <a:t>Workflow: After an end-user submits Customer Feedback, the system automatically redirects them here to the Agent Profile page.</a:t>
            </a:r>
          </a:p>
        </p:txBody>
      </p:sp>
      <p:sp>
        <p:nvSpPr>
          <p:cNvPr id="6" name="TextBox 5"/>
          <p:cNvSpPr txBox="1"/>
          <p:nvPr/>
        </p:nvSpPr>
        <p:spPr>
          <a:xfrm>
            <a:off x="548640" y="3657600"/>
            <a:ext cx="5029200" cy="2926080"/>
          </a:xfrm>
          <a:prstGeom prst="rect">
            <a:avLst/>
          </a:prstGeom>
          <a:noFill/>
        </p:spPr>
        <p:txBody>
          <a:bodyPr wrap="square">
            <a:spAutoFit/>
          </a:bodyPr>
          <a:lstStyle/>
          <a:p>
            <a:r>
              <a:rPr>
                <a:solidFill>
                  <a:srgbClr val="FFFFFF"/>
                </a:solidFill>
              </a:rPr>
              <a:t>What is the Agent Profile?</a:t>
            </a:r>
          </a:p>
          <a:p/>
          <a:p>
            <a:r>
              <a:rPr>
                <a:solidFill>
                  <a:srgbClr val="FFFFFF"/>
                </a:solidFill>
              </a:rPr>
              <a:t> Provides complete transparency into a specific AI worker.</a:t>
            </a:r>
          </a:p>
          <a:p>
            <a:r>
              <a:rPr>
                <a:solidFill>
                  <a:srgbClr val="FFFFFF"/>
                </a:solidFill>
              </a:rPr>
              <a:t> Displays the assigned Business, Technical, and Manager owners.</a:t>
            </a:r>
          </a:p>
          <a:p>
            <a:r>
              <a:rPr>
                <a:solidFill>
                  <a:srgbClr val="FFFFFF"/>
                </a:solidFill>
              </a:rPr>
              <a:t> Shows the exact KRA weights and static human baselines used for scoring.</a:t>
            </a:r>
          </a:p>
          <a:p>
            <a:r>
              <a:rPr>
                <a:solidFill>
                  <a:srgbClr val="FFFFFF"/>
                </a:solidFill>
              </a:rPr>
              <a:t> Can be accessed instantly by clicking an agents name on the Dashboard.</a:t>
            </a:r>
          </a:p>
        </p:txBody>
      </p:sp>
      <p:sp>
        <p:nvSpPr>
          <p:cNvPr id="8" name="Rectangle 7"/>
          <p:cNvSpPr/>
          <p:nvPr/>
        </p:nvSpPr>
        <p:spPr>
          <a:xfrm>
            <a:off x="0" y="6720840"/>
            <a:ext cx="12191695" cy="1371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edia_1787210124580.png"/>
          <p:cNvPicPr>
            <a:picLocks noChangeAspect="1"/>
          </p:cNvPicPr>
          <p:nvPr/>
        </p:nvPicPr>
        <p:blipFill>
          <a:blip r:embed="rId2"/>
          <a:stretch>
            <a:fillRect/>
          </a:stretch>
        </p:blipFill>
        <p:spPr>
          <a:xfrm>
            <a:off x="4572000" y="1828800"/>
            <a:ext cx="4114800" cy="245521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