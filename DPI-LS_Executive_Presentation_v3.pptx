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56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Arial"/>
              </a:defRPr>
            </a:pPr>
            <a:r>
              <a:t>DPI-LS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E5E7EB"/>
                </a:solidFill>
                <a:latin typeface="Arial"/>
              </a:defRPr>
            </a:pPr>
            <a:r>
              <a:t>Executive Summary: Operationalizing Agent Observability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4552" cy="18288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A855F7"/>
                </a:solidFill>
                <a:latin typeface="Arial"/>
              </a:defRPr>
            </a:pPr>
            <a:r>
              <a:t>WHAT IS DPI-LS?</a:t>
            </a:r>
          </a:p>
          <a:p>
            <a:pPr>
              <a:spcAft>
                <a:spcPts val="800"/>
              </a:spcAft>
              <a:defRPr sz="1300">
                <a:solidFill>
                  <a:srgbClr val="E5E7EB"/>
                </a:solidFill>
                <a:latin typeface="Arial"/>
              </a:defRPr>
            </a:pPr>
            <a:r>
              <a:t>• DPI-LS (Digital Performance Index for AI Agents) is an enterprise-grade scoring engine that measures AI Agent performance across 7 business dimensions.</a:t>
            </a:r>
          </a:p>
          <a:p>
            <a:pPr>
              <a:spcAft>
                <a:spcPts val="800"/>
              </a:spcAft>
              <a:defRPr sz="1300">
                <a:solidFill>
                  <a:srgbClr val="E5E7EB"/>
                </a:solidFill>
                <a:latin typeface="Arial"/>
              </a:defRPr>
            </a:pPr>
            <a:r>
              <a:t>• Bridges the gap between raw backend telemetry and executive business KPIs.</a:t>
            </a:r>
          </a:p>
          <a:p>
            <a:pPr>
              <a:spcAft>
                <a:spcPts val="800"/>
              </a:spcAft>
              <a:defRPr sz="1300">
                <a:solidFill>
                  <a:srgbClr val="E5E7EB"/>
                </a:solidFill>
                <a:latin typeface="Arial"/>
              </a:defRPr>
            </a:pPr>
            <a:r>
              <a:t>• Current Target Agent: 'Chandra FinOps' - an autonomous agent auditing cloud billing systems.</a:t>
            </a:r>
          </a:p>
          <a:p>
            <a:pPr>
              <a:spcAft>
                <a:spcPts val="800"/>
              </a:spcAft>
              <a:defRPr sz="1300">
                <a:solidFill>
                  <a:srgbClr val="E5E7EB"/>
                </a:solidFill>
                <a:latin typeface="Arial"/>
              </a:defRPr>
            </a:pPr>
            <a:r>
              <a:t>• Latest Verified Score: 95.9 / 100</a:t>
            </a:r>
          </a:p>
          <a:p>
            <a:pPr>
              <a:spcAft>
                <a:spcPts val="800"/>
              </a:spcAft>
              <a:defRPr sz="1300">
                <a:solidFill>
                  <a:srgbClr val="E5E7EB"/>
                </a:solidFill>
                <a:latin typeface="Arial"/>
              </a:defRPr>
            </a:pPr>
            <a:r>
              <a:t>• Performance Band: EXCEPTIONAL (C-Suite &amp; Auditor ready).</a:t>
            </a:r>
          </a:p>
          <a:p>
            <a:pPr>
              <a:spcAft>
                <a:spcPts val="800"/>
              </a:spcAft>
              <a:defRPr sz="1300">
                <a:solidFill>
                  <a:srgbClr val="E5E7EB"/>
                </a:solidFill>
                <a:latin typeface="Arial"/>
              </a:defRPr>
            </a:pPr>
            <a:r>
              <a:t>• Telemetry Integration Status: Fully operational in local, sandbox and staging environments.</a:t>
            </a:r>
          </a:p>
        </p:txBody>
      </p:sp>
      <p:pic>
        <p:nvPicPr>
          <p:cNvPr id="6" name="Picture 5" descr="media__17822932679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Arial"/>
              </a:defRPr>
            </a:pPr>
            <a:r>
              <a:t>BUSINESS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E5E7EB"/>
                </a:solidFill>
                <a:latin typeface="Arial"/>
              </a:defRPr>
            </a:pPr>
            <a:r>
              <a:t>The Enterprise AI Blindspot: Six Key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4552" cy="18288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CA3AF"/>
                </a:solidFill>
                <a:latin typeface="Arial"/>
              </a:defRPr>
            </a:pPr>
            <a:r>
              <a:t>Organizations are deploying AI Agents at scale, yet they lack the tools to audit their operational and financial performance.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3474720" cy="2011680"/>
          </a:xfrm>
          <a:prstGeom prst="roundRect">
            <a:avLst/>
          </a:prstGeom>
          <a:solidFill>
            <a:srgbClr val="181E3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59E0B"/>
                </a:solidFill>
                <a:latin typeface="Arial"/>
              </a:defRPr>
            </a:pPr>
            <a:r>
              <a:t>IS THE AI PRODUCTIVE?</a:t>
            </a:r>
          </a:p>
          <a:p>
            <a:pPr>
              <a:spcAft>
                <a:spcPts val="400"/>
              </a:spcAft>
              <a:defRPr sz="1000">
                <a:solidFill>
                  <a:srgbClr val="E5E7EB"/>
                </a:solidFill>
                <a:latin typeface="Arial"/>
              </a:defRPr>
            </a:pPr>
            <a:r>
              <a:t>• How many outputs are completed?</a:t>
            </a:r>
          </a:p>
          <a:p>
            <a:pPr>
              <a:spcAft>
                <a:spcPts val="400"/>
              </a:spcAft>
              <a:defRPr sz="1000">
                <a:solidFill>
                  <a:srgbClr val="E5E7EB"/>
                </a:solidFill>
                <a:latin typeface="Arial"/>
              </a:defRPr>
            </a:pPr>
            <a:r>
              <a:t>• What is the baseline output?</a:t>
            </a:r>
          </a:p>
          <a:p>
            <a:pPr>
              <a:spcAft>
                <a:spcPts val="400"/>
              </a:spcAft>
              <a:defRPr sz="1000">
                <a:solidFill>
                  <a:srgbClr val="E5E7EB"/>
                </a:solidFill>
                <a:latin typeface="Arial"/>
              </a:defRPr>
            </a:pPr>
            <a:r>
              <a:t>• How does it scale per period?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011680"/>
            <a:ext cx="3474720" cy="2011680"/>
          </a:xfrm>
          <a:prstGeom prst="roundRect">
            <a:avLst/>
          </a:prstGeom>
          <a:solidFill>
            <a:srgbClr val="181E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80560" y="214884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0B981"/>
                </a:solidFill>
                <a:latin typeface="Arial"/>
              </a:defRPr>
            </a:pPr>
            <a:r>
              <a:t>IS THE AI ACCURATE?</a:t>
            </a:r>
          </a:p>
          <a:p>
            <a:pPr>
              <a:spcAft>
                <a:spcPts val="400"/>
              </a:spcAft>
              <a:defRPr sz="1000">
                <a:solidFill>
                  <a:srgbClr val="E5E7EB"/>
                </a:solidFill>
                <a:latin typeface="Arial"/>
              </a:defRPr>
            </a:pPr>
            <a:r>
              <a:t>• Are hallucinations tracked?</a:t>
            </a:r>
          </a:p>
          <a:p>
            <a:pPr>
              <a:spcAft>
                <a:spcPts val="400"/>
              </a:spcAft>
              <a:defRPr sz="1000">
                <a:solidFill>
                  <a:srgbClr val="E5E7EB"/>
                </a:solidFill>
                <a:latin typeface="Arial"/>
              </a:defRPr>
            </a:pPr>
            <a:r>
              <a:t>• Is groundedness monitored?</a:t>
            </a:r>
          </a:p>
          <a:p>
            <a:pPr>
              <a:spcAft>
                <a:spcPts val="400"/>
              </a:spcAft>
              <a:defRPr sz="1000">
                <a:solidFill>
                  <a:srgbClr val="E5E7EB"/>
                </a:solidFill>
                <a:latin typeface="Arial"/>
              </a:defRPr>
            </a:pPr>
            <a:r>
              <a:t>• Is output aligned with source data?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2011680"/>
            <a:ext cx="3474720" cy="2011680"/>
          </a:xfrm>
          <a:prstGeom prst="roundRect">
            <a:avLst/>
          </a:prstGeom>
          <a:solidFill>
            <a:srgbClr val="181E30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40" y="214884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A855F7"/>
                </a:solidFill>
                <a:latin typeface="Arial"/>
              </a:defRPr>
            </a:pPr>
            <a:r>
              <a:t>IS THE AI COST-EFFECTIVE?</a:t>
            </a:r>
          </a:p>
          <a:p>
            <a:pPr>
              <a:spcAft>
                <a:spcPts val="400"/>
              </a:spcAft>
              <a:defRPr sz="1000">
                <a:solidFill>
                  <a:srgbClr val="E5E7EB"/>
                </a:solidFill>
                <a:latin typeface="Arial"/>
              </a:defRPr>
            </a:pPr>
            <a:r>
              <a:t>• What is the cost per output?</a:t>
            </a:r>
          </a:p>
          <a:p>
            <a:pPr>
              <a:spcAft>
                <a:spcPts val="400"/>
              </a:spcAft>
              <a:defRPr sz="1000">
                <a:solidFill>
                  <a:srgbClr val="E5E7EB"/>
                </a:solidFill>
                <a:latin typeface="Arial"/>
              </a:defRPr>
            </a:pPr>
            <a:r>
              <a:t>• Model vs. Infra vs. Storage?</a:t>
            </a:r>
          </a:p>
          <a:p>
            <a:pPr>
              <a:spcAft>
                <a:spcPts val="400"/>
              </a:spcAft>
              <a:defRPr sz="1000">
                <a:solidFill>
                  <a:srgbClr val="E5E7EB"/>
                </a:solidFill>
                <a:latin typeface="Arial"/>
              </a:defRPr>
            </a:pPr>
            <a:r>
              <a:t>• ROI compared to human FTE?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297680"/>
            <a:ext cx="3474720" cy="2011680"/>
          </a:xfrm>
          <a:prstGeom prst="roundRect">
            <a:avLst/>
          </a:prstGeom>
          <a:solidFill>
            <a:srgbClr val="181E3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443484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59E0B"/>
                </a:solidFill>
                <a:latin typeface="Arial"/>
              </a:defRPr>
            </a:pPr>
            <a:r>
              <a:t>IS THE AI GOVERNED?</a:t>
            </a:r>
          </a:p>
          <a:p>
            <a:pPr>
              <a:spcAft>
                <a:spcPts val="400"/>
              </a:spcAft>
              <a:defRPr sz="1000">
                <a:solidFill>
                  <a:srgbClr val="E5E7EB"/>
                </a:solidFill>
                <a:latin typeface="Arial"/>
              </a:defRPr>
            </a:pPr>
            <a:r>
              <a:t>• Are compliance rules enforced?</a:t>
            </a:r>
          </a:p>
          <a:p>
            <a:pPr>
              <a:spcAft>
                <a:spcPts val="400"/>
              </a:spcAft>
              <a:defRPr sz="1000">
                <a:solidFill>
                  <a:srgbClr val="E5E7EB"/>
                </a:solidFill>
                <a:latin typeface="Arial"/>
              </a:defRPr>
            </a:pPr>
            <a:r>
              <a:t>• Policy violations detected?</a:t>
            </a:r>
          </a:p>
          <a:p>
            <a:pPr>
              <a:spcAft>
                <a:spcPts val="400"/>
              </a:spcAft>
              <a:defRPr sz="1000">
                <a:solidFill>
                  <a:srgbClr val="E5E7EB"/>
                </a:solidFill>
                <a:latin typeface="Arial"/>
              </a:defRPr>
            </a:pPr>
            <a:r>
              <a:t>• Are guardrails active?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4297680"/>
            <a:ext cx="3474720" cy="2011680"/>
          </a:xfrm>
          <a:prstGeom prst="roundRect">
            <a:avLst/>
          </a:prstGeom>
          <a:solidFill>
            <a:srgbClr val="181E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80560" y="443484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0B981"/>
                </a:solidFill>
                <a:latin typeface="Arial"/>
              </a:defRPr>
            </a:pPr>
            <a:r>
              <a:t>IS THE AI VALIDATED?</a:t>
            </a:r>
          </a:p>
          <a:p>
            <a:pPr>
              <a:spcAft>
                <a:spcPts val="400"/>
              </a:spcAft>
              <a:defRPr sz="1000">
                <a:solidFill>
                  <a:srgbClr val="E5E7EB"/>
                </a:solidFill>
                <a:latin typeface="Arial"/>
              </a:defRPr>
            </a:pPr>
            <a:r>
              <a:t>• Are tools audit-ready?</a:t>
            </a:r>
          </a:p>
          <a:p>
            <a:pPr>
              <a:spcAft>
                <a:spcPts val="400"/>
              </a:spcAft>
              <a:defRPr sz="1000">
                <a:solidFill>
                  <a:srgbClr val="E5E7EB"/>
                </a:solidFill>
                <a:latin typeface="Arial"/>
              </a:defRPr>
            </a:pPr>
            <a:r>
              <a:t>• Component dependencies logged?</a:t>
            </a:r>
          </a:p>
          <a:p>
            <a:pPr>
              <a:spcAft>
                <a:spcPts val="400"/>
              </a:spcAft>
              <a:defRPr sz="1000">
                <a:solidFill>
                  <a:srgbClr val="E5E7EB"/>
                </a:solidFill>
                <a:latin typeface="Arial"/>
              </a:defRPr>
            </a:pPr>
            <a:r>
              <a:t>• Are checks verified at runtime?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4297680"/>
            <a:ext cx="3474720" cy="2011680"/>
          </a:xfrm>
          <a:prstGeom prst="roundRect">
            <a:avLst/>
          </a:prstGeom>
          <a:solidFill>
            <a:srgbClr val="181E30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0" y="443484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A855F7"/>
                </a:solidFill>
                <a:latin typeface="Arial"/>
              </a:defRPr>
            </a:pPr>
            <a:r>
              <a:t>IS THE AI SCALABLE?</a:t>
            </a:r>
          </a:p>
          <a:p>
            <a:pPr>
              <a:spcAft>
                <a:spcPts val="400"/>
              </a:spcAft>
              <a:defRPr sz="1000">
                <a:solidFill>
                  <a:srgbClr val="E5E7EB"/>
                </a:solidFill>
                <a:latin typeface="Arial"/>
              </a:defRPr>
            </a:pPr>
            <a:r>
              <a:t>• CPU &amp; host utilization rates?</a:t>
            </a:r>
          </a:p>
          <a:p>
            <a:pPr>
              <a:spcAft>
                <a:spcPts val="400"/>
              </a:spcAft>
              <a:defRPr sz="1000">
                <a:solidFill>
                  <a:srgbClr val="E5E7EB"/>
                </a:solidFill>
                <a:latin typeface="Arial"/>
              </a:defRPr>
            </a:pPr>
            <a:r>
              <a:t>• System latencies and errors?</a:t>
            </a:r>
          </a:p>
          <a:p>
            <a:pPr>
              <a:spcAft>
                <a:spcPts val="400"/>
              </a:spcAft>
              <a:defRPr sz="1000">
                <a:solidFill>
                  <a:srgbClr val="E5E7EB"/>
                </a:solidFill>
                <a:latin typeface="Arial"/>
              </a:defRPr>
            </a:pPr>
            <a:r>
              <a:t>• Exceptions tracked per run?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Arial"/>
              </a:defRPr>
            </a:pPr>
            <a:r>
              <a:t>BUSINESS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E5E7EB"/>
                </a:solidFill>
                <a:latin typeface="Arial"/>
              </a:defRPr>
            </a:pPr>
            <a:r>
              <a:t>Enterprise Business Value &amp; Replaced FTE ROI Case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4552" cy="18288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9E0B"/>
                </a:solidFill>
                <a:latin typeface="Arial"/>
              </a:defRPr>
            </a:pPr>
            <a:r>
              <a:t>THE REPLACED FTE FINANCIAL MODEL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Human FTE Baseline: $6,000 monthly cost per resource, executing 120 reports ($50.00 cost per output).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AI Agent Cost (Current Model): $0.0077 token cost per report run.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Cost per Output: Replaces a $50.00 manual invoice check with a sub-cent automated verification.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Monthly Savings: At 120 outputs, AI cost is $0.92, generating $5,999.08 in direct savings.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Savings %: 99.98% cost reduction.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ROI %: 652,000% yield on direct LLM API spend.</a:t>
            </a:r>
          </a:p>
        </p:txBody>
      </p:sp>
      <p:pic>
        <p:nvPicPr>
          <p:cNvPr id="6" name="Picture 5" descr="media__17822933581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Arial"/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E5E7EB"/>
                </a:solidFill>
                <a:latin typeface="Arial"/>
              </a:defRPr>
            </a:pPr>
            <a:r>
              <a:t>Telemetry-to-Score Architecture &amp; Data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4552" cy="18288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2468880" cy="1645920"/>
          </a:xfrm>
          <a:prstGeom prst="roundRect">
            <a:avLst/>
          </a:prstGeom>
          <a:solidFill>
            <a:srgbClr val="181E30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0B981"/>
                </a:solidFill>
                <a:latin typeface="Arial"/>
              </a:defRPr>
            </a:pPr>
            <a:r>
              <a:t>1. Agent Run</a:t>
            </a:r>
          </a:p>
          <a:p>
            <a:pPr algn="ctr">
              <a:spcBef>
                <a:spcPts val="800"/>
              </a:spcBef>
              <a:defRPr sz="1000">
                <a:solidFill>
                  <a:srgbClr val="E5E7EB"/>
                </a:solidFill>
                <a:latin typeface="Arial"/>
              </a:defRPr>
            </a:pPr>
            <a:r>
              <a:t>Chandra Agent executes tasks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828800"/>
            <a:ext cx="2468880" cy="1645920"/>
          </a:xfrm>
          <a:prstGeom prst="roundRect">
            <a:avLst/>
          </a:prstGeom>
          <a:solidFill>
            <a:srgbClr val="181E30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0B981"/>
                </a:solidFill>
                <a:latin typeface="Arial"/>
              </a:defRPr>
            </a:pPr>
            <a:r>
              <a:t>2. OpenTelemetry</a:t>
            </a:r>
          </a:p>
          <a:p>
            <a:pPr algn="ctr">
              <a:spcBef>
                <a:spcPts val="800"/>
              </a:spcBef>
              <a:defRPr sz="1000">
                <a:solidFill>
                  <a:srgbClr val="E5E7EB"/>
                </a:solidFill>
                <a:latin typeface="Arial"/>
              </a:defRPr>
            </a:pPr>
            <a:r>
              <a:t>Instruments SDK &amp; LLM calls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828800"/>
            <a:ext cx="2468880" cy="1645920"/>
          </a:xfrm>
          <a:prstGeom prst="roundRect">
            <a:avLst/>
          </a:prstGeom>
          <a:solidFill>
            <a:srgbClr val="181E30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0B981"/>
                </a:solidFill>
                <a:latin typeface="Arial"/>
              </a:defRPr>
            </a:pPr>
            <a:r>
              <a:t>3. Arize Phoenix</a:t>
            </a:r>
          </a:p>
          <a:p>
            <a:pPr algn="ctr">
              <a:spcBef>
                <a:spcPts val="800"/>
              </a:spcBef>
              <a:defRPr sz="1000">
                <a:solidFill>
                  <a:srgbClr val="E5E7EB"/>
                </a:solidFill>
                <a:latin typeface="Arial"/>
              </a:defRPr>
            </a:pPr>
            <a:r>
              <a:t>LLM Eval &amp; span analysis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828800"/>
            <a:ext cx="2468880" cy="1645920"/>
          </a:xfrm>
          <a:prstGeom prst="roundRect">
            <a:avLst/>
          </a:prstGeom>
          <a:solidFill>
            <a:srgbClr val="181E30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0B981"/>
                </a:solidFill>
                <a:latin typeface="Arial"/>
              </a:defRPr>
            </a:pPr>
            <a:r>
              <a:t>4. MLflow</a:t>
            </a:r>
          </a:p>
          <a:p>
            <a:pPr algn="ctr">
              <a:spcBef>
                <a:spcPts val="800"/>
              </a:spcBef>
              <a:defRPr sz="1000">
                <a:solidFill>
                  <a:srgbClr val="E5E7EB"/>
                </a:solidFill>
                <a:latin typeface="Arial"/>
              </a:defRPr>
            </a:pPr>
            <a:r>
              <a:t>Run &amp; GenAI trace logging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4114800"/>
            <a:ext cx="2468880" cy="1645920"/>
          </a:xfrm>
          <a:prstGeom prst="roundRect">
            <a:avLst/>
          </a:prstGeom>
          <a:solidFill>
            <a:srgbClr val="181E30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0B981"/>
                </a:solidFill>
                <a:latin typeface="Arial"/>
              </a:defRPr>
            </a:pPr>
            <a:r>
              <a:t>5. Langfuse</a:t>
            </a:r>
          </a:p>
          <a:p>
            <a:pPr algn="ctr">
              <a:spcBef>
                <a:spcPts val="800"/>
              </a:spcBef>
              <a:defRPr sz="1000">
                <a:solidFill>
                  <a:srgbClr val="E5E7EB"/>
                </a:solidFill>
                <a:latin typeface="Arial"/>
              </a:defRPr>
            </a:pPr>
            <a:r>
              <a:t>Trace &amp; latency tracking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4114800"/>
            <a:ext cx="2468880" cy="1645920"/>
          </a:xfrm>
          <a:prstGeom prst="roundRect">
            <a:avLst/>
          </a:prstGeom>
          <a:solidFill>
            <a:srgbClr val="181E30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0B981"/>
                </a:solidFill>
                <a:latin typeface="Arial"/>
              </a:defRPr>
            </a:pPr>
            <a:r>
              <a:t>6. Prometheus</a:t>
            </a:r>
          </a:p>
          <a:p>
            <a:pPr algn="ctr">
              <a:spcBef>
                <a:spcPts val="800"/>
              </a:spcBef>
              <a:defRPr sz="1000">
                <a:solidFill>
                  <a:srgbClr val="E5E7EB"/>
                </a:solidFill>
                <a:latin typeface="Arial"/>
              </a:defRPr>
            </a:pPr>
            <a:r>
              <a:t>Gauges &amp; counters ingest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4114800"/>
            <a:ext cx="2468880" cy="1645920"/>
          </a:xfrm>
          <a:prstGeom prst="roundRect">
            <a:avLst/>
          </a:prstGeom>
          <a:solidFill>
            <a:srgbClr val="181E30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0B981"/>
                </a:solidFill>
                <a:latin typeface="Arial"/>
              </a:defRPr>
            </a:pPr>
            <a:r>
              <a:t>7. Grafana</a:t>
            </a:r>
          </a:p>
          <a:p>
            <a:pPr algn="ctr">
              <a:spcBef>
                <a:spcPts val="800"/>
              </a:spcBef>
              <a:defRPr sz="1000">
                <a:solidFill>
                  <a:srgbClr val="E5E7EB"/>
                </a:solidFill>
                <a:latin typeface="Arial"/>
              </a:defRPr>
            </a:pPr>
            <a:r>
              <a:t>Executive dashboard visualization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114800"/>
            <a:ext cx="2468880" cy="1645920"/>
          </a:xfrm>
          <a:prstGeom prst="roundRect">
            <a:avLst/>
          </a:prstGeom>
          <a:solidFill>
            <a:srgbClr val="181E30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0B981"/>
                </a:solidFill>
                <a:latin typeface="Arial"/>
              </a:defRPr>
            </a:pPr>
            <a:r>
              <a:t>8. DPI-LS Engine</a:t>
            </a:r>
          </a:p>
          <a:p>
            <a:pPr algn="ctr">
              <a:spcBef>
                <a:spcPts val="800"/>
              </a:spcBef>
              <a:defRPr sz="1000">
                <a:solidFill>
                  <a:srgbClr val="E5E7EB"/>
                </a:solidFill>
                <a:latin typeface="Arial"/>
              </a:defRPr>
            </a:pPr>
            <a:r>
              <a:t>Scoring &amp; API Evaluation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Arial"/>
              </a:defRPr>
            </a:pPr>
            <a:r>
              <a:t>SCORING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E5E7EB"/>
                </a:solidFill>
                <a:latin typeface="Arial"/>
              </a:defRPr>
            </a:pPr>
            <a:r>
              <a:t>The Seven Dimensions of AI Agent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4552" cy="18288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45920"/>
          <a:ext cx="11274552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91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A855F7"/>
                          </a:solidFill>
                          <a:latin typeface="Arial"/>
                        </a:rPr>
                        <a:t>Dimension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A855F7"/>
                          </a:solidFill>
                          <a:latin typeface="Arial"/>
                        </a:rPr>
                        <a:t>Weight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A855F7"/>
                          </a:solidFill>
                          <a:latin typeface="Arial"/>
                        </a:rPr>
                        <a:t>Business Purpose / Definition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A855F7"/>
                          </a:solidFill>
                          <a:latin typeface="Arial"/>
                        </a:rPr>
                        <a:t>Telemetry Source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5E7EB"/>
                          </a:solidFill>
                          <a:latin typeface="Arial"/>
                        </a:rPr>
                        <a:t>Productivity (P)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0B981"/>
                          </a:solidFill>
                          <a:latin typeface="Arial"/>
                        </a:rPr>
                        <a:t>15%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5E7EB"/>
                          </a:solidFill>
                          <a:latin typeface="Arial"/>
                        </a:rPr>
                        <a:t>Normalizes agent output against target baseline (Outputs / baseline).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5E7EB"/>
                          </a:solidFill>
                          <a:latin typeface="Arial"/>
                        </a:rPr>
                        <a:t>Observations API / DB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5E7EB"/>
                          </a:solidFill>
                          <a:latin typeface="Arial"/>
                        </a:rPr>
                        <a:t>Quality (Q)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0B981"/>
                          </a:solidFill>
                          <a:latin typeface="Arial"/>
                        </a:rPr>
                        <a:t>20%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5E7EB"/>
                          </a:solidFill>
                          <a:latin typeface="Arial"/>
                        </a:rPr>
                        <a:t>Calculates QA Accuracy, Groundedness (Consistency), &amp; Hallucinations.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5E7EB"/>
                          </a:solidFill>
                          <a:latin typeface="Arial"/>
                        </a:rPr>
                        <a:t>Arize Phoenix / Langfuse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5E7EB"/>
                          </a:solidFill>
                          <a:latin typeface="Arial"/>
                        </a:rPr>
                        <a:t>Execution (E)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0B981"/>
                          </a:solidFill>
                          <a:latin typeface="Arial"/>
                        </a:rPr>
                        <a:t>15%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5E7EB"/>
                          </a:solidFill>
                          <a:latin typeface="Arial"/>
                        </a:rPr>
                        <a:t>Tracks run attempts, success rate, system latencies, and CPU.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5E7EB"/>
                          </a:solidFill>
                          <a:latin typeface="Arial"/>
                        </a:rPr>
                        <a:t>Agent Runner / Host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5E7EB"/>
                          </a:solidFill>
                          <a:latin typeface="Arial"/>
                        </a:rPr>
                        <a:t>Risk (R)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0B981"/>
                          </a:solidFill>
                          <a:latin typeface="Arial"/>
                        </a:rPr>
                        <a:t>15%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5E7EB"/>
                          </a:solidFill>
                          <a:latin typeface="Arial"/>
                        </a:rPr>
                        <a:t>Monitors execution failures, exception events, and incident logs.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5E7EB"/>
                          </a:solidFill>
                          <a:latin typeface="Arial"/>
                        </a:rPr>
                        <a:t>Prometheus / Langfuse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5E7EB"/>
                          </a:solidFill>
                          <a:latin typeface="Arial"/>
                        </a:rPr>
                        <a:t>Governance (G)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0B981"/>
                          </a:solidFill>
                          <a:latin typeface="Arial"/>
                        </a:rPr>
                        <a:t>20%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5E7EB"/>
                          </a:solidFill>
                          <a:latin typeface="Arial"/>
                        </a:rPr>
                        <a:t>Enforces organization policy limits, guardrails, &amp; cost flags.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5E7EB"/>
                          </a:solidFill>
                          <a:latin typeface="Arial"/>
                        </a:rPr>
                        <a:t>Audit Trail / DB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5E7EB"/>
                          </a:solidFill>
                          <a:latin typeface="Arial"/>
                        </a:rPr>
                        <a:t>Validation (V)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0B981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5E7EB"/>
                          </a:solidFill>
                          <a:latin typeface="Arial"/>
                        </a:rPr>
                        <a:t>Verifies all required components are audit-ready at runtime.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5E7EB"/>
                          </a:solidFill>
                          <a:latin typeface="Arial"/>
                        </a:rPr>
                        <a:t>OpenTelemetry / MLflow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5E7EB"/>
                          </a:solidFill>
                          <a:latin typeface="Arial"/>
                        </a:rPr>
                        <a:t>Cost (C)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0B981"/>
                          </a:solidFill>
                          <a:latin typeface="Arial"/>
                        </a:rPr>
                        <a:t>5%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5E7EB"/>
                          </a:solidFill>
                          <a:latin typeface="Arial"/>
                        </a:rPr>
                        <a:t>Measures AI cost against human baseline to verify FTE savings.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5E7EB"/>
                          </a:solidFill>
                          <a:latin typeface="Arial"/>
                        </a:rPr>
                        <a:t>Prometheus / MLflow / API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Arial"/>
              </a:defRPr>
            </a:pPr>
            <a:r>
              <a:t>EXECUTIVE 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E5E7EB"/>
                </a:solidFill>
                <a:latin typeface="Arial"/>
              </a:defRPr>
            </a:pPr>
            <a:r>
              <a:t>Dashboard Overview: Unified Agent Performance Rating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4552" cy="18288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0B981"/>
                </a:solidFill>
                <a:latin typeface="Arial"/>
              </a:defRPr>
            </a:pPr>
            <a:r>
              <a:t>EXECUTIVE KPI SUMMARY</a:t>
            </a:r>
          </a:p>
          <a:p>
            <a:pPr>
              <a:spcAft>
                <a:spcPts val="8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DPI-LS aggregates all 7 dimensions into a single score: 96 / 100.</a:t>
            </a:r>
          </a:p>
          <a:p>
            <a:pPr>
              <a:spcAft>
                <a:spcPts val="8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Measured Dimensions: 7/7 (Complete coverage of productivity, quality, execution, risk, governance, validation, and cost).</a:t>
            </a:r>
          </a:p>
          <a:p>
            <a:pPr>
              <a:spcAft>
                <a:spcPts val="8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Current Rating Band: Exceptional. Indicates the AI agent operates at maximum efficiency and has met all governance requirements.</a:t>
            </a:r>
          </a:p>
          <a:p>
            <a:pPr>
              <a:spcAft>
                <a:spcPts val="8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Designed for non-technical stakeholders to quickly assess compliance, efficiency, and ROI without inspecting code.</a:t>
            </a:r>
          </a:p>
        </p:txBody>
      </p:sp>
      <p:pic>
        <p:nvPicPr>
          <p:cNvPr id="6" name="Picture 5" descr="media__17822932679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Arial"/>
              </a:defRPr>
            </a:pPr>
            <a:r>
              <a:t>BUSINESS 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E5E7EB"/>
                </a:solidFill>
                <a:latin typeface="Arial"/>
              </a:defRPr>
            </a:pPr>
            <a:r>
              <a:t>Cost Dimension: AI vs. Human FTE ROI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4552" cy="18288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9E0B"/>
                </a:solidFill>
                <a:latin typeface="Arial"/>
              </a:defRPr>
            </a:pPr>
            <a:r>
              <a:t>CURRENT COST VALUES (USD)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AI Cost Per Output: $0.0077 (Highly optimized)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Human Cost Per Output: $50.00 (FTE baseline)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Prompt Cost (USD): $0.0337 (6,748 input tokens)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Completion Cost (USD): $0.0148 (985 output tokens)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Total Cost of Ownership (TCO): $50.0077 (Includes human baseline)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Cost Efficiency Ratio: 0.0155%</a:t>
            </a:r>
          </a:p>
          <a:p>
            <a:br/>
            <a:r>
              <a:t>COST SCORING FORMULA</a:t>
            </a:r>
          </a:p>
          <a:p>
            <a:pPr>
              <a:defRPr sz="1100">
                <a:solidFill>
                  <a:srgbClr val="10B981"/>
                </a:solidFill>
                <a:latin typeface="Arial"/>
              </a:defRPr>
            </a:pPr>
            <a:r>
              <a:t>Cost Score = min(1, Human Cost ÷ AI Cost) * Utilization</a:t>
            </a:r>
            <a:br/>
            <a:r>
              <a:t>Weighted Contribution: 1 * 5% = 5.0 (Maximum score achieved)</a:t>
            </a:r>
          </a:p>
        </p:txBody>
      </p:sp>
      <p:pic>
        <p:nvPicPr>
          <p:cNvPr id="6" name="Picture 5" descr="media__178229328658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Arial"/>
              </a:defRPr>
            </a:pPr>
            <a:r>
              <a:t>COST (C)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E5E7EB"/>
                </a:solidFill>
                <a:latin typeface="Arial"/>
              </a:defRPr>
            </a:pPr>
            <a:r>
              <a:t>Ranga Cost Model: Bridging the Telemetry Gaps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4552" cy="18288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59E0B"/>
                </a:solidFill>
                <a:latin typeface="Arial"/>
              </a:defRPr>
            </a:pPr>
            <a:r>
              <a:t>CLOSING THE COST GAP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Problem: Token-only metrics omit server, compute, gateway, and database storage overhead.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Ranga's Goal: A business-grade Cost model matching true infrastructure spend.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Roadmap to Closure:</a:t>
            </a:r>
          </a:p>
          <a:p>
            <a:pPr>
              <a:spcAft>
                <a:spcPts val="600"/>
              </a:spcAft>
              <a:defRPr sz="1200" b="1">
                <a:solidFill>
                  <a:srgbClr val="10B981"/>
                </a:solidFill>
                <a:latin typeface="Arial"/>
              </a:defRPr>
            </a:pPr>
            <a:r>
              <a:t>  1. Model Cost: Handled via LiteLLM token-spend parsing (Current).</a:t>
            </a:r>
          </a:p>
          <a:p>
            <a:pPr>
              <a:spcAft>
                <a:spcPts val="600"/>
              </a:spcAft>
              <a:defRPr sz="1200" b="1">
                <a:solidFill>
                  <a:srgbClr val="10B981"/>
                </a:solidFill>
                <a:latin typeface="Arial"/>
              </a:defRPr>
            </a:pPr>
            <a:r>
              <a:t>  2. Infrastructure Cost: AWS Cost Explorer APIs to fetch ECS/Lambda (Phase 41).</a:t>
            </a:r>
          </a:p>
          <a:p>
            <a:pPr>
              <a:spcAft>
                <a:spcPts val="600"/>
              </a:spcAft>
              <a:defRPr sz="1200" b="1">
                <a:solidFill>
                  <a:srgbClr val="10B981"/>
                </a:solidFill>
                <a:latin typeface="Arial"/>
              </a:defRPr>
            </a:pPr>
            <a:r>
              <a:t>  3. Storage Cost: S3 bucket volume and RDS db size sizing queries (Phase 42).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Final Result: True AI Cost = Model + Infra + Storage.</a:t>
            </a:r>
          </a:p>
        </p:txBody>
      </p:sp>
      <p:pic>
        <p:nvPicPr>
          <p:cNvPr id="6" name="Picture 5" descr="media__17822968620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Arial"/>
              </a:defRPr>
            </a:pPr>
            <a:r>
              <a:t>VALIDATION (V)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E5E7EB"/>
                </a:solidFill>
                <a:latin typeface="Arial"/>
              </a:defRPr>
            </a:pPr>
            <a:r>
              <a:t>Validation Dimension: Multi-Component Compliance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4552" cy="18288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  <a:latin typeface="Arial"/>
              </a:defRPr>
            </a:pPr>
            <a:r>
              <a:t>VALIDATION METRICS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Required Components: 2 (Baseline configuration checks)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Validated Components: 2 (Verified at runtime)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Validation Score: 100.0% (Maximum compliance)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Ensures that before agent calculations are accepted, all necessary upstream libraries, API keys, and databases are verified.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Integrated directly into MLflow and Arize Phoenix traces to act as an automatic quality gate.</a:t>
            </a:r>
          </a:p>
          <a:p>
            <a:br/>
            <a:r>
              <a:t>VALIDATION SCORING FORMULA</a:t>
            </a:r>
          </a:p>
          <a:p>
            <a:pPr>
              <a:defRPr sz="1100">
                <a:solidFill>
                  <a:srgbClr val="10B981"/>
                </a:solidFill>
                <a:latin typeface="Arial"/>
              </a:defRPr>
            </a:pPr>
            <a:r>
              <a:t>V = Validated Components ÷ Total Required</a:t>
            </a:r>
            <a:br/>
            <a:r>
              <a:t>Weighted Contribution: 1.0 * 10% = 10.0 (Maximum score)</a:t>
            </a:r>
          </a:p>
        </p:txBody>
      </p:sp>
      <p:pic>
        <p:nvPicPr>
          <p:cNvPr id="6" name="Picture 5" descr="media__178229328658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Arial"/>
              </a:defRPr>
            </a:pPr>
            <a:r>
              <a:t>QUALITY (Q)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E5E7EB"/>
                </a:solidFill>
                <a:latin typeface="Arial"/>
              </a:defRPr>
            </a:pPr>
            <a:r>
              <a:t>Quality Dimension: Groundedness &amp; Accuracy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4552" cy="18288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A855F7"/>
                </a:solidFill>
                <a:latin typeface="Arial"/>
              </a:defRPr>
            </a:pPr>
            <a:r>
              <a:t>QUALITY ATTRIBUTES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QA Accuracy: 85% (Target model performs high-grade classification)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Groundedness (Consistency): 100% (No facts contradictions)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Hallucination Rate: 100% (0% hallucination rate mapped to score scale)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User Feedback: N/A (Pending feedback metrics)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Weighted Q-Score: 15.9 out of 20% (Aggregated via dynamic evaluator)</a:t>
            </a:r>
          </a:p>
          <a:p>
            <a:br/>
            <a:r>
              <a:t>QUALITY SCORING FORMULA</a:t>
            </a:r>
          </a:p>
          <a:p>
            <a:pPr>
              <a:defRPr sz="1100">
                <a:solidFill>
                  <a:srgbClr val="10B981"/>
                </a:solidFill>
                <a:latin typeface="Arial"/>
              </a:defRPr>
            </a:pPr>
            <a:r>
              <a:t>Q = w_acc * Accuracy + w_con * Consistency + w_hal * (1 - Hallucination)</a:t>
            </a:r>
            <a:br/>
            <a:r>
              <a:t>Weighted Contribution: 0.795 * 20% = 15.9</a:t>
            </a:r>
          </a:p>
        </p:txBody>
      </p:sp>
      <p:pic>
        <p:nvPicPr>
          <p:cNvPr id="6" name="Picture 5" descr="media__17822932679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Arial"/>
              </a:defRPr>
            </a:pPr>
            <a:r>
              <a:t>RESOURCE REGISTRY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E5E7EB"/>
                </a:solidFill>
                <a:latin typeface="Arial"/>
              </a:defRPr>
            </a:pPr>
            <a:r>
              <a:t>Resource Evaluation Framework: Verification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4552" cy="18288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  <a:latin typeface="Arial"/>
              </a:defRPr>
            </a:pPr>
            <a:r>
              <a:t>THE 5-STEP RESOURCE WORKFLOW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Step 1: Initialize Integration - Install SDK and configure endpoint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Step 2: Instrument Agent Code - Wrap code with telemetry hooks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Step 3: Execute the Test Run - Execute agent to pipe real data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Step 4: Verify Detection Status - Verify log data in telemetry store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Step 5: Log the Results - Update master table and set Status=SUCCESS</a:t>
            </a:r>
          </a:p>
          <a:p>
            <a:br/>
            <a:r>
              <a:t>Active metrics: 84 metrics detected across 96 evaluations.</a:t>
            </a:r>
          </a:p>
        </p:txBody>
      </p:sp>
      <p:pic>
        <p:nvPicPr>
          <p:cNvPr id="6" name="Picture 5" descr="media__178229331077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Arial"/>
              </a:defRPr>
            </a:pPr>
            <a:r>
              <a:t>COST (C)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E5E7EB"/>
                </a:solidFill>
                <a:latin typeface="Arial"/>
              </a:defRPr>
            </a:pPr>
            <a:r>
              <a:t>Cost Telemetry Resource Catalogue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4552" cy="18288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45920"/>
          <a:ext cx="54864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314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A855F7"/>
                          </a:solidFill>
                          <a:latin typeface="Arial"/>
                        </a:rPr>
                        <a:t>Resource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A855F7"/>
                          </a:solidFill>
                          <a:latin typeface="Arial"/>
                        </a:rPr>
                        <a:t>Category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A855F7"/>
                          </a:solidFill>
                          <a:latin typeface="Arial"/>
                        </a:rPr>
                        <a:t>Telemetry Purpose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A855F7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E5E7EB"/>
                          </a:solidFill>
                          <a:latin typeface="Arial"/>
                        </a:rPr>
                        <a:t>Langfuse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5E7EB"/>
                          </a:solidFill>
                          <a:latin typeface="Arial"/>
                        </a:rPr>
                        <a:t>LLM Obs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5E7EB"/>
                          </a:solidFill>
                          <a:latin typeface="Arial"/>
                        </a:rPr>
                        <a:t>Token usage &amp; cost per trace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0B981"/>
                          </a:solidFill>
                          <a:latin typeface="Arial"/>
                        </a:rPr>
                        <a:t>Implemented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E5E7EB"/>
                          </a:solidFill>
                          <a:latin typeface="Arial"/>
                        </a:rPr>
                        <a:t>Prometheus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5E7EB"/>
                          </a:solidFill>
                          <a:latin typeface="Arial"/>
                        </a:rPr>
                        <a:t>Infra Store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5E7EB"/>
                          </a:solidFill>
                          <a:latin typeface="Arial"/>
                        </a:rPr>
                        <a:t>Time-series compute metrics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0B981"/>
                          </a:solidFill>
                          <a:latin typeface="Arial"/>
                        </a:rPr>
                        <a:t>Implemented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E5E7EB"/>
                          </a:solidFill>
                          <a:latin typeface="Arial"/>
                        </a:rPr>
                        <a:t>Grafana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5E7EB"/>
                          </a:solidFill>
                          <a:latin typeface="Arial"/>
                        </a:rPr>
                        <a:t>Visualization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5E7EB"/>
                          </a:solidFill>
                          <a:latin typeface="Arial"/>
                        </a:rPr>
                        <a:t>Cost &amp; utilization dashboard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0B981"/>
                          </a:solidFill>
                          <a:latin typeface="Arial"/>
                        </a:rPr>
                        <a:t>Implemented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E5E7EB"/>
                          </a:solidFill>
                          <a:latin typeface="Arial"/>
                        </a:rPr>
                        <a:t>Arize Phoenix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5E7EB"/>
                          </a:solidFill>
                          <a:latin typeface="Arial"/>
                        </a:rPr>
                        <a:t>LLM Obs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5E7EB"/>
                          </a:solidFill>
                          <a:latin typeface="Arial"/>
                        </a:rPr>
                        <a:t>Cost span attributes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0B981"/>
                          </a:solidFill>
                          <a:latin typeface="Arial"/>
                        </a:rPr>
                        <a:t>Implemented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E5E7EB"/>
                          </a:solidFill>
                          <a:latin typeface="Arial"/>
                        </a:rPr>
                        <a:t>MLflow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5E7EB"/>
                          </a:solidFill>
                          <a:latin typeface="Arial"/>
                        </a:rPr>
                        <a:t>MLOps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5E7EB"/>
                          </a:solidFill>
                          <a:latin typeface="Arial"/>
                        </a:rPr>
                        <a:t>Run metadata &amp; parameters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0B981"/>
                          </a:solidFill>
                          <a:latin typeface="Arial"/>
                        </a:rPr>
                        <a:t>Implemented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314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E5E7EB"/>
                          </a:solidFill>
                          <a:latin typeface="Arial"/>
                        </a:rPr>
                        <a:t>OpenMeter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5E7EB"/>
                          </a:solidFill>
                          <a:latin typeface="Arial"/>
                        </a:rPr>
                        <a:t>Metering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5E7EB"/>
                          </a:solidFill>
                          <a:latin typeface="Arial"/>
                        </a:rPr>
                        <a:t>Usage-based token metering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F59E0B"/>
                          </a:solidFill>
                          <a:latin typeface="Arial"/>
                        </a:rPr>
                        <a:t>Future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217920" y="16459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59E0B"/>
                </a:solidFill>
                <a:latin typeface="Arial"/>
              </a:defRPr>
            </a:pPr>
            <a:r>
              <a:t>INTEGRATION STRATEGY</a:t>
            </a:r>
          </a:p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Arial"/>
              </a:defRPr>
            </a:pPr>
            <a:r>
              <a:t>• DPI-LS Cost Engine aggregates live cost signals across active endpoints.</a:t>
            </a:r>
          </a:p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Arial"/>
              </a:defRPr>
            </a:pPr>
            <a:r>
              <a:t>• Supports candidate and optional resources (SigNoz, Helicone, Jaeger) for modular deployment.</a:t>
            </a:r>
          </a:p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Arial"/>
              </a:defRPr>
            </a:pPr>
            <a:r>
              <a:t>• Roadmap: Direct AWS Cost Explorer APIs integration to fetch ECS/EC2 infrastructure costs.</a:t>
            </a:r>
          </a:p>
        </p:txBody>
      </p:sp>
      <p:pic>
        <p:nvPicPr>
          <p:cNvPr id="7" name="Picture 6" descr="media__17822969800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3200400"/>
            <a:ext cx="548640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Arial"/>
              </a:defRPr>
            </a:pPr>
            <a:r>
              <a:t>COST (C)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E5E7EB"/>
                </a:solidFill>
                <a:latin typeface="Arial"/>
              </a:defRPr>
            </a:pPr>
            <a:r>
              <a:t>Cost Metric Parameters &amp; Mapping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4552" cy="18288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45920"/>
          <a:ext cx="75895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A855F7"/>
                          </a:solidFill>
                          <a:latin typeface="Arial"/>
                        </a:rPr>
                        <a:t>Parameter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A855F7"/>
                          </a:solidFill>
                          <a:latin typeface="Arial"/>
                        </a:rPr>
                        <a:t>Definition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A855F7"/>
                          </a:solidFill>
                          <a:latin typeface="Arial"/>
                        </a:rPr>
                        <a:t>Formula / Source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A855F7"/>
                          </a:solidFill>
                          <a:latin typeface="Arial"/>
                        </a:rPr>
                        <a:t>Backend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A855F7"/>
                          </a:solidFill>
                          <a:latin typeface="Arial"/>
                        </a:rPr>
                        <a:t>Database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A855F7"/>
                          </a:solidFill>
                          <a:latin typeface="Arial"/>
                        </a:rPr>
                        <a:t>Dashboard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E5E7EB"/>
                          </a:solidFill>
                          <a:latin typeface="Arial"/>
                        </a:rPr>
                        <a:t>Model Cost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5E7EB"/>
                          </a:solidFill>
                          <a:latin typeface="Arial"/>
                        </a:rPr>
                        <a:t>Direct LLM token generation spend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5E7EB"/>
                          </a:solidFill>
                          <a:latin typeface="Arial"/>
                        </a:rPr>
                        <a:t>Input+Output rate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5E7EB"/>
                          </a:solidFill>
                          <a:latin typeface="Arial"/>
                        </a:rPr>
                        <a:t>LiteLLM callback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5E7EB"/>
                          </a:solidFill>
                          <a:latin typeface="Arial"/>
                        </a:rPr>
                        <a:t>observations.payload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5E7EB"/>
                          </a:solidFill>
                          <a:latin typeface="Arial"/>
                        </a:rPr>
                        <a:t>demo.html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E5E7EB"/>
                          </a:solidFill>
                          <a:latin typeface="Arial"/>
                        </a:rPr>
                        <a:t>Token Cost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5E7EB"/>
                          </a:solidFill>
                          <a:latin typeface="Arial"/>
                        </a:rPr>
                        <a:t>Raw token count metrics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5E7EB"/>
                          </a:solidFill>
                          <a:latin typeface="Arial"/>
                        </a:rPr>
                        <a:t>Input+Output tokens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5E7EB"/>
                          </a:solidFill>
                          <a:latin typeface="Arial"/>
                        </a:rPr>
                        <a:t>LiteLLM callback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5E7EB"/>
                          </a:solidFill>
                          <a:latin typeface="Arial"/>
                        </a:rPr>
                        <a:t>observations.payload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5E7EB"/>
                          </a:solidFill>
                          <a:latin typeface="Arial"/>
                        </a:rPr>
                        <a:t>demo.html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E5E7EB"/>
                          </a:solidFill>
                          <a:latin typeface="Arial"/>
                        </a:rPr>
                        <a:t>Prompt Cost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5E7EB"/>
                          </a:solidFill>
                          <a:latin typeface="Arial"/>
                        </a:rPr>
                        <a:t>Cost of input prompts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5E7EB"/>
                          </a:solidFill>
                          <a:latin typeface="Arial"/>
                        </a:rPr>
                        <a:t>Input tokens * rate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5E7EB"/>
                          </a:solidFill>
                          <a:latin typeface="Arial"/>
                        </a:rPr>
                        <a:t>LiteLLM callback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5E7EB"/>
                          </a:solidFill>
                          <a:latin typeface="Arial"/>
                        </a:rPr>
                        <a:t>observations.payload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5E7EB"/>
                          </a:solidFill>
                          <a:latin typeface="Arial"/>
                        </a:rPr>
                        <a:t>demo.html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E5E7EB"/>
                          </a:solidFill>
                          <a:latin typeface="Arial"/>
                        </a:rPr>
                        <a:t>Completion Cost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5E7EB"/>
                          </a:solidFill>
                          <a:latin typeface="Arial"/>
                        </a:rPr>
                        <a:t>Cost of completion generation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5E7EB"/>
                          </a:solidFill>
                          <a:latin typeface="Arial"/>
                        </a:rPr>
                        <a:t>Output tokens * rate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5E7EB"/>
                          </a:solidFill>
                          <a:latin typeface="Arial"/>
                        </a:rPr>
                        <a:t>LiteLLM callback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5E7EB"/>
                          </a:solidFill>
                          <a:latin typeface="Arial"/>
                        </a:rPr>
                        <a:t>observations.payload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5E7EB"/>
                          </a:solidFill>
                          <a:latin typeface="Arial"/>
                        </a:rPr>
                        <a:t>demo.html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E5E7EB"/>
                          </a:solidFill>
                          <a:latin typeface="Arial"/>
                        </a:rPr>
                        <a:t>AI Cost/Output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5E7EB"/>
                          </a:solidFill>
                          <a:latin typeface="Arial"/>
                        </a:rPr>
                        <a:t>Average AI spend per result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5E7EB"/>
                          </a:solidFill>
                          <a:latin typeface="Arial"/>
                        </a:rPr>
                        <a:t>Model Cost / outputs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5E7EB"/>
                          </a:solidFill>
                          <a:latin typeface="Arial"/>
                        </a:rPr>
                        <a:t>FastAPI Service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5E7EB"/>
                          </a:solidFill>
                          <a:latin typeface="Arial"/>
                        </a:rPr>
                        <a:t>score_history.sub_metrics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5E7EB"/>
                          </a:solidFill>
                          <a:latin typeface="Arial"/>
                        </a:rPr>
                        <a:t>demo.html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E5E7EB"/>
                          </a:solidFill>
                          <a:latin typeface="Arial"/>
                        </a:rPr>
                        <a:t>Human Cost/Output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5E7EB"/>
                          </a:solidFill>
                          <a:latin typeface="Arial"/>
                        </a:rPr>
                        <a:t>Baseline FTE cost per task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5E7EB"/>
                          </a:solidFill>
                          <a:latin typeface="Arial"/>
                        </a:rPr>
                        <a:t>Constant ($50.00)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5E7EB"/>
                          </a:solidFill>
                          <a:latin typeface="Arial"/>
                        </a:rPr>
                        <a:t>Settings Service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5E7EB"/>
                          </a:solidFill>
                          <a:latin typeface="Arial"/>
                        </a:rPr>
                        <a:t>score_history.sub_metrics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5E7EB"/>
                          </a:solidFill>
                          <a:latin typeface="Arial"/>
                        </a:rPr>
                        <a:t>demo.html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E5E7EB"/>
                          </a:solidFill>
                          <a:latin typeface="Arial"/>
                        </a:rPr>
                        <a:t>TCO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5E7EB"/>
                          </a:solidFill>
                          <a:latin typeface="Arial"/>
                        </a:rPr>
                        <a:t>Total Cost of Ownership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5E7EB"/>
                          </a:solidFill>
                          <a:latin typeface="Arial"/>
                        </a:rPr>
                        <a:t>AI Cost + Human Cost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5E7EB"/>
                          </a:solidFill>
                          <a:latin typeface="Arial"/>
                        </a:rPr>
                        <a:t>Scoring Engine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5E7EB"/>
                          </a:solidFill>
                          <a:latin typeface="Arial"/>
                        </a:rPr>
                        <a:t>score_history.sub_metrics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5E7EB"/>
                          </a:solidFill>
                          <a:latin typeface="Arial"/>
                        </a:rPr>
                        <a:t>demo.html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E5E7EB"/>
                          </a:solidFill>
                          <a:latin typeface="Arial"/>
                        </a:rPr>
                        <a:t>Utilization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5E7EB"/>
                          </a:solidFill>
                          <a:latin typeface="Arial"/>
                        </a:rPr>
                        <a:t>CPU/resource utilization rate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5E7EB"/>
                          </a:solidFill>
                          <a:latin typeface="Arial"/>
                        </a:rPr>
                        <a:t>psutil.cpu_percent()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5E7EB"/>
                          </a:solidFill>
                          <a:latin typeface="Arial"/>
                        </a:rPr>
                        <a:t>Agent Monitor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5E7EB"/>
                          </a:solidFill>
                          <a:latin typeface="Arial"/>
                        </a:rPr>
                        <a:t>observations.payload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5E7EB"/>
                          </a:solidFill>
                          <a:latin typeface="Arial"/>
                        </a:rPr>
                        <a:t>demo.html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6" name="Picture 5" descr="media__17822968620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645920"/>
            <a:ext cx="350215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Arial"/>
              </a:defRPr>
            </a:pPr>
            <a:r>
              <a:t>VALIDATION (V)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E5E7EB"/>
                </a:solidFill>
                <a:latin typeface="Arial"/>
              </a:defRPr>
            </a:pPr>
            <a:r>
              <a:t>Validation Telemetry Resource Catalogue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4552" cy="18288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45920"/>
          <a:ext cx="54864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314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A855F7"/>
                          </a:solidFill>
                          <a:latin typeface="Arial"/>
                        </a:rPr>
                        <a:t>Resource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A855F7"/>
                          </a:solidFill>
                          <a:latin typeface="Arial"/>
                        </a:rPr>
                        <a:t>Category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A855F7"/>
                          </a:solidFill>
                          <a:latin typeface="Arial"/>
                        </a:rPr>
                        <a:t>Telemetry Purpose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A855F7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E5E7EB"/>
                          </a:solidFill>
                          <a:latin typeface="Arial"/>
                        </a:rPr>
                        <a:t>OpenTelemetry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5E7EB"/>
                          </a:solidFill>
                          <a:latin typeface="Arial"/>
                        </a:rPr>
                        <a:t>OTel standard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5E7EB"/>
                          </a:solidFill>
                          <a:latin typeface="Arial"/>
                        </a:rPr>
                        <a:t>Traces &amp; spans instrument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0B981"/>
                          </a:solidFill>
                          <a:latin typeface="Arial"/>
                        </a:rPr>
                        <a:t>Implemented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E5E7EB"/>
                          </a:solidFill>
                          <a:latin typeface="Arial"/>
                        </a:rPr>
                        <a:t>Prometheus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5E7EB"/>
                          </a:solidFill>
                          <a:latin typeface="Arial"/>
                        </a:rPr>
                        <a:t>Metrics Store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5E7EB"/>
                          </a:solidFill>
                          <a:latin typeface="Arial"/>
                        </a:rPr>
                        <a:t>Test-run success counters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0B981"/>
                          </a:solidFill>
                          <a:latin typeface="Arial"/>
                        </a:rPr>
                        <a:t>Implemented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E5E7EB"/>
                          </a:solidFill>
                          <a:latin typeface="Arial"/>
                        </a:rPr>
                        <a:t>Grafana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5E7EB"/>
                          </a:solidFill>
                          <a:latin typeface="Arial"/>
                        </a:rPr>
                        <a:t>Visualization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5E7EB"/>
                          </a:solidFill>
                          <a:latin typeface="Arial"/>
                        </a:rPr>
                        <a:t>Validation pass/fail dashboard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0B981"/>
                          </a:solidFill>
                          <a:latin typeface="Arial"/>
                        </a:rPr>
                        <a:t>Implemented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E5E7EB"/>
                          </a:solidFill>
                          <a:latin typeface="Arial"/>
                        </a:rPr>
                        <a:t>Arize Phoenix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5E7EB"/>
                          </a:solidFill>
                          <a:latin typeface="Arial"/>
                        </a:rPr>
                        <a:t>LLM Obs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5E7EB"/>
                          </a:solidFill>
                          <a:latin typeface="Arial"/>
                        </a:rPr>
                        <a:t>Groundedness &amp; QA evals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0B981"/>
                          </a:solidFill>
                          <a:latin typeface="Arial"/>
                        </a:rPr>
                        <a:t>Implemented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E5E7EB"/>
                          </a:solidFill>
                          <a:latin typeface="Arial"/>
                        </a:rPr>
                        <a:t>Langfuse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5E7EB"/>
                          </a:solidFill>
                          <a:latin typeface="Arial"/>
                        </a:rPr>
                        <a:t>LLM Obs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5E7EB"/>
                          </a:solidFill>
                          <a:latin typeface="Arial"/>
                        </a:rPr>
                        <a:t>Prompt version validation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0B981"/>
                          </a:solidFill>
                          <a:latin typeface="Arial"/>
                        </a:rPr>
                        <a:t>Implemented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314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E5E7EB"/>
                          </a:solidFill>
                          <a:latin typeface="Arial"/>
                        </a:rPr>
                        <a:t>MLflow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5E7EB"/>
                          </a:solidFill>
                          <a:latin typeface="Arial"/>
                        </a:rPr>
                        <a:t>MLOps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5E7EB"/>
                          </a:solidFill>
                          <a:latin typeface="Arial"/>
                        </a:rPr>
                        <a:t>Audit-evidence tracking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0B981"/>
                          </a:solidFill>
                          <a:latin typeface="Arial"/>
                        </a:rPr>
                        <a:t>Implemented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217920" y="16459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59E0B"/>
                </a:solidFill>
                <a:latin typeface="Arial"/>
              </a:defRPr>
            </a:pPr>
            <a:r>
              <a:t>COLLECTION METHODOLOGY</a:t>
            </a:r>
          </a:p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Arial"/>
              </a:defRPr>
            </a:pPr>
            <a:r>
              <a:t>• Validation metrics verify that all upstream dependencies are functional.</a:t>
            </a:r>
          </a:p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Arial"/>
              </a:defRPr>
            </a:pPr>
            <a:r>
              <a:t>• Collected at startup and runtime using socket connectivity validation.</a:t>
            </a:r>
          </a:p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Arial"/>
              </a:defRPr>
            </a:pPr>
            <a:r>
              <a:t>• Integrated into MLflow and Langfuse audit logs to prove system compliance.</a:t>
            </a:r>
          </a:p>
        </p:txBody>
      </p:sp>
      <p:pic>
        <p:nvPicPr>
          <p:cNvPr id="7" name="Picture 6" descr="media__17822969612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3200400"/>
            <a:ext cx="548640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Arial"/>
              </a:defRPr>
            </a:pPr>
            <a:r>
              <a:t>VALIDATION (V)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E5E7EB"/>
                </a:solidFill>
                <a:latin typeface="Arial"/>
              </a:defRPr>
            </a:pPr>
            <a:r>
              <a:t>Validation Metric Parameters &amp; Mapping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4552" cy="18288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011680"/>
          <a:ext cx="11274552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990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A855F7"/>
                          </a:solidFill>
                          <a:latin typeface="Arial"/>
                        </a:rPr>
                        <a:t>Parameter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A855F7"/>
                          </a:solidFill>
                          <a:latin typeface="Arial"/>
                        </a:rPr>
                        <a:t>Definition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A855F7"/>
                          </a:solidFill>
                          <a:latin typeface="Arial"/>
                        </a:rPr>
                        <a:t>Formula / Source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A855F7"/>
                          </a:solidFill>
                          <a:latin typeface="Arial"/>
                        </a:rPr>
                        <a:t>Backend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A855F7"/>
                          </a:solidFill>
                          <a:latin typeface="Arial"/>
                        </a:rPr>
                        <a:t>Database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A855F7"/>
                          </a:solidFill>
                          <a:latin typeface="Arial"/>
                        </a:rPr>
                        <a:t>Dashboard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E5E7EB"/>
                          </a:solidFill>
                          <a:latin typeface="Arial"/>
                        </a:rPr>
                        <a:t>Required Components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Mandatory dependencies configured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Count of required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Validation Service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observations.payload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demo.html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E5E7EB"/>
                          </a:solidFill>
                          <a:latin typeface="Arial"/>
                        </a:rPr>
                        <a:t>Validated Components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Active dependencies verified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Socket connection check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Validation Service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observations.payload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demo.html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E5E7EB"/>
                          </a:solidFill>
                          <a:latin typeface="Arial"/>
                        </a:rPr>
                        <a:t>Validation Score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Compliance validation percentage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Validated / Required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Scoring Engine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score_history.sub_metrics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demo.html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E5E7EB"/>
                          </a:solidFill>
                          <a:latin typeface="Arial"/>
                        </a:rPr>
                        <a:t>Compliance Score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Validation metric index score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Validation Score * 10%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Scoring Engine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score_history.metrics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demo.html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Arial"/>
              </a:defRPr>
            </a:pPr>
            <a:r>
              <a:t>QUALITY (Q)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E5E7EB"/>
                </a:solidFill>
                <a:latin typeface="Arial"/>
              </a:defRPr>
            </a:pPr>
            <a:r>
              <a:t>Quality Telemetry Resource Catalogue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4552" cy="18288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45920"/>
          <a:ext cx="54864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314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A855F7"/>
                          </a:solidFill>
                          <a:latin typeface="Arial"/>
                        </a:rPr>
                        <a:t>Resource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A855F7"/>
                          </a:solidFill>
                          <a:latin typeface="Arial"/>
                        </a:rPr>
                        <a:t>Category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A855F7"/>
                          </a:solidFill>
                          <a:latin typeface="Arial"/>
                        </a:rPr>
                        <a:t>Telemetry Purpose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A855F7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E5E7EB"/>
                          </a:solidFill>
                          <a:latin typeface="Arial"/>
                        </a:rPr>
                        <a:t>Arize Phoenix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5E7EB"/>
                          </a:solidFill>
                          <a:latin typeface="Arial"/>
                        </a:rPr>
                        <a:t>LLM Obs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5E7EB"/>
                          </a:solidFill>
                          <a:latin typeface="Arial"/>
                        </a:rPr>
                        <a:t>Hallucination &amp; relevance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0B981"/>
                          </a:solidFill>
                          <a:latin typeface="Arial"/>
                        </a:rPr>
                        <a:t>Implemented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E5E7EB"/>
                          </a:solidFill>
                          <a:latin typeface="Arial"/>
                        </a:rPr>
                        <a:t>Langfuse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5E7EB"/>
                          </a:solidFill>
                          <a:latin typeface="Arial"/>
                        </a:rPr>
                        <a:t>LLM Obs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5E7EB"/>
                          </a:solidFill>
                          <a:latin typeface="Arial"/>
                        </a:rPr>
                        <a:t>Evaluator routing evals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0B981"/>
                          </a:solidFill>
                          <a:latin typeface="Arial"/>
                        </a:rPr>
                        <a:t>Implemented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E5E7EB"/>
                          </a:solidFill>
                          <a:latin typeface="Arial"/>
                        </a:rPr>
                        <a:t>OpenTelemetry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5E7EB"/>
                          </a:solidFill>
                          <a:latin typeface="Arial"/>
                        </a:rPr>
                        <a:t>OTel standard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5E7EB"/>
                          </a:solidFill>
                          <a:latin typeface="Arial"/>
                        </a:rPr>
                        <a:t>Payload metadata export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0B981"/>
                          </a:solidFill>
                          <a:latin typeface="Arial"/>
                        </a:rPr>
                        <a:t>Implemented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E5E7EB"/>
                          </a:solidFill>
                          <a:latin typeface="Arial"/>
                        </a:rPr>
                        <a:t>Prometheus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5E7EB"/>
                          </a:solidFill>
                          <a:latin typeface="Arial"/>
                        </a:rPr>
                        <a:t>Metrics Store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5E7EB"/>
                          </a:solidFill>
                          <a:latin typeface="Arial"/>
                        </a:rPr>
                        <a:t>Aggregation &amp; alerts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0B981"/>
                          </a:solidFill>
                          <a:latin typeface="Arial"/>
                        </a:rPr>
                        <a:t>Implemented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E5E7EB"/>
                          </a:solidFill>
                          <a:latin typeface="Arial"/>
                        </a:rPr>
                        <a:t>Grafana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5E7EB"/>
                          </a:solidFill>
                          <a:latin typeface="Arial"/>
                        </a:rPr>
                        <a:t>Visualization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5E7EB"/>
                          </a:solidFill>
                          <a:latin typeface="Arial"/>
                        </a:rPr>
                        <a:t>Hallucination trends dashboard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0B981"/>
                          </a:solidFill>
                          <a:latin typeface="Arial"/>
                        </a:rPr>
                        <a:t>Implemented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314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E5E7EB"/>
                          </a:solidFill>
                          <a:latin typeface="Arial"/>
                        </a:rPr>
                        <a:t>MLflow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5E7EB"/>
                          </a:solidFill>
                          <a:latin typeface="Arial"/>
                        </a:rPr>
                        <a:t>MLOps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E5E7EB"/>
                          </a:solidFill>
                          <a:latin typeface="Arial"/>
                        </a:rPr>
                        <a:t>Evaluator parameters &amp; output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0B981"/>
                          </a:solidFill>
                          <a:latin typeface="Arial"/>
                        </a:rPr>
                        <a:t>Implemented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217920" y="16459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59E0B"/>
                </a:solidFill>
                <a:latin typeface="Arial"/>
              </a:defRPr>
            </a:pPr>
            <a:r>
              <a:t>QUALITY EVALUATION ROLES</a:t>
            </a:r>
          </a:p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Arial"/>
              </a:defRPr>
            </a:pPr>
            <a:r>
              <a:t>• Arize Phoenix and Langfuse act as LLM-as-a-judge scorers.</a:t>
            </a:r>
          </a:p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Arial"/>
              </a:defRPr>
            </a:pPr>
            <a:r>
              <a:t>• Metrics are calculated by comparing agent responses vs. golden datasets.</a:t>
            </a:r>
          </a:p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Arial"/>
              </a:defRPr>
            </a:pPr>
            <a:r>
              <a:t>• Real-time alerts trigger in Grafana if hallucination rate climbs above 5%.</a:t>
            </a:r>
          </a:p>
        </p:txBody>
      </p:sp>
      <p:pic>
        <p:nvPicPr>
          <p:cNvPr id="7" name="Picture 6" descr="media__17822969483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3200400"/>
            <a:ext cx="548640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Arial"/>
              </a:defRPr>
            </a:pPr>
            <a:r>
              <a:t>QUALITY (Q)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E5E7EB"/>
                </a:solidFill>
                <a:latin typeface="Arial"/>
              </a:defRPr>
            </a:pPr>
            <a:r>
              <a:t>Quality Metric Parameters &amp; Mapping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4552" cy="18288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011680"/>
          <a:ext cx="1127455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647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A855F7"/>
                          </a:solidFill>
                          <a:latin typeface="Arial"/>
                        </a:rPr>
                        <a:t>Parameter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A855F7"/>
                          </a:solidFill>
                          <a:latin typeface="Arial"/>
                        </a:rPr>
                        <a:t>Definition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A855F7"/>
                          </a:solidFill>
                          <a:latin typeface="Arial"/>
                        </a:rPr>
                        <a:t>Formula / Source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A855F7"/>
                          </a:solidFill>
                          <a:latin typeface="Arial"/>
                        </a:rPr>
                        <a:t>Backend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A855F7"/>
                          </a:solidFill>
                          <a:latin typeface="Arial"/>
                        </a:rPr>
                        <a:t>Database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A855F7"/>
                          </a:solidFill>
                          <a:latin typeface="Arial"/>
                        </a:rPr>
                        <a:t>Dashboard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E5E7EB"/>
                          </a:solidFill>
                          <a:latin typeface="Arial"/>
                        </a:rPr>
                        <a:t>Groundedness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Contradiction checks vs context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LLM evaluator grading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Arize Phoenix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observations.payload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demo.html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E5E7EB"/>
                          </a:solidFill>
                          <a:latin typeface="Arial"/>
                        </a:rPr>
                        <a:t>Hallucination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Factual accuracy validation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LLM-as-a-judge score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Arize Phoenix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observations.payload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demo.html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E5E7EB"/>
                          </a:solidFill>
                          <a:latin typeface="Arial"/>
                        </a:rPr>
                        <a:t>Relevance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Response alignment to prompt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LLM accuracy grading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Arize Phoenix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observations.payload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demo.html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E5E7EB"/>
                          </a:solidFill>
                          <a:latin typeface="Arial"/>
                        </a:rPr>
                        <a:t>Model Correctness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Target response precision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LLM evaluator accuracy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Arize Phoenix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observations.payload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demo.html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E5E7EB"/>
                          </a:solidFill>
                          <a:latin typeface="Arial"/>
                        </a:rPr>
                        <a:t>User Feedback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Direct human approval rating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SME response feedback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SME Service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sme_ratings table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demo.html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783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E5E7EB"/>
                          </a:solidFill>
                          <a:latin typeface="Arial"/>
                        </a:rPr>
                        <a:t>Quality Score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Weighted dimension score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w_acc*Acc + w_con*Con + w_hal*(1-Hal)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Scoring Engine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score_history.metrics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5E7EB"/>
                          </a:solidFill>
                          <a:latin typeface="Arial"/>
                        </a:rPr>
                        <a:t>demo.html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Arial"/>
              </a:defRPr>
            </a:pPr>
            <a:r>
              <a:t>COST (C)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E5E7EB"/>
                </a:solidFill>
                <a:latin typeface="Arial"/>
              </a:defRPr>
            </a:pPr>
            <a:r>
              <a:t>Infrastructure Cost Telemetry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4552" cy="18288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2103120" cy="4114800"/>
          </a:xfrm>
          <a:prstGeom prst="roundRect">
            <a:avLst/>
          </a:prstGeom>
          <a:solidFill>
            <a:srgbClr val="181E3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59E0B"/>
                </a:solidFill>
                <a:latin typeface="Arial"/>
              </a:defRPr>
            </a:pPr>
            <a:r>
              <a:t>STEP 1</a:t>
            </a:r>
            <a:br/>
            <a:br/>
            <a:r>
              <a:t>AWS COMPUTE RESOURCES</a:t>
            </a:r>
          </a:p>
          <a:p>
            <a:br/>
            <a:r>
              <a:t>ECS Tasks, EC2 instances, Lambda executions running the 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2011680"/>
            <a:ext cx="2103120" cy="4114800"/>
          </a:xfrm>
          <a:prstGeom prst="roundRect">
            <a:avLst/>
          </a:prstGeom>
          <a:solidFill>
            <a:srgbClr val="181E3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59E0B"/>
                </a:solidFill>
                <a:latin typeface="Arial"/>
              </a:defRPr>
            </a:pPr>
            <a:r>
              <a:t>STEP 2</a:t>
            </a:r>
            <a:br/>
            <a:br/>
            <a:r>
              <a:t>OTEL COLLECTOR / AWS APIS</a:t>
            </a:r>
          </a:p>
          <a:p>
            <a:br/>
            <a:r>
              <a:t>Pulls active instance metadata, CPU sizes, runtime hours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2011680"/>
            <a:ext cx="2103120" cy="4114800"/>
          </a:xfrm>
          <a:prstGeom prst="roundRect">
            <a:avLst/>
          </a:prstGeom>
          <a:solidFill>
            <a:srgbClr val="181E3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59E0B"/>
                </a:solidFill>
                <a:latin typeface="Arial"/>
              </a:defRPr>
            </a:pPr>
            <a:r>
              <a:t>STEP 3</a:t>
            </a:r>
            <a:br/>
            <a:br/>
            <a:r>
              <a:t>AWS COST EXPLORER / CUR</a:t>
            </a:r>
          </a:p>
          <a:p>
            <a:br/>
            <a:r>
              <a:t>Pulls billing records &amp; pricing mappings per resource tags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2011680"/>
            <a:ext cx="2103120" cy="4114800"/>
          </a:xfrm>
          <a:prstGeom prst="roundRect">
            <a:avLst/>
          </a:prstGeom>
          <a:solidFill>
            <a:srgbClr val="181E3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59E0B"/>
                </a:solidFill>
                <a:latin typeface="Arial"/>
              </a:defRPr>
            </a:pPr>
            <a:r>
              <a:t>STEP 4</a:t>
            </a:r>
            <a:br/>
            <a:br/>
            <a:r>
              <a:t>DPI-LS COST PARSER</a:t>
            </a:r>
          </a:p>
          <a:p>
            <a:br/>
            <a:r>
              <a:t>Aggregates raw bills &amp; converts to direct Cost Per Output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0" y="2011680"/>
            <a:ext cx="2103120" cy="4114800"/>
          </a:xfrm>
          <a:prstGeom prst="roundRect">
            <a:avLst/>
          </a:prstGeom>
          <a:solidFill>
            <a:srgbClr val="181E3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59E0B"/>
                </a:solidFill>
                <a:latin typeface="Arial"/>
              </a:defRPr>
            </a:pPr>
            <a:r>
              <a:t>STEP 5</a:t>
            </a:r>
            <a:br/>
            <a:br/>
            <a:r>
              <a:t>DPI-LS DATABASE / UI</a:t>
            </a:r>
          </a:p>
          <a:p>
            <a:br/>
            <a:r>
              <a:t>Ingested in observations &amp; displayed on the scorecard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Arial"/>
              </a:defRPr>
            </a:pPr>
            <a:r>
              <a:t>COST (C)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E5E7EB"/>
                </a:solidFill>
                <a:latin typeface="Arial"/>
              </a:defRPr>
            </a:pPr>
            <a:r>
              <a:t>Storage Cost Telemetry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4552" cy="18288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2103120" cy="4114800"/>
          </a:xfrm>
          <a:prstGeom prst="roundRect">
            <a:avLst/>
          </a:prstGeom>
          <a:solidFill>
            <a:srgbClr val="181E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0B981"/>
                </a:solidFill>
                <a:latin typeface="Arial"/>
              </a:defRPr>
            </a:pPr>
            <a:r>
              <a:t>STAGE 1</a:t>
            </a:r>
            <a:br/>
            <a:br/>
            <a:r>
              <a:t>AGENT STORAGE TARGETS</a:t>
            </a:r>
          </a:p>
          <a:p>
            <a:br/>
            <a:r>
              <a:t>S3 buckets for agent logs, RDS/DynamoDB for agent states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2011680"/>
            <a:ext cx="2103120" cy="4114800"/>
          </a:xfrm>
          <a:prstGeom prst="roundRect">
            <a:avLst/>
          </a:prstGeom>
          <a:solidFill>
            <a:srgbClr val="181E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0B981"/>
                </a:solidFill>
                <a:latin typeface="Arial"/>
              </a:defRPr>
            </a:pPr>
            <a:r>
              <a:t>STAGE 2</a:t>
            </a:r>
            <a:br/>
            <a:br/>
            <a:r>
              <a:t>AWS CLOUDWATCH / CLI</a:t>
            </a:r>
          </a:p>
          <a:p>
            <a:br/>
            <a:r>
              <a:t>Queries storage sizes, database size, and write IOPS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2011680"/>
            <a:ext cx="2103120" cy="4114800"/>
          </a:xfrm>
          <a:prstGeom prst="roundRect">
            <a:avLst/>
          </a:prstGeom>
          <a:solidFill>
            <a:srgbClr val="181E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0B981"/>
                </a:solidFill>
                <a:latin typeface="Arial"/>
              </a:defRPr>
            </a:pPr>
            <a:r>
              <a:t>STAGE 3</a:t>
            </a:r>
            <a:br/>
            <a:br/>
            <a:r>
              <a:t>AWS PRICING APIS</a:t>
            </a:r>
          </a:p>
          <a:p>
            <a:br/>
            <a:r>
              <a:t>Calculates regional storage charges ($/GB-month and $/IOPS)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2011680"/>
            <a:ext cx="2103120" cy="4114800"/>
          </a:xfrm>
          <a:prstGeom prst="roundRect">
            <a:avLst/>
          </a:prstGeom>
          <a:solidFill>
            <a:srgbClr val="181E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0B981"/>
                </a:solidFill>
                <a:latin typeface="Arial"/>
              </a:defRPr>
            </a:pPr>
            <a:r>
              <a:t>STAGE 4</a:t>
            </a:r>
            <a:br/>
            <a:br/>
            <a:r>
              <a:t>DPI-LS STORAGE SERVICE</a:t>
            </a:r>
          </a:p>
          <a:p>
            <a:br/>
            <a:r>
              <a:t>Aggregates storage costs &amp; updates cost metrics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0" y="2011680"/>
            <a:ext cx="2103120" cy="4114800"/>
          </a:xfrm>
          <a:prstGeom prst="roundRect">
            <a:avLst/>
          </a:prstGeom>
          <a:solidFill>
            <a:srgbClr val="181E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0B981"/>
                </a:solidFill>
                <a:latin typeface="Arial"/>
              </a:defRPr>
            </a:pPr>
            <a:r>
              <a:t>STAGE 5</a:t>
            </a:r>
            <a:br/>
            <a:br/>
            <a:r>
              <a:t>SCORING ENGINE</a:t>
            </a:r>
          </a:p>
          <a:p>
            <a:br/>
            <a:r>
              <a:t>Integrates storage cost into TCO &amp; final performance scorecard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Arial"/>
              </a:defRPr>
            </a:pPr>
            <a:r>
              <a:t>PHOENIX 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E5E7EB"/>
                </a:solidFill>
                <a:latin typeface="Arial"/>
              </a:defRPr>
            </a:pPr>
            <a:r>
              <a:t>Arize Phoenix: Real-Time Trace &amp; LLM Eval Ingestion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4552" cy="18288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A855F7"/>
                </a:solidFill>
                <a:latin typeface="Arial"/>
              </a:defRPr>
            </a:pPr>
            <a:r>
              <a:t>PHOENIX TELEMETRY SUMMARY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Port: 6006 (Arize Phoenix server)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Captures complete agent execution traces, spans, and call hierarchy.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Logs prompt values, LLM generation outputs, and system latency.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Evaluations include QA Accuracy, groundedness, and hallucination scores.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Latest trace logged: 'ChandraFinOpsRun' (Trace ID eff6789454034261ddb8975449697477)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Ensures full audit-trail capacity for all GenAI LLM steps.</a:t>
            </a:r>
          </a:p>
        </p:txBody>
      </p:sp>
      <p:pic>
        <p:nvPicPr>
          <p:cNvPr id="6" name="Picture 5" descr="media__178229331077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Arial"/>
              </a:defRPr>
            </a:pPr>
            <a:r>
              <a:t>MLFLOW 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E5E7EB"/>
                </a:solidFill>
                <a:latin typeface="Arial"/>
              </a:defRPr>
            </a:pPr>
            <a:r>
              <a:t>MLflow Observability: Experiment &amp; Run Tracking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4552" cy="18288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  <a:latin typeface="Arial"/>
              </a:defRPr>
            </a:pPr>
            <a:r>
              <a:t>MLFLOW METRIC INTEGRATION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Tracking URI: http://localhost:5000 (SQLite backed backend store)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Experiment ID 4: 'Chandra FinOps' dedicated workspace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Tracks model inputs, output responses, execution metadata, parameters, and evaluated metrics.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GenAI Traces: Embedded GenAI traces are successfully recorded under the runs tab.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Integrates with OpenTelemetry dual-export to capture identical traces.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Proves the agent runs are standardized, tracked, and registered in corporate registry.</a:t>
            </a:r>
          </a:p>
        </p:txBody>
      </p:sp>
      <p:pic>
        <p:nvPicPr>
          <p:cNvPr id="6" name="Picture 5" descr="media__178229328658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Arial"/>
              </a:defRPr>
            </a:pPr>
            <a:r>
              <a:t>API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E5E7EB"/>
                </a:solidFill>
                <a:latin typeface="Arial"/>
              </a:defRPr>
            </a:pPr>
            <a:r>
              <a:t>Backend Evidence: API-Driven Data Integrity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4552" cy="18288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9E0B"/>
                </a:solidFill>
                <a:latin typeface="Arial"/>
              </a:defRPr>
            </a:pPr>
            <a:r>
              <a:t>API RESULT ENDPOINT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Endpoint: /api/cost-evaluation/results (FastAPI core)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Returns JSON array listing latest evaluations for all resources.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Guarantees data transparency: values on the dashboard are not mocked or hardcoded.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Provides verification status, evidence statements, and run execution status.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Can be integrated into third-party enterprise tools or CI/CD pipelines.</a:t>
            </a:r>
          </a:p>
        </p:txBody>
      </p:sp>
      <p:pic>
        <p:nvPicPr>
          <p:cNvPr id="6" name="Picture 5" descr="media__17822933334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Arial"/>
              </a:defRPr>
            </a:pPr>
            <a:r>
              <a:t>AUTOMATION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E5E7EB"/>
                </a:solidFill>
                <a:latin typeface="Arial"/>
              </a:defRPr>
            </a:pPr>
            <a:r>
              <a:t>Future Vision: Autonomous Resource Discovery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4552" cy="18288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  <a:latin typeface="Arial"/>
              </a:defRPr>
            </a:pPr>
            <a:r>
              <a:t>AUTO-PROVISIONING DATA FLOW</a:t>
            </a:r>
          </a:p>
          <a:p>
            <a:pPr>
              <a:spcAft>
                <a:spcPts val="600"/>
              </a:spcAft>
              <a:defRPr sz="1100">
                <a:solidFill>
                  <a:srgbClr val="E5E7EB"/>
                </a:solidFill>
                <a:latin typeface="Arial"/>
              </a:defRPr>
            </a:pPr>
            <a:r>
              <a:t>• When administrator adds a datasource in Grafana:</a:t>
            </a:r>
          </a:p>
          <a:p>
            <a:pPr>
              <a:spcAft>
                <a:spcPts val="600"/>
              </a:spcAft>
              <a:defRPr sz="1100" b="1">
                <a:solidFill>
                  <a:srgbClr val="F59E0B"/>
                </a:solidFill>
                <a:latin typeface="Arial"/>
              </a:defRPr>
            </a:pPr>
            <a:r>
              <a:t>  Grafana Datasource ➔ Resource Registry ➔ DPI-LS Resource Engine</a:t>
            </a:r>
          </a:p>
          <a:p>
            <a:pPr>
              <a:spcAft>
                <a:spcPts val="600"/>
              </a:spcAft>
              <a:defRPr sz="1100" b="1">
                <a:solidFill>
                  <a:srgbClr val="F59E0B"/>
                </a:solidFill>
                <a:latin typeface="Arial"/>
              </a:defRPr>
            </a:pPr>
            <a:r>
              <a:t>  ➔ Automatic Resource Creation ➔ Automatic Metric Detection</a:t>
            </a:r>
          </a:p>
          <a:p>
            <a:pPr>
              <a:spcAft>
                <a:spcPts val="600"/>
              </a:spcAft>
              <a:defRPr sz="1100" b="1">
                <a:solidFill>
                  <a:srgbClr val="F59E0B"/>
                </a:solidFill>
                <a:latin typeface="Arial"/>
              </a:defRPr>
            </a:pPr>
            <a:r>
              <a:t>  ➔ Automatic Dashboard Card Creation ➔ Available To All Agents</a:t>
            </a:r>
          </a:p>
          <a:p>
            <a:pPr>
              <a:spcAft>
                <a:spcPts val="600"/>
              </a:spcAft>
              <a:defRPr sz="1100">
                <a:solidFill>
                  <a:srgbClr val="E5E7EB"/>
                </a:solidFill>
                <a:latin typeface="Arial"/>
              </a:defRPr>
            </a:pPr>
            <a:r>
              <a:t>• Example: Add Langfuse datasource in Grafana UI...</a:t>
            </a:r>
          </a:p>
          <a:p>
            <a:pPr>
              <a:spcAft>
                <a:spcPts val="600"/>
              </a:spcAft>
              <a:defRPr sz="1100">
                <a:solidFill>
                  <a:srgbClr val="E5E7EB"/>
                </a:solidFill>
                <a:latin typeface="Arial"/>
              </a:defRPr>
            </a:pPr>
            <a:r>
              <a:t>• System automatically provisions: Resource card, Cost metrics, Quality metrics, Validation metrics, and dashboard integration.</a:t>
            </a:r>
          </a:p>
          <a:p>
            <a:pPr>
              <a:spcAft>
                <a:spcPts val="600"/>
              </a:spcAft>
              <a:defRPr sz="1100">
                <a:solidFill>
                  <a:srgbClr val="E5E7EB"/>
                </a:solidFill>
                <a:latin typeface="Arial"/>
              </a:defRPr>
            </a:pPr>
            <a:r>
              <a:t>• Zero manual coding or redeployment required. Scale autonomously.</a:t>
            </a:r>
          </a:p>
        </p:txBody>
      </p:sp>
      <p:pic>
        <p:nvPicPr>
          <p:cNvPr id="6" name="Picture 5" descr="media__17822967374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Arial"/>
              </a:defRPr>
            </a:pPr>
            <a:r>
              <a:t>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E5E7EB"/>
                </a:solidFill>
                <a:latin typeface="Arial"/>
              </a:defRPr>
            </a:pPr>
            <a:r>
              <a:t>Datasource Integration Automation 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4552" cy="18288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  <a:latin typeface="Arial"/>
              </a:defRPr>
            </a:pPr>
            <a:r>
              <a:t>THE AUTO-PROVISIONING ARCHITECTURE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Eliminates manual dashboard updates for new telemetry sources.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Framework: A resource engine listens for Grafana data source events via webhooks.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When a new source is registered: database tables are dynamically generated, the evaluation scheduler binds the endpoints, and metric cards auto-populate the executive scoreboard.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Ensures immediate agent-agnostic scaling across all platforms.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No code changes or rebuilds are required to audit new resources.</a:t>
            </a:r>
          </a:p>
        </p:txBody>
      </p:sp>
      <p:pic>
        <p:nvPicPr>
          <p:cNvPr id="6" name="Picture 5" descr="media__17822967374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Arial"/>
              </a:defRPr>
            </a:pPr>
            <a:r>
              <a:t>ONBOARDING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E5E7EB"/>
                </a:solidFill>
                <a:latin typeface="Arial"/>
              </a:defRPr>
            </a:pPr>
            <a:r>
              <a:t>Client VPC Onboarding &amp; Telemetry Gateway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4552" cy="18288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2103120" cy="4114800"/>
          </a:xfrm>
          <a:prstGeom prst="roundRect">
            <a:avLst/>
          </a:prstGeom>
          <a:solidFill>
            <a:srgbClr val="181E30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A855F7"/>
                </a:solidFill>
                <a:latin typeface="Arial"/>
              </a:defRPr>
            </a:pPr>
            <a:r>
              <a:t>1. CLIENT VPC SETUP</a:t>
            </a:r>
          </a:p>
          <a:p>
            <a:br/>
            <a:r>
              <a:t>Client deploys Chandra Agent in private cloud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2011680"/>
            <a:ext cx="2103120" cy="4114800"/>
          </a:xfrm>
          <a:prstGeom prst="roundRect">
            <a:avLst/>
          </a:prstGeom>
          <a:solidFill>
            <a:srgbClr val="181E30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A855F7"/>
                </a:solidFill>
                <a:latin typeface="Arial"/>
              </a:defRPr>
            </a:pPr>
            <a:r>
              <a:t>2. TELEMETRY EXPORTERS</a:t>
            </a:r>
          </a:p>
          <a:p>
            <a:br/>
            <a:r>
              <a:t>OTel, Phoenix &amp; MLflow exporters 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2011680"/>
            <a:ext cx="2103120" cy="4114800"/>
          </a:xfrm>
          <a:prstGeom prst="roundRect">
            <a:avLst/>
          </a:prstGeom>
          <a:solidFill>
            <a:srgbClr val="181E30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A855F7"/>
                </a:solidFill>
                <a:latin typeface="Arial"/>
              </a:defRPr>
            </a:pPr>
            <a:r>
              <a:t>3. SECURE GATEWAY</a:t>
            </a:r>
          </a:p>
          <a:p>
            <a:br/>
            <a:r>
              <a:t>Encrypted HTTPS tunnel to DPI-LS portal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2011680"/>
            <a:ext cx="2103120" cy="4114800"/>
          </a:xfrm>
          <a:prstGeom prst="roundRect">
            <a:avLst/>
          </a:prstGeom>
          <a:solidFill>
            <a:srgbClr val="181E30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A855F7"/>
                </a:solidFill>
                <a:latin typeface="Arial"/>
              </a:defRPr>
            </a:pPr>
            <a:r>
              <a:t>4. SCORING ENGINE</a:t>
            </a:r>
          </a:p>
          <a:p>
            <a:br/>
            <a:r>
              <a:t>Calculates performance index in central hub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0" y="2011680"/>
            <a:ext cx="2103120" cy="4114800"/>
          </a:xfrm>
          <a:prstGeom prst="roundRect">
            <a:avLst/>
          </a:prstGeom>
          <a:solidFill>
            <a:srgbClr val="181E30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A855F7"/>
                </a:solidFill>
                <a:latin typeface="Arial"/>
              </a:defRPr>
            </a:pPr>
            <a:r>
              <a:t>5. CLIENT DASHBOARD</a:t>
            </a:r>
          </a:p>
          <a:p>
            <a:br/>
            <a:r>
              <a:t>Grafana displays scorecard securely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Arial"/>
              </a:defRPr>
            </a:pPr>
            <a:r>
              <a:t>EXECUTION (E)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E5E7EB"/>
                </a:solidFill>
                <a:latin typeface="Arial"/>
              </a:defRPr>
            </a:pPr>
            <a:r>
              <a:t>Utilization Metric Implementation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4552" cy="18288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3474720" cy="4572000"/>
          </a:xfrm>
          <a:prstGeom prst="roundRect">
            <a:avLst/>
          </a:prstGeom>
          <a:solidFill>
            <a:srgbClr val="181E3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59E0B"/>
                </a:solidFill>
                <a:latin typeface="Arial"/>
              </a:defRPr>
            </a:pPr>
            <a:r>
              <a:t>STAGE 1: PROCESS PROFILING</a:t>
            </a:r>
          </a:p>
          <a:p>
            <a:pPr>
              <a:spcAft>
                <a:spcPts val="400"/>
              </a:spcAft>
              <a:defRPr sz="1000">
                <a:solidFill>
                  <a:srgbClr val="E5E7EB"/>
                </a:solidFill>
                <a:latin typeface="Arial"/>
              </a:defRPr>
            </a:pPr>
            <a:r>
              <a:t>• Install host profiling libraries (psutil package).</a:t>
            </a:r>
          </a:p>
          <a:p>
            <a:pPr>
              <a:spcAft>
                <a:spcPts val="400"/>
              </a:spcAft>
              <a:defRPr sz="1000">
                <a:solidFill>
                  <a:srgbClr val="E5E7EB"/>
                </a:solidFill>
                <a:latin typeface="Arial"/>
              </a:defRPr>
            </a:pPr>
            <a:r>
              <a:t>• Hook agent run lifecycle to trigger CPU usage checks at startup and shutdown.</a:t>
            </a:r>
          </a:p>
          <a:p>
            <a:pPr>
              <a:spcAft>
                <a:spcPts val="400"/>
              </a:spcAft>
              <a:defRPr sz="1000">
                <a:solidFill>
                  <a:srgbClr val="E5E7EB"/>
                </a:solidFill>
                <a:latin typeface="Arial"/>
              </a:defRPr>
            </a:pPr>
            <a:r>
              <a:t>• Evaluate host CPU usage percent over runtime duration.</a:t>
            </a:r>
          </a:p>
          <a:p>
            <a:pPr>
              <a:spcAft>
                <a:spcPts val="400"/>
              </a:spcAft>
              <a:defRPr sz="1000">
                <a:solidFill>
                  <a:srgbClr val="E5E7EB"/>
                </a:solidFill>
                <a:latin typeface="Arial"/>
              </a:defRPr>
            </a:pPr>
            <a:r>
              <a:t>• Log utilization values to Observations payload.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474720" cy="4572000"/>
          </a:xfrm>
          <a:prstGeom prst="roundRect">
            <a:avLst/>
          </a:prstGeom>
          <a:solidFill>
            <a:srgbClr val="181E30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26280" y="178308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A855F7"/>
                </a:solidFill>
                <a:latin typeface="Arial"/>
              </a:defRPr>
            </a:pPr>
            <a:r>
              <a:t>STAGE 2: TELEMETRY EXPORT</a:t>
            </a:r>
          </a:p>
          <a:p>
            <a:pPr>
              <a:spcAft>
                <a:spcPts val="400"/>
              </a:spcAft>
              <a:defRPr sz="1000">
                <a:solidFill>
                  <a:srgbClr val="E5E7EB"/>
                </a:solidFill>
                <a:latin typeface="Arial"/>
              </a:defRPr>
            </a:pPr>
            <a:r>
              <a:t>• Map host CPU metrics to Prometheus counters.</a:t>
            </a:r>
          </a:p>
          <a:p>
            <a:pPr>
              <a:spcAft>
                <a:spcPts val="400"/>
              </a:spcAft>
              <a:defRPr sz="1000">
                <a:solidFill>
                  <a:srgbClr val="E5E7EB"/>
                </a:solidFill>
                <a:latin typeface="Arial"/>
              </a:defRPr>
            </a:pPr>
            <a:r>
              <a:t>• Export run utilization rates to Langfuse traces.</a:t>
            </a:r>
          </a:p>
          <a:p>
            <a:pPr>
              <a:spcAft>
                <a:spcPts val="400"/>
              </a:spcAft>
              <a:defRPr sz="1000">
                <a:solidFill>
                  <a:srgbClr val="E5E7EB"/>
                </a:solidFill>
                <a:latin typeface="Arial"/>
              </a:defRPr>
            </a:pPr>
            <a:r>
              <a:t>• Push system execution stats to MLflow run metrics.</a:t>
            </a:r>
          </a:p>
          <a:p>
            <a:pPr>
              <a:spcAft>
                <a:spcPts val="400"/>
              </a:spcAft>
              <a:defRPr sz="1000">
                <a:solidFill>
                  <a:srgbClr val="E5E7EB"/>
                </a:solidFill>
                <a:latin typeface="Arial"/>
              </a:defRPr>
            </a:pPr>
            <a:r>
              <a:t>• Establish CPU capping limits (warn if CPU &gt; 85%).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645920"/>
            <a:ext cx="3474720" cy="4572000"/>
          </a:xfrm>
          <a:prstGeom prst="roundRect">
            <a:avLst/>
          </a:prstGeom>
          <a:solidFill>
            <a:srgbClr val="181E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0" y="178308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0B981"/>
                </a:solidFill>
                <a:latin typeface="Arial"/>
              </a:defRPr>
            </a:pPr>
            <a:r>
              <a:t>STAGE 3: DASHBOARD INTEGRATION</a:t>
            </a:r>
          </a:p>
          <a:p>
            <a:pPr>
              <a:spcAft>
                <a:spcPts val="400"/>
              </a:spcAft>
              <a:defRPr sz="1000">
                <a:solidFill>
                  <a:srgbClr val="E5E7EB"/>
                </a:solidFill>
                <a:latin typeface="Arial"/>
              </a:defRPr>
            </a:pPr>
            <a:r>
              <a:t>• Render CPU and host memory stats on Grafana.</a:t>
            </a:r>
          </a:p>
          <a:p>
            <a:pPr>
              <a:spcAft>
                <a:spcPts val="400"/>
              </a:spcAft>
              <a:defRPr sz="1000">
                <a:solidFill>
                  <a:srgbClr val="E5E7EB"/>
                </a:solidFill>
                <a:latin typeface="Arial"/>
              </a:defRPr>
            </a:pPr>
            <a:r>
              <a:t>• Map Execution (E) score to penalize resource capping.</a:t>
            </a:r>
          </a:p>
          <a:p>
            <a:pPr>
              <a:spcAft>
                <a:spcPts val="400"/>
              </a:spcAft>
              <a:defRPr sz="1000">
                <a:solidFill>
                  <a:srgbClr val="E5E7EB"/>
                </a:solidFill>
                <a:latin typeface="Arial"/>
              </a:defRPr>
            </a:pPr>
            <a:r>
              <a:t>• Update Cost formulas to weight host hardware costs.</a:t>
            </a:r>
          </a:p>
          <a:p>
            <a:pPr>
              <a:spcAft>
                <a:spcPts val="400"/>
              </a:spcAft>
              <a:defRPr sz="1000">
                <a:solidFill>
                  <a:srgbClr val="E5E7EB"/>
                </a:solidFill>
                <a:latin typeface="Arial"/>
              </a:defRPr>
            </a:pPr>
            <a:r>
              <a:t>• Deploy autonomous alerts on resource breaches.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Arial"/>
              </a:defRPr>
            </a:pPr>
            <a:r>
              <a:t>QUALITY (Q)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E5E7EB"/>
                </a:solidFill>
                <a:latin typeface="Arial"/>
              </a:defRPr>
            </a:pPr>
            <a:r>
              <a:t>User Feedback Metric Implementation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4552" cy="18288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3474720" cy="4572000"/>
          </a:xfrm>
          <a:prstGeom prst="roundRect">
            <a:avLst/>
          </a:prstGeom>
          <a:solidFill>
            <a:srgbClr val="181E3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59E0B"/>
                </a:solidFill>
                <a:latin typeface="Arial"/>
              </a:defRPr>
            </a:pPr>
            <a:r>
              <a:t>STAGE 1: FEEDBACK CAPTURE UI</a:t>
            </a:r>
          </a:p>
          <a:p>
            <a:pPr>
              <a:spcAft>
                <a:spcPts val="400"/>
              </a:spcAft>
              <a:defRPr sz="1000">
                <a:solidFill>
                  <a:srgbClr val="E5E7EB"/>
                </a:solidFill>
                <a:latin typeface="Arial"/>
              </a:defRPr>
            </a:pPr>
            <a:r>
              <a:t>• Build user rating widgets directly in agent response panel.</a:t>
            </a:r>
          </a:p>
          <a:p>
            <a:pPr>
              <a:spcAft>
                <a:spcPts val="400"/>
              </a:spcAft>
              <a:defRPr sz="1000">
                <a:solidFill>
                  <a:srgbClr val="E5E7EB"/>
                </a:solidFill>
                <a:latin typeface="Arial"/>
              </a:defRPr>
            </a:pPr>
            <a:r>
              <a:t>• Allow thumbs-up/down, 5-star rating, and text comments.</a:t>
            </a:r>
          </a:p>
          <a:p>
            <a:pPr>
              <a:spcAft>
                <a:spcPts val="400"/>
              </a:spcAft>
              <a:defRPr sz="1000">
                <a:solidFill>
                  <a:srgbClr val="E5E7EB"/>
                </a:solidFill>
                <a:latin typeface="Arial"/>
              </a:defRPr>
            </a:pPr>
            <a:r>
              <a:t>• Expose endpoints to receive feedback submissions.</a:t>
            </a:r>
          </a:p>
          <a:p>
            <a:pPr>
              <a:spcAft>
                <a:spcPts val="400"/>
              </a:spcAft>
              <a:defRPr sz="1000">
                <a:solidFill>
                  <a:srgbClr val="E5E7EB"/>
                </a:solidFill>
                <a:latin typeface="Arial"/>
              </a:defRPr>
            </a:pPr>
            <a:r>
              <a:t>• Log human reviews under the new 'sme_ratings' table.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474720" cy="4572000"/>
          </a:xfrm>
          <a:prstGeom prst="roundRect">
            <a:avLst/>
          </a:prstGeom>
          <a:solidFill>
            <a:srgbClr val="181E30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26280" y="178308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A855F7"/>
                </a:solidFill>
                <a:latin typeface="Arial"/>
              </a:defRPr>
            </a:pPr>
            <a:r>
              <a:t>STAGE 2: TELEMETRY INGEST</a:t>
            </a:r>
          </a:p>
          <a:p>
            <a:pPr>
              <a:spcAft>
                <a:spcPts val="400"/>
              </a:spcAft>
              <a:defRPr sz="1000">
                <a:solidFill>
                  <a:srgbClr val="E5E7EB"/>
                </a:solidFill>
                <a:latin typeface="Arial"/>
              </a:defRPr>
            </a:pPr>
            <a:r>
              <a:t>• Map feedback scores to Langfuse trace metadata.</a:t>
            </a:r>
          </a:p>
          <a:p>
            <a:pPr>
              <a:spcAft>
                <a:spcPts val="400"/>
              </a:spcAft>
              <a:defRPr sz="1000">
                <a:solidFill>
                  <a:srgbClr val="E5E7EB"/>
                </a:solidFill>
                <a:latin typeface="Arial"/>
              </a:defRPr>
            </a:pPr>
            <a:r>
              <a:t>• Pipe average customer ratings to Prometheus gauges.</a:t>
            </a:r>
          </a:p>
          <a:p>
            <a:pPr>
              <a:spcAft>
                <a:spcPts val="400"/>
              </a:spcAft>
              <a:defRPr sz="1000">
                <a:solidFill>
                  <a:srgbClr val="E5E7EB"/>
                </a:solidFill>
                <a:latin typeface="Arial"/>
              </a:defRPr>
            </a:pPr>
            <a:r>
              <a:t>• Establish alerts in Grafana if feedback drop below 4.0.</a:t>
            </a:r>
          </a:p>
          <a:p>
            <a:pPr>
              <a:spcAft>
                <a:spcPts val="400"/>
              </a:spcAft>
              <a:defRPr sz="1000">
                <a:solidFill>
                  <a:srgbClr val="E5E7EB"/>
                </a:solidFill>
                <a:latin typeface="Arial"/>
              </a:defRPr>
            </a:pPr>
            <a:r>
              <a:t>• Associate feedback score with MLflow run registry.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645920"/>
            <a:ext cx="3474720" cy="4572000"/>
          </a:xfrm>
          <a:prstGeom prst="roundRect">
            <a:avLst/>
          </a:prstGeom>
          <a:solidFill>
            <a:srgbClr val="181E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0" y="178308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0B981"/>
                </a:solidFill>
                <a:latin typeface="Arial"/>
              </a:defRPr>
            </a:pPr>
            <a:r>
              <a:t>STAGE 3: SCORING INTEGRATION</a:t>
            </a:r>
          </a:p>
          <a:p>
            <a:pPr>
              <a:spcAft>
                <a:spcPts val="400"/>
              </a:spcAft>
              <a:defRPr sz="1000">
                <a:solidFill>
                  <a:srgbClr val="E5E7EB"/>
                </a:solidFill>
                <a:latin typeface="Arial"/>
              </a:defRPr>
            </a:pPr>
            <a:r>
              <a:t>• Map Quality (Q) score to integrate user feedback.</a:t>
            </a:r>
          </a:p>
          <a:p>
            <a:pPr>
              <a:spcAft>
                <a:spcPts val="400"/>
              </a:spcAft>
              <a:defRPr sz="1000">
                <a:solidFill>
                  <a:srgbClr val="E5E7EB"/>
                </a:solidFill>
                <a:latin typeface="Arial"/>
              </a:defRPr>
            </a:pPr>
            <a:r>
              <a:t>• Weight feedback score as 10% of the Quality metric.</a:t>
            </a:r>
          </a:p>
          <a:p>
            <a:pPr>
              <a:spcAft>
                <a:spcPts val="400"/>
              </a:spcAft>
              <a:defRPr sz="1000">
                <a:solidFill>
                  <a:srgbClr val="E5E7EB"/>
                </a:solidFill>
                <a:latin typeface="Arial"/>
              </a:defRPr>
            </a:pPr>
            <a:r>
              <a:t>• Dynamically update index scorecard when feedback arrives.</a:t>
            </a:r>
          </a:p>
          <a:p>
            <a:pPr>
              <a:spcAft>
                <a:spcPts val="400"/>
              </a:spcAft>
              <a:defRPr sz="1000">
                <a:solidFill>
                  <a:srgbClr val="E5E7EB"/>
                </a:solidFill>
                <a:latin typeface="Arial"/>
              </a:defRPr>
            </a:pPr>
            <a:r>
              <a:t>• Expose user feedback comments in backend API.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Arial"/>
              </a:defRPr>
            </a:pPr>
            <a:r>
              <a:t>PRESENTER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E5E7EB"/>
                </a:solidFill>
                <a:latin typeface="Arial"/>
              </a:defRPr>
            </a:pPr>
            <a:r>
              <a:t>Recorded Demo Walkthrough: Narration Script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4552" cy="18288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A855F7"/>
                </a:solidFill>
                <a:latin typeface="Arial"/>
              </a:defRPr>
            </a:pPr>
            <a:r>
              <a:t>DEMO SEQUENCE &amp; PRESENTATION BEATS</a:t>
            </a:r>
          </a:p>
          <a:p>
            <a:pPr>
              <a:spcAft>
                <a:spcPts val="500"/>
              </a:spcAft>
              <a:defRPr sz="1100">
                <a:solidFill>
                  <a:srgbClr val="E5E7EB"/>
                </a:solidFill>
                <a:latin typeface="Arial"/>
              </a:defRPr>
            </a:pPr>
            <a:r>
              <a:t>1. Dashboard [demo.html] — Show unified score (96) and card components.</a:t>
            </a:r>
          </a:p>
          <a:p>
            <a:pPr>
              <a:spcAft>
                <a:spcPts val="500"/>
              </a:spcAft>
              <a:defRPr sz="1100">
                <a:solidFill>
                  <a:srgbClr val="E5E7EB"/>
                </a:solidFill>
                <a:latin typeface="Arial"/>
              </a:defRPr>
            </a:pPr>
            <a:r>
              <a:t>2. Resources Page [resources.html] — Walk through the 5-step integration status.</a:t>
            </a:r>
          </a:p>
          <a:p>
            <a:pPr>
              <a:spcAft>
                <a:spcPts val="500"/>
              </a:spcAft>
              <a:defRPr sz="1100">
                <a:solidFill>
                  <a:srgbClr val="E5E7EB"/>
                </a:solidFill>
                <a:latin typeface="Arial"/>
              </a:defRPr>
            </a:pPr>
            <a:r>
              <a:t>3. Arize Phoenix [localhost:6006] — Show trace logs and chandra spans.</a:t>
            </a:r>
          </a:p>
          <a:p>
            <a:pPr>
              <a:spcAft>
                <a:spcPts val="500"/>
              </a:spcAft>
              <a:defRPr sz="1100">
                <a:solidFill>
                  <a:srgbClr val="E5E7EB"/>
                </a:solidFill>
                <a:latin typeface="Arial"/>
              </a:defRPr>
            </a:pPr>
            <a:r>
              <a:t>4. MLflow UI [localhost:5000] — Walk through registered runs and GenAI traces.</a:t>
            </a:r>
          </a:p>
          <a:p>
            <a:pPr>
              <a:spcAft>
                <a:spcPts val="500"/>
              </a:spcAft>
              <a:defRPr sz="1100">
                <a:solidFill>
                  <a:srgbClr val="E5E7EB"/>
                </a:solidFill>
                <a:latin typeface="Arial"/>
              </a:defRPr>
            </a:pPr>
            <a:r>
              <a:t>5. Results API [/api/cost-evaluation/results] — Show raw verified JSON data.</a:t>
            </a:r>
          </a:p>
          <a:p>
            <a:pPr>
              <a:spcAft>
                <a:spcPts val="500"/>
              </a:spcAft>
              <a:defRPr sz="1100">
                <a:solidFill>
                  <a:srgbClr val="E5E7EB"/>
                </a:solidFill>
                <a:latin typeface="Arial"/>
              </a:defRPr>
            </a:pPr>
            <a:r>
              <a:t>6. Grafana Dashboard — Walk through Grafana metrics (Score, TCO, Cost Trend).</a:t>
            </a:r>
          </a:p>
        </p:txBody>
      </p:sp>
      <p:pic>
        <p:nvPicPr>
          <p:cNvPr id="6" name="Picture 5" descr="media__17822933581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730587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Arial"/>
              </a:defRPr>
            </a:pPr>
            <a:r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E5E7EB"/>
                </a:solidFill>
                <a:latin typeface="Arial"/>
              </a:defRPr>
            </a:pPr>
            <a:r>
              <a:t>Current Build: Completion Status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4552" cy="18288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5486400" cy="4572000"/>
          </a:xfrm>
          <a:prstGeom prst="roundRect">
            <a:avLst/>
          </a:prstGeom>
          <a:solidFill>
            <a:srgbClr val="181E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120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0B981"/>
                </a:solidFill>
                <a:latin typeface="Arial"/>
              </a:defRPr>
            </a:pPr>
            <a:r>
              <a:t>COMPLETED &amp; VERIFIED (90%)</a:t>
            </a:r>
          </a:p>
          <a:p>
            <a:pPr>
              <a:spcAft>
                <a:spcPts val="400"/>
              </a:spcAft>
              <a:defRPr sz="1000">
                <a:solidFill>
                  <a:srgbClr val="E5E7EB"/>
                </a:solidFill>
                <a:latin typeface="Arial"/>
              </a:defRPr>
            </a:pPr>
            <a:r>
              <a:t>• FastAPI Backends &amp; SQLite registries fully implemented.</a:t>
            </a:r>
          </a:p>
          <a:p>
            <a:pPr>
              <a:spcAft>
                <a:spcPts val="400"/>
              </a:spcAft>
              <a:defRPr sz="1000">
                <a:solidFill>
                  <a:srgbClr val="E5E7EB"/>
                </a:solidFill>
                <a:latin typeface="Arial"/>
              </a:defRPr>
            </a:pPr>
            <a:r>
              <a:t>• Executive scoring engine (DPI-LS) operational.</a:t>
            </a:r>
          </a:p>
          <a:p>
            <a:pPr>
              <a:spcAft>
                <a:spcPts val="400"/>
              </a:spcAft>
              <a:defRPr sz="1000">
                <a:solidFill>
                  <a:srgbClr val="E5E7EB"/>
                </a:solidFill>
                <a:latin typeface="Arial"/>
              </a:defRPr>
            </a:pPr>
            <a:r>
              <a:t>• Arize Phoenix integration (port 6006) capturing all agent spans.</a:t>
            </a:r>
          </a:p>
          <a:p>
            <a:pPr>
              <a:spcAft>
                <a:spcPts val="400"/>
              </a:spcAft>
              <a:defRPr sz="1000">
                <a:solidFill>
                  <a:srgbClr val="E5E7EB"/>
                </a:solidFill>
                <a:latin typeface="Arial"/>
              </a:defRPr>
            </a:pPr>
            <a:r>
              <a:t>• MLflow integration (port 5000) logging parameters and runs.</a:t>
            </a:r>
          </a:p>
          <a:p>
            <a:pPr>
              <a:spcAft>
                <a:spcPts val="400"/>
              </a:spcAft>
              <a:defRPr sz="1000">
                <a:solidFill>
                  <a:srgbClr val="E5E7EB"/>
                </a:solidFill>
                <a:latin typeface="Arial"/>
              </a:defRPr>
            </a:pPr>
            <a:r>
              <a:t>• Quality evaluations (Groundedness, Accuracy, Hallucination).</a:t>
            </a:r>
          </a:p>
          <a:p>
            <a:pPr>
              <a:spcAft>
                <a:spcPts val="400"/>
              </a:spcAft>
              <a:defRPr sz="1000">
                <a:solidFill>
                  <a:srgbClr val="E5E7EB"/>
                </a:solidFill>
                <a:latin typeface="Arial"/>
              </a:defRPr>
            </a:pPr>
            <a:r>
              <a:t>• Validation compliance workflow (Required vs. Validated components).</a:t>
            </a:r>
          </a:p>
          <a:p>
            <a:pPr>
              <a:spcAft>
                <a:spcPts val="400"/>
              </a:spcAft>
              <a:defRPr sz="1000">
                <a:solidFill>
                  <a:srgbClr val="E5E7EB"/>
                </a:solidFill>
                <a:latin typeface="Arial"/>
              </a:defRPr>
            </a:pPr>
            <a:r>
              <a:t>• Unified dashboard UI &amp; Grafana telemetry scorecard operational.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486400" cy="4572000"/>
          </a:xfrm>
          <a:prstGeom prst="roundRect">
            <a:avLst/>
          </a:prstGeom>
          <a:solidFill>
            <a:srgbClr val="181E3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5120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59E0B"/>
                </a:solidFill>
                <a:latin typeface="Arial"/>
              </a:defRPr>
            </a:pPr>
            <a:r>
              <a:t>PENDING BACKLOG (10%)</a:t>
            </a:r>
          </a:p>
          <a:p>
            <a:pPr>
              <a:spcAft>
                <a:spcPts val="400"/>
              </a:spcAft>
              <a:defRPr sz="1000">
                <a:solidFill>
                  <a:srgbClr val="E5E7EB"/>
                </a:solidFill>
                <a:latin typeface="Arial"/>
              </a:defRPr>
            </a:pPr>
            <a:r>
              <a:t>• Infrastructure Cost: AWS Cost Explorer integrations.</a:t>
            </a:r>
          </a:p>
          <a:p>
            <a:pPr>
              <a:spcAft>
                <a:spcPts val="400"/>
              </a:spcAft>
              <a:defRPr sz="1000">
                <a:solidFill>
                  <a:srgbClr val="E5E7EB"/>
                </a:solidFill>
                <a:latin typeface="Arial"/>
              </a:defRPr>
            </a:pPr>
            <a:r>
              <a:t>• Storage Cost: AWS S3 &amp; RDS query pipeline.</a:t>
            </a:r>
          </a:p>
          <a:p>
            <a:pPr>
              <a:spcAft>
                <a:spcPts val="400"/>
              </a:spcAft>
              <a:defRPr sz="1000">
                <a:solidFill>
                  <a:srgbClr val="E5E7EB"/>
                </a:solidFill>
                <a:latin typeface="Arial"/>
              </a:defRPr>
            </a:pPr>
            <a:r>
              <a:t>• User Feedback Score: Staging feedback widget integration.</a:t>
            </a:r>
          </a:p>
          <a:p>
            <a:pPr>
              <a:spcAft>
                <a:spcPts val="400"/>
              </a:spcAft>
              <a:defRPr sz="1000">
                <a:solidFill>
                  <a:srgbClr val="E5E7EB"/>
                </a:solidFill>
                <a:latin typeface="Arial"/>
              </a:defRPr>
            </a:pPr>
            <a:r>
              <a:t>• Utilization: CPU host monitor integration (psutil).</a:t>
            </a:r>
          </a:p>
          <a:p>
            <a:pPr>
              <a:spcAft>
                <a:spcPts val="400"/>
              </a:spcAft>
              <a:defRPr sz="1000">
                <a:solidFill>
                  <a:srgbClr val="E5E7EB"/>
                </a:solidFill>
                <a:latin typeface="Arial"/>
              </a:defRPr>
            </a:pPr>
            <a:r>
              <a:t>• Advanced Automation: Autonomous datasource discovery.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Arial"/>
              </a:defRPr>
            </a:pPr>
            <a:r>
              <a:t>STRATEGIC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E5E7EB"/>
                </a:solidFill>
                <a:latin typeface="Arial"/>
              </a:defRPr>
            </a:pPr>
            <a:r>
              <a:t>Roadmap: Next Steps &amp; Business Metric Milestones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4552" cy="18288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45920"/>
          <a:ext cx="11274552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624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A855F7"/>
                          </a:solidFill>
                          <a:latin typeface="Arial"/>
                        </a:rPr>
                        <a:t>Milestone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A855F7"/>
                          </a:solidFill>
                          <a:latin typeface="Arial"/>
                        </a:rPr>
                        <a:t>Target Area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A855F7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A855F7"/>
                          </a:solidFill>
                          <a:latin typeface="Arial"/>
                        </a:rPr>
                        <a:t>Deliverable / Technical Outcome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5E7EB"/>
                          </a:solidFill>
                          <a:latin typeface="Arial"/>
                        </a:rPr>
                        <a:t>Phase 37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5E7EB"/>
                          </a:solidFill>
                          <a:latin typeface="Arial"/>
                        </a:rPr>
                        <a:t>Trace Recovery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0B981"/>
                          </a:solidFill>
                          <a:latin typeface="Arial"/>
                        </a:rPr>
                        <a:t>COMPLETED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5E7EB"/>
                          </a:solidFill>
                          <a:latin typeface="Arial"/>
                        </a:rPr>
                        <a:t>Recover Phoenix &amp; MLflow trace synchronization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5E7EB"/>
                          </a:solidFill>
                          <a:latin typeface="Arial"/>
                        </a:rPr>
                        <a:t>Phase 38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5E7EB"/>
                          </a:solidFill>
                          <a:latin typeface="Arial"/>
                        </a:rPr>
                        <a:t>Phoenix Cleanup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A855F7"/>
                          </a:solidFill>
                          <a:latin typeface="Arial"/>
                        </a:rPr>
                        <a:t>ACTIVE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5E7EB"/>
                          </a:solidFill>
                          <a:latin typeface="Arial"/>
                        </a:rPr>
                        <a:t>Implement project namespaces and trace workspace grouping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5E7EB"/>
                          </a:solidFill>
                          <a:latin typeface="Arial"/>
                        </a:rPr>
                        <a:t>Phase 39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5E7EB"/>
                          </a:solidFill>
                          <a:latin typeface="Arial"/>
                        </a:rPr>
                        <a:t>Feedback Metrics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59E0B"/>
                          </a:solidFill>
                          <a:latin typeface="Arial"/>
                        </a:rPr>
                        <a:t>PLANNED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5E7EB"/>
                          </a:solidFill>
                          <a:latin typeface="Arial"/>
                        </a:rPr>
                        <a:t>Pipes user ratings into Prometheus &amp; Langfuse telemetry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5E7EB"/>
                          </a:solidFill>
                          <a:latin typeface="Arial"/>
                        </a:rPr>
                        <a:t>Phase 40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5E7EB"/>
                          </a:solidFill>
                          <a:latin typeface="Arial"/>
                        </a:rPr>
                        <a:t>Utilization Metrics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59E0B"/>
                          </a:solidFill>
                          <a:latin typeface="Arial"/>
                        </a:rPr>
                        <a:t>PLANNED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5E7EB"/>
                          </a:solidFill>
                          <a:latin typeface="Arial"/>
                        </a:rPr>
                        <a:t>Integrate psutil agent resource usage profiling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5E7EB"/>
                          </a:solidFill>
                          <a:latin typeface="Arial"/>
                        </a:rPr>
                        <a:t>Phase 41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5E7EB"/>
                          </a:solidFill>
                          <a:latin typeface="Arial"/>
                        </a:rPr>
                        <a:t>Infrastructure Cost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59E0B"/>
                          </a:solidFill>
                          <a:latin typeface="Arial"/>
                        </a:rPr>
                        <a:t>PLANNED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5E7EB"/>
                          </a:solidFill>
                          <a:latin typeface="Arial"/>
                        </a:rPr>
                        <a:t>AWS CE API queries for EC2/ECS runtime costs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5E7EB"/>
                          </a:solidFill>
                          <a:latin typeface="Arial"/>
                        </a:rPr>
                        <a:t>Phase 42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5E7EB"/>
                          </a:solidFill>
                          <a:latin typeface="Arial"/>
                        </a:rPr>
                        <a:t>Storage Cost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59E0B"/>
                          </a:solidFill>
                          <a:latin typeface="Arial"/>
                        </a:rPr>
                        <a:t>PLANNED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5E7EB"/>
                          </a:solidFill>
                          <a:latin typeface="Arial"/>
                        </a:rPr>
                        <a:t>S3 &amp; RDS storage sizing metric queries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5E7EB"/>
                          </a:solidFill>
                          <a:latin typeface="Arial"/>
                        </a:rPr>
                        <a:t>Phase 43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5E7EB"/>
                          </a:solidFill>
                          <a:latin typeface="Arial"/>
                        </a:rPr>
                        <a:t>Business ROI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59E0B"/>
                          </a:solidFill>
                          <a:latin typeface="Arial"/>
                        </a:rPr>
                        <a:t>PLANNED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5E7EB"/>
                          </a:solidFill>
                          <a:latin typeface="Arial"/>
                        </a:rPr>
                        <a:t>ROI % &amp; human-replacement cost savings dashboard widgets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Arial"/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E5E7EB"/>
                </a:solidFill>
                <a:latin typeface="Arial"/>
              </a:defRPr>
            </a:pPr>
            <a:r>
              <a:t>Conclusion: Built, Verified &amp; Ready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4552" cy="18288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000" b="1">
                <a:solidFill>
                  <a:srgbClr val="10B981"/>
                </a:solidFill>
                <a:latin typeface="Arial"/>
              </a:defRPr>
            </a:pPr>
            <a:r>
              <a:t>KEY TAKEAWAYS FOR LEADERSHIP</a:t>
            </a:r>
          </a:p>
          <a:p>
            <a:pPr>
              <a:spcAft>
                <a:spcPts val="1200"/>
              </a:spcAft>
              <a:defRPr sz="1400">
                <a:solidFill>
                  <a:srgbClr val="E5E7EB"/>
                </a:solidFill>
                <a:latin typeface="Arial"/>
              </a:defRPr>
            </a:pPr>
            <a:r>
              <a:t>✔  DPI-LS Scoring Engine &amp; Executive Dashboard are fully operational.</a:t>
            </a:r>
          </a:p>
          <a:p>
            <a:pPr>
              <a:spcAft>
                <a:spcPts val="1200"/>
              </a:spcAft>
              <a:defRPr sz="1400">
                <a:solidFill>
                  <a:srgbClr val="E5E7EB"/>
                </a:solidFill>
                <a:latin typeface="Arial"/>
              </a:defRPr>
            </a:pPr>
            <a:r>
              <a:t>✔  Chandra FinOps agent telemetry successfully integrates across Phoenix, MLflow, Prometheus, and Grafana.</a:t>
            </a:r>
          </a:p>
          <a:p>
            <a:pPr>
              <a:spcAft>
                <a:spcPts val="1200"/>
              </a:spcAft>
              <a:defRPr sz="1400">
                <a:solidFill>
                  <a:srgbClr val="E5E7EB"/>
                </a:solidFill>
                <a:latin typeface="Arial"/>
              </a:defRPr>
            </a:pPr>
            <a:r>
              <a:t>✔  Real-time traces and compliance criteria are parsed dynamically from raw metrics, not mocked.</a:t>
            </a:r>
          </a:p>
          <a:p>
            <a:pPr>
              <a:spcAft>
                <a:spcPts val="1200"/>
              </a:spcAft>
              <a:defRPr sz="1400">
                <a:solidFill>
                  <a:srgbClr val="E5E7EB"/>
                </a:solidFill>
                <a:latin typeface="Arial"/>
              </a:defRPr>
            </a:pPr>
            <a:r>
              <a:t>✔  System has been successfully audited and verified via multi-run telemetry loop.</a:t>
            </a:r>
          </a:p>
          <a:p>
            <a:pPr>
              <a:spcAft>
                <a:spcPts val="1200"/>
              </a:spcAft>
              <a:defRPr sz="1400">
                <a:solidFill>
                  <a:srgbClr val="E5E7EB"/>
                </a:solidFill>
                <a:latin typeface="Arial"/>
              </a:defRPr>
            </a:pPr>
            <a:r>
              <a:t>✔  Current build is READY FOR RANGA and executive client reviews.</a:t>
            </a:r>
          </a:p>
          <a:p>
            <a:pPr>
              <a:spcAft>
                <a:spcPts val="1200"/>
              </a:spcAft>
              <a:defRPr sz="1400">
                <a:solidFill>
                  <a:srgbClr val="E5E7EB"/>
                </a:solidFill>
                <a:latin typeface="Arial"/>
              </a:defRPr>
            </a:pPr>
            <a:r>
              <a:t>✔  Next immediate focus is building out the AWS Cost Explorer integration for full TCO mapping.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3410</Words>
  <Application>Microsoft Office PowerPoint</Application>
  <PresentationFormat>Custom</PresentationFormat>
  <Paragraphs>570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Nagendra Panda (Intelligenz IT)</cp:lastModifiedBy>
  <cp:revision>2</cp:revision>
  <dcterms:created xsi:type="dcterms:W3CDTF">2013-01-27T09:14:16Z</dcterms:created>
  <dcterms:modified xsi:type="dcterms:W3CDTF">2026-06-29T05:05:52Z</dcterms:modified>
  <cp:category/>
</cp:coreProperties>
</file>