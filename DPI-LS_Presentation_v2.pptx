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640080" cy="4114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1F5F9"/>
                </a:solidFill>
              </a:defRPr>
            </a:pPr>
            <a:r>
              <a:t>What is DPI-LS?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Digital Performance Index for Life Sciences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68880"/>
            <a:ext cx="5029200" cy="914400"/>
          </a:xfrm>
          <a:prstGeom prst="round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200" b="1">
                <a:solidFill>
                  <a:srgbClr val="FACC15"/>
                </a:solidFill>
              </a:rPr>
              <a:t>Workflow: </a:t>
            </a:r>
            <a:r>
              <a:rPr sz="1200">
                <a:solidFill>
                  <a:srgbClr val="94A3B8"/>
                </a:solidFill>
              </a:rPr>
              <a:t>The system measures your AI's health — just like an airport departure board, you can instantly see if your digital workers are delayed, failing, or operating smoothly.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When companies deploy AI to do important work, they need to know if the AI is doing a good job, working safely, and saving money.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DPI-LS automatically measures 7 critical areas — Productivity, Quality, Execution, Governance, Risk, Validation, and Cost — and gives you a single, easy-to-understand score out of 100.</a:t>
            </a:r>
          </a:p>
        </p:txBody>
      </p:sp>
      <p:pic>
        <p:nvPicPr>
          <p:cNvPr id="7" name="Picture 6" descr="media_17870383163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731520"/>
            <a:ext cx="5669280" cy="53035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640080" cy="4114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1F5F9"/>
                </a:solidFill>
              </a:defRPr>
            </a:pPr>
            <a:r>
              <a:t>Agent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Registering Your AI Worker in the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68880"/>
            <a:ext cx="5029200" cy="914400"/>
          </a:xfrm>
          <a:prstGeom prst="round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200" b="1">
                <a:solidFill>
                  <a:srgbClr val="FACC15"/>
                </a:solidFill>
              </a:rPr>
              <a:t>Workflow: </a:t>
            </a:r>
            <a:r>
              <a:rPr sz="1200">
                <a:solidFill>
                  <a:srgbClr val="94A3B8"/>
                </a:solidFill>
              </a:rPr>
              <a:t>First, you register the AI in the system by giving it an identity and assigning human managers so it is never running without supervision.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Before we can track an AI's performance, we introduce it to the system.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• Give the AI a unique ID and description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• Define its business role (e.g. Finance, Accounts Payable)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• Assign a Manager, Business Owner, and Technical Owner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This ensures clear human accountability for the AI's actions.</a:t>
            </a:r>
          </a:p>
        </p:txBody>
      </p:sp>
      <p:pic>
        <p:nvPicPr>
          <p:cNvPr id="7" name="Picture 6" descr="media_17870401198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731520"/>
            <a:ext cx="5669280" cy="53035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640080" cy="4114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1F5F9"/>
                </a:solidFill>
              </a:defRPr>
            </a:pPr>
            <a:r>
              <a:t>KRA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Defining What Success Looks Like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68880"/>
            <a:ext cx="5029200" cy="914400"/>
          </a:xfrm>
          <a:prstGeom prst="round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200" b="1">
                <a:solidFill>
                  <a:srgbClr val="FACC15"/>
                </a:solidFill>
              </a:rPr>
              <a:t>Workflow: </a:t>
            </a:r>
            <a:r>
              <a:rPr sz="1200">
                <a:solidFill>
                  <a:srgbClr val="94A3B8"/>
                </a:solidFill>
              </a:rPr>
              <a:t>Next, you tell the system exactly what goals this AI needs to achieve and how important those goals are to your business.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KRA stands for Key Result Area. Not all AI agents have the same goals.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• Set a Target Value (e.g. 99.5% accuracy)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• Set a Weight (e.g. 85%)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This tells the scoring engine that accuracy is critical for this agent. If the AI makes a mistake, its overall score will be heavily penalized.</a:t>
            </a:r>
          </a:p>
        </p:txBody>
      </p:sp>
      <p:pic>
        <p:nvPicPr>
          <p:cNvPr id="7" name="Picture 6" descr="media_17870401653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731520"/>
            <a:ext cx="5669280" cy="53035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640080" cy="4114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1F5F9"/>
                </a:solidFill>
              </a:defRPr>
            </a:pPr>
            <a:r>
              <a:t>Static Data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Setting the Human Baseline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68880"/>
            <a:ext cx="5029200" cy="914400"/>
          </a:xfrm>
          <a:prstGeom prst="round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200" b="1">
                <a:solidFill>
                  <a:srgbClr val="FACC15"/>
                </a:solidFill>
              </a:rPr>
              <a:t>Workflow: </a:t>
            </a:r>
            <a:r>
              <a:rPr sz="1200">
                <a:solidFill>
                  <a:srgbClr val="94A3B8"/>
                </a:solidFill>
              </a:rPr>
              <a:t>Then, you input the Human Baseline — how fast or cheap a human would do the job — so the system can prove if the AI is actually saving you time and money.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To know if an AI is truly efficient, we compare it against how a human would do the same job.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• If a human processes 10 invoices per hour, set baseline to 10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• If the AI processes 20 invoices, the system calculates it is 2x more productive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This directly feeds into the Productivity and Cost dimensions.</a:t>
            </a:r>
          </a:p>
        </p:txBody>
      </p:sp>
      <p:pic>
        <p:nvPicPr>
          <p:cNvPr id="7" name="Picture 6" descr="media_17870401985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731520"/>
            <a:ext cx="5669280" cy="53035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640080" cy="4114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1F5F9"/>
                </a:solidFill>
              </a:defRPr>
            </a:pPr>
            <a:r>
              <a:t>Manager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Human Feedback Meets AI Automation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68880"/>
            <a:ext cx="5029200" cy="914400"/>
          </a:xfrm>
          <a:prstGeom prst="round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200" b="1">
                <a:solidFill>
                  <a:srgbClr val="FACC15"/>
                </a:solidFill>
              </a:rPr>
              <a:t>Workflow: </a:t>
            </a:r>
            <a:r>
              <a:rPr sz="1200">
                <a:solidFill>
                  <a:srgbClr val="94A3B8"/>
                </a:solidFill>
              </a:rPr>
              <a:t>A human supervisor leaves a 1 to 5 star rating. Clicking Submit automatically triggers the backend to calculate the AI's final score.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Numbers don't tell the whole story. The Manager Review blends subjective human feedback with objective data.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• The manager selects a rating from 1 to 5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• Leaves written comments or improvement plans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• Clicking Submit triggers the automated evaluation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The system gathers the baseline, KRA weights, and feedback, then runs a full telemetry evaluation in the background.</a:t>
            </a:r>
          </a:p>
        </p:txBody>
      </p:sp>
      <p:pic>
        <p:nvPicPr>
          <p:cNvPr id="7" name="Picture 6" descr="media_17870402445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731520"/>
            <a:ext cx="5669280" cy="53035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640080" cy="4114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1F5F9"/>
                </a:solidFill>
              </a:defRPr>
            </a:pPr>
            <a:r>
              <a:t>The DPI-LS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Your Central Command Center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68880"/>
            <a:ext cx="5029200" cy="914400"/>
          </a:xfrm>
          <a:prstGeom prst="round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200" b="1">
                <a:solidFill>
                  <a:srgbClr val="FACC15"/>
                </a:solidFill>
              </a:rPr>
              <a:t>Workflow: </a:t>
            </a:r>
            <a:r>
              <a:rPr sz="1200">
                <a:solidFill>
                  <a:srgbClr val="94A3B8"/>
                </a:solidFill>
              </a:rPr>
              <a:t>All the automation finishes and the results flow into this live command center, where executives can monitor all agents at a glance.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The Dashboard has four main sections: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• Dashboard — The main leaderboard with scores across 7 dimensions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• Resources — Documentation and AI operations manuals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• DPI-LS Score — Detailed scoring methodology breakdown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</a:defRPr>
            </a:pPr>
            <a:r>
              <a:t>• Submit Customer Feedback — End-user portal that feeds into Quality scores</a:t>
            </a:r>
          </a:p>
        </p:txBody>
      </p:sp>
      <p:pic>
        <p:nvPicPr>
          <p:cNvPr id="7" name="Picture 6" descr="media_17870402720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731520"/>
            <a:ext cx="5669280" cy="53035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74320"/>
            <a:ext cx="640080" cy="4114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DPI-LS Business Architecture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End-to-End Event-Driven Automation — From Onboarding to Live Dashboard</a:t>
            </a:r>
          </a:p>
        </p:txBody>
      </p:sp>
      <p:pic>
        <p:nvPicPr>
          <p:cNvPr id="5" name="Picture 4" descr="dpi_ls_architecture_17870405092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698480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