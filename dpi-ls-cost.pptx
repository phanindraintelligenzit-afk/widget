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  <a:latin typeface="Arial"/>
              </a:defRPr>
            </a:pPr>
            <a:r>
              <a:t>DIGITAL FTE</a:t>
            </a:r>
          </a:p>
          <a:p>
            <a:pPr>
              <a:spcBef>
                <a:spcPts val="1000"/>
              </a:spcBef>
              <a:defRPr sz="2800" b="1">
                <a:solidFill>
                  <a:srgbClr val="38BDF8"/>
                </a:solidFill>
                <a:latin typeface="Arial"/>
              </a:defRPr>
            </a:pPr>
            <a:r>
              <a:t>PERFORMANCE INDEX – LIFE SCIENCES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14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94A3B8"/>
                </a:solidFill>
                <a:latin typeface="Arial"/>
              </a:defRPr>
            </a:pPr>
            <a:r>
              <a:t>Cost Traceability, Real-Time Telemetry &amp; Core Scoring Validation</a:t>
            </a:r>
          </a:p>
          <a:p>
            <a:pPr>
              <a:spcBef>
                <a:spcPts val="800"/>
              </a:spcBef>
              <a:defRPr sz="1400" b="1">
                <a:solidFill>
                  <a:srgbClr val="10B981"/>
                </a:solidFill>
                <a:latin typeface="Arial"/>
              </a:defRPr>
            </a:pPr>
            <a:r>
              <a:t>Presented to: Wipro, Deloitte, JP Morgan, EY, PwC, Infosys &amp; Regeneron</a:t>
            </a:r>
          </a:p>
          <a:p>
            <a:pPr>
              <a:spcBef>
                <a:spcPts val="5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Executive Briefing: CEO, Ranga (CEO), Phani (Lead)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DPI-LS PERFORMANCE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What is DPI-LS &amp;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</a:defRPr>
            </a:pPr>
            <a:r>
              <a:t>Digital FTE Performance Index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</a:defRPr>
            </a:pPr>
            <a:r>
              <a:t>• DPI-LS is a comprehensive, risk-weighted KPI framework designed specifically for Life Sciences AI deployments.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</a:defRPr>
            </a:pPr>
            <a:r>
              <a:t>• It continuously measures agent performance across 7 Dimensions: Productivity (P), Quality (Q), Execution (E), Governance (G), Risk (R), Validation (V), and Cost (C).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</a:defRPr>
            </a:pPr>
            <a:r>
              <a:t>• It prevents unchecked runtime executions and provides full trace logging for compliance.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</a:defRPr>
            </a:pPr>
            <a:r>
              <a:t>• Composite Formula:</a:t>
            </a:r>
            <a:br/>
            <a:r>
              <a:t>  DPI-LS = (P × Q^1.5 × E) × (G^1.5 × R^2) × C × V</a:t>
            </a:r>
          </a:p>
        </p:txBody>
      </p:sp>
      <p:pic>
        <p:nvPicPr>
          <p:cNvPr id="5" name="Picture 4" descr="airport_board_17824058129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DPI-LS PERFORMANCE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Cost (C) Dimension &amp; Telemetry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38BDF8"/>
                </a:solidFill>
              </a:defRPr>
            </a:pPr>
            <a:r>
              <a:t>Defining the Cost (C) Dimension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The Cost score measures how economically viable the AI agent is relative to a human operator. Data is collected across three live telemetry tools: Langfuse (token cost tracking), Prometheus (aggregation metrics), and Grafana (dashboard visualization).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651760"/>
          <a:ext cx="106984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1645920"/>
                <a:gridCol w="2926080"/>
                <a:gridCol w="2011680"/>
                <a:gridCol w="3657600"/>
              </a:tblGrid>
              <a:tr h="8686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What It Measures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Source System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URL / Where Data Comes From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Token Spends &amp; API Latency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Counts raw input/output tokens and cost in USD.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Langfuse Cloud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https://cloud.langfuse.com (Secure API Keys)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Live Metrics (e.g. TCO, score)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Aggregates utilization, input/output tokens, and model costs.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Prometheus exporter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http://localhost:9090 (Port 9090 - Live query)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Efficiency Ratios &amp; Visuals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Tracks cost performance curves, raw values, and weighted indexes.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Grafana Dashboard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http://localhost:3000 (Port 3000 - Live UI)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DPI-LS PERFORMANCE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Formula &amp; Calculation Examples</a:t>
            </a:r>
          </a:p>
        </p:txBody>
      </p:sp>
      <p:pic>
        <p:nvPicPr>
          <p:cNvPr id="4" name="Picture 3" descr="media__17824594243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371600"/>
            <a:ext cx="365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</a:defRPr>
            </a:pPr>
            <a:r>
              <a:t>Key Logic Highlights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Formula:</a:t>
            </a:r>
            <a:br/>
            <a:r>
              <a:t>C = min(1.0, Human Cost / AI Cost) * Utilization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If AI is cheaper, the ratio is capped at 1.0 (maximum raw performance score).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If AI is more expensive than human, the ratio is inverted, causing the score to drop rapidly.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Utilization factor scales the score linearly to ensure idle/wasteful agents are penalized.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USD Formats: Live metrics are fully formatted in USD ($) across the entire UI/telemetry stack.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DPI-LS PERFORMANCE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DPI-LS Production Dashboards &amp; UI</a:t>
            </a:r>
          </a:p>
        </p:txBody>
      </p:sp>
      <p:pic>
        <p:nvPicPr>
          <p:cNvPr id="4" name="Picture 3" descr="resources_page_17824058446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76072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94A3B8"/>
                </a:solidFill>
              </a:defRPr>
            </a:pPr>
            <a:r>
              <a:t>Resources Page: Expanded default cards showing live USD costs per agent run</a:t>
            </a:r>
          </a:p>
        </p:txBody>
      </p:sp>
      <p:pic>
        <p:nvPicPr>
          <p:cNvPr id="6" name="Picture 5" descr="chandra_grafana_dashboard_17824488723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45920"/>
            <a:ext cx="512064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576072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94A3B8"/>
                </a:solidFill>
              </a:defRPr>
            </a:pPr>
            <a:r>
              <a:t>Grafana Dashboard: Real-time telemetry monitoring Chandra FinOps agent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DPI-LS PERFORMANCE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Production Command Execution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</a:defRPr>
            </a:pPr>
            <a:r>
              <a:t>Run each service in a separate PowerShell terminal to start the live dashboard:</a:t>
            </a:r>
          </a:p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</a:defRPr>
            </a:pPr>
            <a:r>
              <a:t>■ 1. Launch Prometheus (Port 9090)</a:t>
            </a:r>
          </a:p>
          <a:p>
            <a:pPr>
              <a:spcAft>
                <a:spcPts val="1000"/>
              </a:spcAft>
              <a:defRPr sz="1100">
                <a:solidFill>
                  <a:srgbClr val="38BDF8"/>
                </a:solidFill>
                <a:latin typeface="Consolas"/>
              </a:defRPr>
            </a:pPr>
            <a:r>
              <a:t>cd 'C:\Users\User\Downloads\prometheus-3.12.0.windows-amd64\prometheus-3.12.0.windows-amd64'</a:t>
            </a:r>
            <a:br/>
            <a:r>
              <a:t>.\prometheus.exe --config.file=prometheus.yml --web.listen-address=127.0.0.1:9090</a:t>
            </a:r>
          </a:p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</a:defRPr>
            </a:pPr>
            <a:r>
              <a:t>■ 2. Launch Grafana Server (Port 3000)</a:t>
            </a:r>
          </a:p>
          <a:p>
            <a:pPr>
              <a:spcAft>
                <a:spcPts val="1000"/>
              </a:spcAft>
              <a:defRPr sz="1100">
                <a:solidFill>
                  <a:srgbClr val="38BDF8"/>
                </a:solidFill>
                <a:latin typeface="Consolas"/>
              </a:defRPr>
            </a:pPr>
            <a:r>
              <a:t>cd 'C:\Users\User\Downloads\grafana_13.0.2_26816849631_windows_amd64\grafana-13.0.2\bin'</a:t>
            </a:r>
            <a:br/>
            <a:r>
              <a:t>.\grafana.exe server --homepath '..'</a:t>
            </a:r>
          </a:p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</a:defRPr>
            </a:pPr>
            <a:r>
              <a:t>■ 3. Start the API Backend Server (Port 8000)</a:t>
            </a:r>
          </a:p>
          <a:p>
            <a:pPr>
              <a:spcAft>
                <a:spcPts val="1000"/>
              </a:spcAft>
              <a:defRPr sz="1100">
                <a:solidFill>
                  <a:srgbClr val="38BDF8"/>
                </a:solidFill>
                <a:latin typeface="Consolas"/>
              </a:defRPr>
            </a:pPr>
            <a:r>
              <a:t>cd 'd:\Projects\widget\widget'</a:t>
            </a:r>
            <a:br/>
            <a:r>
              <a:t>uv run uvicorn api.app:app --host 127.0.0.1 --port 8000</a:t>
            </a:r>
          </a:p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</a:defRPr>
            </a:pPr>
            <a:r>
              <a:t>■ 4. Execute AI Agent Run (Pipes traces to Langfuse &amp; exports telemetry metrics)</a:t>
            </a:r>
          </a:p>
          <a:p>
            <a:pPr>
              <a:spcAft>
                <a:spcPts val="1000"/>
              </a:spcAft>
              <a:defRPr sz="1100">
                <a:solidFill>
                  <a:srgbClr val="38BDF8"/>
                </a:solidFill>
                <a:latin typeface="Consolas"/>
              </a:defRPr>
            </a:pPr>
            <a:r>
              <a:t>cd 'd:\Projects\widget\widget'</a:t>
            </a:r>
            <a:br/>
            <a:r>
              <a:t>uv run python examples/test_agent.py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