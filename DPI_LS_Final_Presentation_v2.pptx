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188720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645920" cy="347472"/>
          </a:xfrm>
          <a:prstGeom prst="rect">
            <a:avLst/>
          </a:prstGeom>
          <a:solidFill>
            <a:srgbClr val="27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COST  (C)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Cost &amp;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943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B829"/>
                </a:solidFill>
              </a:rPr>
              <a:t>DPI-LS Scoring System  —  19 parameters mapped to source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389888"/>
            <a:ext cx="11731752" cy="56692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389888"/>
            <a:ext cx="64008" cy="566928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264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829"/>
                </a:solidFill>
              </a:rPr>
              <a:t>WHAT IS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6420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Cost means how much money the AI spends to do a task  —  compared to how much a human would spend for the same task.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2029968"/>
          <a:ext cx="1141171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1691640"/>
                <a:gridCol w="2240280"/>
                <a:gridCol w="2103120"/>
                <a:gridCol w="5029200"/>
              </a:tblGrid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Measures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System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URL / Where Data Comes From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AI Cost Per Output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How much AI spends to finish one task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Langfuse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langfuse.com/docs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Human Cost Per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How much a human costs for the same 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Workday / SAP SuccessFactors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workday.com  |  sap.com/products/hcm.html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Token Cost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of every word the AI reads or writes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OpenAI / Anthropic Billing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platform.openai.com/usage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Infrastructure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Monthly server bill to keep the AI running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 Cost Explorer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aws.amazon.com/aws-cost-management/aws-cost-explorer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Monthly Spend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Total money spent on the AI in one month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 Cost &amp; Usage Reports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aws.amazon.com/aws-cost-management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Were we within budget or did we overspend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 Budgets / Azure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aws.amazon.com/aws-cost-management/aws-budgets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Budget Utilization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How much of our budget is already used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Kubecost / CloudZero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docs.kubecost.com  |  cloudzero.com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Reserved Instance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Savings from discounted reserved 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 RI Reports / Spot.io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aws.amazon.com/aws-cost-management  |  spot.io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License Cost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Software licensing fees for AI tools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Jira / ServiceNow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atlassian.com/jira  |  servicenow.com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Total Cost of Ownership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Grand total — servers + people +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Oracle HCM / AWS CUR / Jira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oracle.com/hcm  |  aws.amazon.com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Utilization Factor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Is the AI working or sitting idle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Prometheus / CloudWatch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prometheus.io  |  aws.amazon.com/cloudwatch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Model Fine-Tuning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of training or adjusting the AI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 / AWS Bedrock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mlflow.org  |  aws.amazon.com/bedrock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Data Ingestion Cost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to pull in files and data for the AI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Snowflake / AWS S3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snowflake.com  |  aws.amazon.com/s3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Network Egress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of sending data in and out over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 VPC / GCP 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aws.amazon.com/vpc  |  cloud.google.com/billing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API Gateway Overhead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of the routing system for AI requests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Apigee / AWS API Gateway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cloud.google.com/apigee  |  aws.amazon.com/api-gateway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Vector DB Storage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to store the AI memory (embeddings)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Pinecone / Qdrant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pinecone.io  |  qdrant.tech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Support &amp; Maintenance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Developer hours fixing AI when it breaks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Jira Service Management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atlassian.com/software/jira/service-management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Backup &amp; DR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to keep backup copies of the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 Backup / Azure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aws.amazon.com/backup  |  azure.microsoft.com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31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Cost Per Transaction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Dollar cost of one single user session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Datadog / Elastic APM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datadoghq.com  |  elastic.co/apm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7512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DDE"/>
                </a:solidFill>
              </a:rPr>
              <a:t>Confidential — Internal 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6675120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B829"/>
                </a:solidFill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188720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645920" cy="347472"/>
          </a:xfrm>
          <a:prstGeom prst="rect">
            <a:avLst/>
          </a:prstGeom>
          <a:solidFill>
            <a:srgbClr val="27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COST  (C)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Formula &amp; Calculation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943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B829"/>
                </a:solidFill>
              </a:rPr>
              <a:t>Good Example  vs  Bad Example — when score is high and when it drops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389888"/>
            <a:ext cx="11731752" cy="868680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389888"/>
            <a:ext cx="64008" cy="86868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26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829"/>
                </a:solidFill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642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Cost Score  =  min( 1.0,   Human Cost ÷ AI Cost )   ×   Utilization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331720"/>
            <a:ext cx="11731752" cy="438912"/>
          </a:xfrm>
          <a:prstGeom prst="rect">
            <a:avLst/>
          </a:prstGeom>
          <a:solidFill>
            <a:srgbClr val="D4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774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22"/>
                </a:solidFill>
              </a:rPr>
              <a:t>Simple meaning:  Divide Human Cost by AI Cost.  AI cheaper = score 1.0 (perfect).  AI more expensive = score drops.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5623560" cy="3611880"/>
          </a:xfrm>
          <a:prstGeom prst="rect">
            <a:avLst/>
          </a:prstGeom>
          <a:solidFill>
            <a:srgbClr val="1A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862072"/>
            <a:ext cx="64008" cy="361188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169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829"/>
                </a:solidFill>
              </a:rPr>
              <a:t>✅  GOOD EXAMPLE — AI is cheaper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3291840"/>
            <a:ext cx="5532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346704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Human Cost  =  ₹ 500  per report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AI Cost       =  ₹ 50    per report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Utilization   =  90%  ( 0.9 )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Step 1 :   500  ÷  50  =  10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Step 2 :   min( 1.0,  10 )  =  1.0</a:t>
            </a:r>
          </a:p>
          <a:p>
            <a:pPr algn="l"/>
            <a:r>
              <a:rPr sz="1000" b="0">
                <a:solidFill>
                  <a:srgbClr val="D4EDDE"/>
                </a:solidFill>
              </a:rPr>
              <a:t>           AI is cheaper → take 1.0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Step 3 :   1.0  ×  0.9  =  0.9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0B829"/>
                </a:solidFill>
              </a:rPr>
              <a:t>✅  Final Cost Score  =  0.9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D4EDDE"/>
                </a:solidFill>
              </a:rPr>
              <a:t>AI is saving money. Score is GOOD.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862072"/>
            <a:ext cx="5623560" cy="3611880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862072"/>
            <a:ext cx="64008" cy="361188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9169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829"/>
                </a:solidFill>
              </a:rPr>
              <a:t>❌  BAD EXAMPLE — AI is more expensive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291840"/>
            <a:ext cx="5532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346704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Human Cost  =  ₹ 50    per report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AI Cost       =  ₹ 200  per report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Utilization   =  90%  ( 0.9 )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Step 1 :   50  ÷  200  =  0.25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Step 2 :   min( 1.0,  0.25 )  =  0.25</a:t>
            </a:r>
          </a:p>
          <a:p>
            <a:pPr algn="l"/>
            <a:r>
              <a:rPr sz="1000" b="0">
                <a:solidFill>
                  <a:srgbClr val="FFAAAA"/>
                </a:solidFill>
              </a:rPr>
              <a:t>           AI costs more than human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Step 3 :   0.25  ×  0.9  =  0.22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0B829"/>
                </a:solidFill>
              </a:rPr>
              <a:t>❌  Final Cost Score  =  0.22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FFAAAA"/>
                </a:solidFill>
              </a:rPr>
              <a:t>AI costs more. Score DROPS.</a:t>
            </a:r>
          </a:p>
          <a:p>
            <a:pPr algn="l"/>
            <a:r>
              <a:rPr sz="1100" b="0">
                <a:solidFill>
                  <a:srgbClr val="FFAAAA"/>
                </a:solidFill>
              </a:rPr>
              <a:t>Needs to be fixed immediately.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67512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DDE"/>
                </a:solidFill>
              </a:rPr>
              <a:t>Confidential —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675120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B829"/>
                </a:solidFill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188720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645920" cy="347472"/>
          </a:xfrm>
          <a:prstGeom prst="rect">
            <a:avLst/>
          </a:prstGeom>
          <a:solidFill>
            <a:srgbClr val="27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VALIDATION  (V)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Validation &amp;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943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B829"/>
                </a:solidFill>
              </a:rPr>
              <a:t>DPI-LS Scoring System  —  17 parameters mapped to source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389888"/>
            <a:ext cx="11731752" cy="56692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389888"/>
            <a:ext cx="64008" cy="566928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264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829"/>
                </a:solidFill>
              </a:rPr>
              <a:t>WHAT IS VALIDATION?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6420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Validation means checking whether the AI is producing correct and reliable results  —  and whether the output is in the right format for regulators to read.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2029968"/>
          <a:ext cx="1141171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1691640"/>
                <a:gridCol w="2240280"/>
                <a:gridCol w="2103120"/>
                <a:gridCol w="5029200"/>
              </a:tblGrid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Measures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System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URL / Where Data Comes From</a:t>
                      </a:r>
                    </a:p>
                  </a:txBody>
                  <a:tcPr>
                    <a:solidFill>
                      <a:srgbClr val="0D2B22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Accuracy Score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How often the AI gives the correct answer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DeepEval (LLM Judge)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docs.confident-ai.com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Hallucination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Is the AI using real data or making things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RAGAS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docs.ragas.io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SME Approval Rate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Did the business expert approve the AI output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DPI-LS SME Sign-off (Internal)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Internal — DPI-LS Dashboard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Schema Pass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Output matches the correct data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Pydantic / JSON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docs.pydantic.dev  |  json-schema.org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Pydantic Pass Rate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Python model validation success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Pydantic Error Logs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docs.pydantic.dev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JSON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AI JSON output is properly written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Python json.loads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docs.python.org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Policy Compliance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No PII leaks or safety violations in output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NeMo Guardrails / Guardrails AI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github.com/NVIDIA/NeMo-Guardrails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GxP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AI passed all pharma regulation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 / Audit Trail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mlflow.org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SOP Alignment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AI followed Standard Operating Procedures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Veeva Vault / MasterControl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veeva.com  |  mastercontrol.com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Audit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All required proof files saved and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 Model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mlflow.org/docs/latest/model-registry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Prompt Version Coverage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AI instructions locked to a tracked version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 Prompt Registry / Git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mlflow.org  |  github.com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Validation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How many required tests were run and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Pytest / DeepEval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pytest.org  |  docs.confident-ai.com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API Contract Compliance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AI output matched the agreed API format rules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42Crunch / Postman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42crunch.com  |  postman.com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Integration Test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End-to-end system connection tests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GitHub Actions / Newman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github.com/features/actions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Data Quality Assertions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AI data passed all business logic rules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Great Expectations / Pandera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greatexpectations.io  |  pandera.readthedocs.io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User Acceptance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Real users confirmed AI is doing the right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Jira Xray / Microsoft UAT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microsoft.com/dynamics365/uat-guidance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Model Lineage Validation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AI model traces clearly to its training data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 Lineage / DVC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mlflow.org  |  dvc.org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7512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DDE"/>
                </a:solidFill>
              </a:rPr>
              <a:t>Confidential — Internal 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6675120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B829"/>
                </a:solidFill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188720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645920" cy="347472"/>
          </a:xfrm>
          <a:prstGeom prst="rect">
            <a:avLst/>
          </a:prstGeom>
          <a:solidFill>
            <a:srgbClr val="27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VALIDATION  (V)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Formula, Examples &amp; Safety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943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B829"/>
                </a:solidFill>
              </a:rPr>
              <a:t>Good Example  vs  Bad Example — when score is high and when it drops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389888"/>
            <a:ext cx="11731752" cy="868680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389888"/>
            <a:ext cx="64008" cy="86868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264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829"/>
                </a:solidFill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642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Validation Score  =  Parts AI Produced Correctly  ÷  Total Parts We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331720"/>
            <a:ext cx="11731752" cy="438912"/>
          </a:xfrm>
          <a:prstGeom prst="rect">
            <a:avLst/>
          </a:prstGeom>
          <a:solidFill>
            <a:srgbClr val="D4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774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22"/>
                </a:solidFill>
              </a:rPr>
              <a:t>Simple meaning:  Count how many correct parts the AI produced out of total required.  All correct = 1.0.  Parts missing = score drops.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5623560" cy="2834640"/>
          </a:xfrm>
          <a:prstGeom prst="rect">
            <a:avLst/>
          </a:prstGeom>
          <a:solidFill>
            <a:srgbClr val="1A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862072"/>
            <a:ext cx="64008" cy="283464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169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829"/>
                </a:solidFill>
              </a:rPr>
              <a:t>✅  GOOD EXAMPLE — All parts correct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3291840"/>
            <a:ext cx="5532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346704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We required      =   10  parts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AI produced      =   10  correct parts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Score  =  10  ÷  10  =  1.0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0B829"/>
                </a:solidFill>
              </a:rPr>
              <a:t>✅  Final Validation Score  =  1.0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D4EDDE"/>
                </a:solidFill>
              </a:rPr>
              <a:t>AI output is correct and reliable.</a:t>
            </a:r>
          </a:p>
          <a:p>
            <a:pPr algn="l"/>
            <a:r>
              <a:rPr sz="1100" b="0">
                <a:solidFill>
                  <a:srgbClr val="D4EDDE"/>
                </a:solidFill>
              </a:rPr>
              <a:t>Score is GOOD.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862072"/>
            <a:ext cx="5623560" cy="2834640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862072"/>
            <a:ext cx="64008" cy="2834640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9169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829"/>
                </a:solidFill>
              </a:rPr>
              <a:t>❌  BAD EXAMPLE — Parts are missing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291840"/>
            <a:ext cx="5532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346704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We required      =   10  parts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AI produced      =   5   correct parts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Score  =  5  ÷  10  =  0.5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0B829"/>
                </a:solidFill>
              </a:rPr>
              <a:t>❌  Final Validation Score  =  0.5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FFAAAA"/>
                </a:solidFill>
              </a:rPr>
              <a:t>Score is below 60%.</a:t>
            </a:r>
          </a:p>
          <a:p>
            <a:pPr algn="l"/>
            <a:r>
              <a:rPr sz="1100" b="0">
                <a:solidFill>
                  <a:srgbClr val="FFAAAA"/>
                </a:solidFill>
              </a:rPr>
              <a:t>Safety alarm fires — see rule below.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779008"/>
            <a:ext cx="11731752" cy="804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5779008"/>
            <a:ext cx="64008" cy="804672"/>
          </a:xfrm>
          <a:prstGeom prst="rect">
            <a:avLst/>
          </a:prstGeom>
          <a:solidFill>
            <a:srgbClr val="F0B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8155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🚨  SAFETY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0990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If Validation Score drops BELOW 60%  →  AI total score is CAPPED at 69  →  AI is marked  RED / UNSAFE  on the dashboard.  No exceptions.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7512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DDE"/>
                </a:solidFill>
              </a:rPr>
              <a:t>Confidential — Internal Use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6675120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B829"/>
                </a:solidFill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