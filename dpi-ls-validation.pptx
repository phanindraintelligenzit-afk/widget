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8882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72" autoAdjust="0"/>
    <p:restoredTop sz="94660"/>
  </p:normalViewPr>
  <p:slideViewPr>
    <p:cSldViewPr snapToGrid="0" snapToObjects="1">
      <p:cViewPr varScale="1">
        <p:scale>
          <a:sx n="86" d="100"/>
          <a:sy n="86" d="100"/>
        </p:scale>
        <p:origin x="562" y="5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7/2/2026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90D1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365760" cy="68580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097280" y="1828800"/>
            <a:ext cx="100584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5600" b="1">
                <a:solidFill>
                  <a:srgbClr val="FFFFFF"/>
                </a:solidFill>
                <a:latin typeface="Arial"/>
              </a:defRPr>
            </a:pPr>
            <a:r>
              <a:t>DIGITAL FTE</a:t>
            </a:r>
          </a:p>
          <a:p>
            <a:pPr>
              <a:spcBef>
                <a:spcPts val="1000"/>
              </a:spcBef>
              <a:defRPr sz="2800" b="1">
                <a:solidFill>
                  <a:srgbClr val="38BDF8"/>
                </a:solidFill>
                <a:latin typeface="Arial"/>
              </a:defRPr>
            </a:pPr>
            <a:r>
              <a:t>PERFORMANCE INDEX – VALIDATION DIMENSION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4114800"/>
            <a:ext cx="100584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94A3B8"/>
                </a:solidFill>
                <a:latin typeface="Arial"/>
              </a:defRPr>
            </a:pPr>
            <a:r>
              <a:rPr dirty="0"/>
              <a:t>Cost Traceability, Real-Time Telemetry &amp; Core Scoring Validation</a:t>
            </a:r>
          </a:p>
          <a:p>
            <a:pPr>
              <a:spcBef>
                <a:spcPts val="800"/>
              </a:spcBef>
              <a:defRPr sz="1400" b="1">
                <a:solidFill>
                  <a:srgbClr val="10B981"/>
                </a:solidFill>
                <a:latin typeface="Arial"/>
              </a:defRPr>
            </a:pPr>
            <a:r>
              <a:rPr dirty="0"/>
              <a:t>Presented to: Wipro, Deloitte, JP Morgan, EY, PwC, Infosys &amp; Regeneron</a:t>
            </a:r>
          </a:p>
          <a:p>
            <a:pPr>
              <a:spcBef>
                <a:spcPts val="500"/>
              </a:spcBef>
              <a:defRPr sz="1200">
                <a:solidFill>
                  <a:srgbClr val="FFFFFF"/>
                </a:solidFill>
                <a:latin typeface="Arial"/>
              </a:defRPr>
            </a:pPr>
            <a:r>
              <a:rPr dirty="0"/>
              <a:t>Executive Briefing: CEO, Ranga (CEO), Phani (Lead)</a:t>
            </a:r>
          </a:p>
          <a:p>
            <a:pPr>
              <a:spcBef>
                <a:spcPts val="1500"/>
              </a:spcBef>
              <a:defRPr sz="1200" b="1">
                <a:solidFill>
                  <a:srgbClr val="EF4444"/>
                </a:solidFill>
                <a:latin typeface="Arial"/>
              </a:defRPr>
            </a:pPr>
            <a:r>
              <a:rPr dirty="0"/>
              <a:t>Status: Development Complete</a:t>
            </a:r>
            <a:br>
              <a:rPr dirty="0"/>
            </a:br>
            <a:r>
              <a:rPr dirty="0"/>
              <a:t>Production Validation Pending (Regeneron AWS/RDS + Approved Benchmark Dataset)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90D1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10B981"/>
                </a:solidFill>
                <a:latin typeface="Arial"/>
              </a:defRPr>
            </a:pPr>
            <a:r>
              <a:t>DPI-LS PERFORMANCE INDEX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FFF"/>
                </a:solidFill>
                <a:latin typeface="Arial"/>
              </a:defRPr>
            </a:pPr>
            <a:r>
              <a:t>What is DPI-LS Validation &amp; How It Works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5029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 b="1">
                <a:solidFill>
                  <a:srgbClr val="38BDF8"/>
                </a:solidFill>
              </a:defRPr>
            </a:pPr>
            <a:r>
              <a:t>Digital FTE Validation Index</a:t>
            </a:r>
          </a:p>
          <a:p>
            <a:pPr>
              <a:spcAft>
                <a:spcPts val="1000"/>
              </a:spcAft>
              <a:defRPr sz="1300">
                <a:solidFill>
                  <a:srgbClr val="94A3B8"/>
                </a:solidFill>
              </a:defRPr>
            </a:pPr>
            <a:r>
              <a:t>• Validation (V) measures whether an AI agent produces trustworthy, accurate, observable and verifiable outputs during runtime.</a:t>
            </a:r>
          </a:p>
          <a:p>
            <a:pPr>
              <a:spcAft>
                <a:spcPts val="1000"/>
              </a:spcAft>
              <a:defRPr sz="1300">
                <a:solidFill>
                  <a:srgbClr val="94A3B8"/>
                </a:solidFill>
              </a:defRPr>
            </a:pPr>
            <a:r>
              <a:t>• The Validation dimension combines three runtime validation resources:</a:t>
            </a:r>
            <a:br/>
            <a:r>
              <a:t>  • DeepEval</a:t>
            </a:r>
            <a:br/>
            <a:r>
              <a:t>  • Jaeger</a:t>
            </a:r>
            <a:br/>
            <a:r>
              <a:t>  • Zipkin</a:t>
            </a:r>
          </a:p>
          <a:p>
            <a:pPr>
              <a:spcAft>
                <a:spcPts val="1000"/>
              </a:spcAft>
              <a:defRPr sz="1300">
                <a:solidFill>
                  <a:srgbClr val="94A3B8"/>
                </a:solidFill>
              </a:defRPr>
            </a:pPr>
            <a:r>
              <a:t>• Together they evaluate:</a:t>
            </a:r>
            <a:br/>
            <a:r>
              <a:t>  • AI answer quality</a:t>
            </a:r>
            <a:br/>
            <a:r>
              <a:t>  • Runtime correctness</a:t>
            </a:r>
            <a:br/>
            <a:r>
              <a:t>  • Distributed execution tracing</a:t>
            </a:r>
            <a:br/>
            <a:r>
              <a:t>  • End-to-end observability</a:t>
            </a:r>
          </a:p>
          <a:p>
            <a:pPr>
              <a:spcAft>
                <a:spcPts val="1000"/>
              </a:spcAft>
              <a:defRPr sz="1300">
                <a:solidFill>
                  <a:srgbClr val="94A3B8"/>
                </a:solidFill>
              </a:defRPr>
            </a:pPr>
            <a:r>
              <a:t>• Validation ensures every AI execution can be evaluated, traced and verified before production deployment.</a:t>
            </a:r>
          </a:p>
          <a:p>
            <a:pPr>
              <a:spcAft>
                <a:spcPts val="1000"/>
              </a:spcAft>
              <a:defRPr sz="1300">
                <a:solidFill>
                  <a:srgbClr val="94A3B8"/>
                </a:solidFill>
              </a:defRPr>
            </a:pPr>
            <a:r>
              <a:t>• Runtime telemetry is collected from DeepEval, Jaeger, and Zipkin using real OpenTelemetry traces in the development environment.</a:t>
            </a:r>
          </a:p>
        </p:txBody>
      </p:sp>
      <p:pic>
        <p:nvPicPr>
          <p:cNvPr id="5" name="Picture 4" descr="media__178288824537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0" y="1645920"/>
            <a:ext cx="5212080" cy="41148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90D1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10B981"/>
                </a:solidFill>
                <a:latin typeface="Arial"/>
              </a:defRPr>
            </a:pPr>
            <a:r>
              <a:t>DPI-LS PERFORMANCE INDEX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FFF"/>
                </a:solidFill>
                <a:latin typeface="Arial"/>
              </a:defRPr>
            </a:pPr>
            <a:r>
              <a:t>Validation (V) Dimension &amp; Telemetry Sources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698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 b="1">
                <a:solidFill>
                  <a:srgbClr val="38BDF8"/>
                </a:solidFill>
              </a:defRPr>
            </a:pPr>
            <a:r>
              <a:t>Runtime Metrics</a:t>
            </a:r>
          </a:p>
          <a:p>
            <a:pPr>
              <a:defRPr sz="1200">
                <a:solidFill>
                  <a:srgbClr val="94A3B8"/>
                </a:solidFill>
              </a:defRPr>
            </a:pPr>
            <a:r>
              <a:t>DeepEval: Answer Relevancy, Faithfulness, Hallucination, Correctness | Jaeger: Trace ID, Span Count, Latency, Dependencies | Zipkin: Trace Timeline, Execution Timeline, Service Calls, Trace Latency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80748425"/>
              </p:ext>
            </p:extLst>
          </p:nvPr>
        </p:nvGraphicFramePr>
        <p:xfrm>
          <a:off x="731520" y="2651760"/>
          <a:ext cx="10698480" cy="3561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57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9260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0116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6576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95504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No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Parameter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What It Measures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Source System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URL / Where Data Comes From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6868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94A3B8"/>
                          </a:solidFill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94A3B8"/>
                          </a:solidFill>
                        </a:defRPr>
                      </a:pPr>
                      <a:r>
                        <a:t>LLM Quality Evaluation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94A3B8"/>
                          </a:solidFill>
                        </a:defRPr>
                      </a:pPr>
                      <a:r>
                        <a:t>Evaluates Answer Relevancy, Faithfulness, Hallucination and Correctness.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94A3B8"/>
                          </a:solidFill>
                        </a:defRPr>
                      </a:pPr>
                      <a:r>
                        <a:t>DeepEval SDK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94A3B8"/>
                          </a:solidFill>
                        </a:defRPr>
                      </a:pPr>
                      <a:r>
                        <a:t>https://deepeval.com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6868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94A3B8"/>
                          </a:solidFill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94A3B8"/>
                          </a:solidFill>
                        </a:defRPr>
                      </a:pPr>
                      <a:r>
                        <a:t>Distributed Trace Monitoring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94A3B8"/>
                          </a:solidFill>
                        </a:defRPr>
                      </a:pPr>
                      <a:r>
                        <a:t>Captures runtime spans, latency, service dependencies and execution flow.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94A3B8"/>
                          </a:solidFill>
                        </a:defRPr>
                      </a:pPr>
                      <a:r>
                        <a:t>Jaeger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94A3B8"/>
                          </a:solidFill>
                        </a:defRPr>
                      </a:pPr>
                      <a:r>
                        <a:t>http://localhost:16686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6868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94A3B8"/>
                          </a:solidFill>
                        </a:defRPr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94A3B8"/>
                          </a:solidFill>
                        </a:defRPr>
                      </a:pPr>
                      <a:r>
                        <a:t>Execution Timeline Visualization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94A3B8"/>
                          </a:solidFill>
                        </a:defRPr>
                      </a:pPr>
                      <a:r>
                        <a:t>Captures request timeline, trace visualization, service execution path and runtime analysis.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94A3B8"/>
                          </a:solidFill>
                        </a:defRPr>
                      </a:pPr>
                      <a:r>
                        <a:t>Zipkin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94A3B8"/>
                          </a:solidFill>
                        </a:defRPr>
                      </a:pPr>
                      <a:r>
                        <a:rPr dirty="0"/>
                        <a:t>http://localhost:9411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90D1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10B981"/>
                </a:solidFill>
                <a:latin typeface="Arial"/>
              </a:defRPr>
            </a:pPr>
            <a:r>
              <a:t>DPI-LS PERFORMANCE INDEX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FFF"/>
                </a:solidFill>
                <a:latin typeface="Arial"/>
              </a:defRPr>
            </a:pPr>
            <a:r>
              <a:t>Formula, Examples &amp; Validation Rule</a:t>
            </a:r>
          </a:p>
        </p:txBody>
      </p:sp>
      <p:pic>
        <p:nvPicPr>
          <p:cNvPr id="4" name="Picture 3" descr="media__178288821617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371600"/>
            <a:ext cx="6858000" cy="47548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772400" y="1371600"/>
            <a:ext cx="36576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 b="1">
                <a:solidFill>
                  <a:srgbClr val="38BDF8"/>
                </a:solidFill>
              </a:defRPr>
            </a:pPr>
            <a:r>
              <a:t>Key Logic Highlights</a:t>
            </a:r>
          </a:p>
          <a:p>
            <a:pPr>
              <a:spcAft>
                <a:spcPts val="800"/>
              </a:spcAft>
              <a:defRPr sz="1200">
                <a:solidFill>
                  <a:srgbClr val="94A3B8"/>
                </a:solidFill>
              </a:defRPr>
            </a:pPr>
            <a:r>
              <a:t>• Formula:</a:t>
            </a:r>
            <a:br/>
            <a:r>
              <a:t>Validation Score = Correct Validation Checks ÷ Total Validation Checks</a:t>
            </a:r>
          </a:p>
          <a:p>
            <a:pPr>
              <a:spcAft>
                <a:spcPts val="800"/>
              </a:spcAft>
              <a:defRPr sz="1200">
                <a:solidFill>
                  <a:srgbClr val="94A3B8"/>
                </a:solidFill>
              </a:defRPr>
            </a:pPr>
            <a:r>
              <a:t>• The validation score represents how many required validation checks passed successfully.</a:t>
            </a:r>
          </a:p>
          <a:p>
            <a:pPr>
              <a:spcAft>
                <a:spcPts val="800"/>
              </a:spcAft>
              <a:defRPr sz="1200">
                <a:solidFill>
                  <a:srgbClr val="94A3B8"/>
                </a:solidFill>
              </a:defRPr>
            </a:pPr>
            <a:r>
              <a:t>• If all validation checks pass, Validation Score = 1.0</a:t>
            </a:r>
          </a:p>
          <a:p>
            <a:pPr>
              <a:spcAft>
                <a:spcPts val="800"/>
              </a:spcAft>
              <a:defRPr sz="1200">
                <a:solidFill>
                  <a:srgbClr val="94A3B8"/>
                </a:solidFill>
              </a:defRPr>
            </a:pPr>
            <a:r>
              <a:t>• If several checks fail, Validation Score decreases accordingly.</a:t>
            </a:r>
          </a:p>
          <a:p>
            <a:pPr>
              <a:spcAft>
                <a:spcPts val="800"/>
              </a:spcAft>
              <a:defRPr sz="1200">
                <a:solidFill>
                  <a:srgbClr val="94A3B8"/>
                </a:solidFill>
              </a:defRPr>
            </a:pPr>
            <a:r>
              <a:t>• Good Example:</a:t>
            </a:r>
            <a:br/>
            <a:r>
              <a:t>Passed = 10 / Required = 10</a:t>
            </a:r>
            <a:br/>
            <a:r>
              <a:t>Score = 1.0 (Runtime successfully validated)</a:t>
            </a:r>
          </a:p>
          <a:p>
            <a:pPr>
              <a:spcAft>
                <a:spcPts val="800"/>
              </a:spcAft>
              <a:defRPr sz="1200">
                <a:solidFill>
                  <a:srgbClr val="94A3B8"/>
                </a:solidFill>
              </a:defRPr>
            </a:pPr>
            <a:r>
              <a:t>• Bad Example:</a:t>
            </a:r>
            <a:br/>
            <a:r>
              <a:t>Passed = 5 / Required = 10</a:t>
            </a:r>
            <a:br/>
            <a:r>
              <a:t>Score = 0.5 (Validation confidence decreases)</a:t>
            </a:r>
          </a:p>
          <a:p>
            <a:pPr>
              <a:spcAft>
                <a:spcPts val="800"/>
              </a:spcAft>
              <a:defRPr sz="1200">
                <a:solidFill>
                  <a:srgbClr val="94A3B8"/>
                </a:solidFill>
              </a:defRPr>
            </a:pPr>
            <a:r>
              <a:t>• Safety Rule: If Validation Score drops below the configured threshold, the overall DPI-LS score is reduced and the dashboard flags the execution for investigation.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90D1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10B981"/>
                </a:solidFill>
                <a:latin typeface="Arial"/>
              </a:defRPr>
            </a:pPr>
            <a:r>
              <a:t>DPI-LS PERFORMANCE INDEX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FFF"/>
                </a:solidFill>
                <a:latin typeface="Arial"/>
              </a:defRPr>
            </a:pPr>
            <a:r>
              <a:t>DPI-LS Validation Dashboards &amp; Runtime Evidence</a:t>
            </a:r>
          </a:p>
        </p:txBody>
      </p:sp>
      <p:pic>
        <p:nvPicPr>
          <p:cNvPr id="4" name="Picture 3" descr="resources_page_178240584462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371600"/>
            <a:ext cx="4114800" cy="41148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31520" y="5486400"/>
            <a:ext cx="4572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i="1">
                <a:solidFill>
                  <a:srgbClr val="94A3B8"/>
                </a:solidFill>
              </a:defRPr>
            </a:pPr>
            <a:r>
              <a:t>Validation Resource Evaluation Dashboard</a:t>
            </a:r>
          </a:p>
        </p:txBody>
      </p:sp>
      <p:pic>
        <p:nvPicPr>
          <p:cNvPr id="6" name="Picture 5" descr="media__178288824537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0" y="1371600"/>
            <a:ext cx="4572000" cy="142875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858000" y="2468880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i="1">
                <a:solidFill>
                  <a:srgbClr val="94A3B8"/>
                </a:solidFill>
              </a:defRPr>
            </a:pPr>
            <a:r>
              <a:t>LLM Evaluation Metrics</a:t>
            </a:r>
          </a:p>
        </p:txBody>
      </p:sp>
      <p:pic>
        <p:nvPicPr>
          <p:cNvPr id="8" name="Picture 7" descr="media__1782888234232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8000" y="2743200"/>
            <a:ext cx="4572000" cy="142875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858000" y="3840480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i="1">
                <a:solidFill>
                  <a:srgbClr val="94A3B8"/>
                </a:solidFill>
              </a:defRPr>
            </a:pPr>
            <a:r>
              <a:t>Distributed Runtime Tracing</a:t>
            </a:r>
          </a:p>
        </p:txBody>
      </p:sp>
      <p:pic>
        <p:nvPicPr>
          <p:cNvPr id="10" name="Picture 9" descr="media__1782888224572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58000" y="4114800"/>
            <a:ext cx="4572000" cy="2388691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858000" y="5212080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i="1">
                <a:solidFill>
                  <a:srgbClr val="94A3B8"/>
                </a:solidFill>
              </a:defRPr>
            </a:pPr>
            <a:r>
              <a:t>Trace Timeline Visualization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621792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FFFFFF"/>
                </a:solidFill>
              </a:defRPr>
            </a:pPr>
            <a:r>
              <a:t>Validation dashboards showing real runtime evaluation and distributed observability.</a:t>
            </a:r>
            <a:br/>
            <a:r>
              <a:t>Evidence shown is from live runtime telemetry captured in the development environment using OpenTelemetry.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90D1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10B981"/>
                </a:solidFill>
                <a:latin typeface="Arial"/>
              </a:defRPr>
            </a:pPr>
            <a:r>
              <a:t>DPI-LS PERFORMANCE INDEX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FFF"/>
                </a:solidFill>
                <a:latin typeface="Arial"/>
              </a:defRPr>
            </a:pPr>
            <a:r>
              <a:t>Production Validation Execution Workflow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6984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/>
          </a:p>
          <a:p>
            <a:pPr>
              <a:spcAft>
                <a:spcPts val="200"/>
              </a:spcAft>
              <a:defRPr sz="1300" b="1">
                <a:solidFill>
                  <a:srgbClr val="10B981"/>
                </a:solidFill>
              </a:defRPr>
            </a:pPr>
            <a:r>
              <a:t>■ Step 1: Start Jaeger</a:t>
            </a:r>
          </a:p>
          <a:p>
            <a:pPr>
              <a:spcAft>
                <a:spcPts val="800"/>
              </a:spcAft>
              <a:defRPr sz="1100">
                <a:solidFill>
                  <a:srgbClr val="38BDF8"/>
                </a:solidFill>
                <a:latin typeface="Consolas"/>
              </a:defRPr>
            </a:pPr>
            <a:r>
              <a:t>Docker container (Port 16686)</a:t>
            </a:r>
          </a:p>
          <a:p>
            <a:pPr>
              <a:spcAft>
                <a:spcPts val="200"/>
              </a:spcAft>
              <a:defRPr sz="1300" b="1">
                <a:solidFill>
                  <a:srgbClr val="10B981"/>
                </a:solidFill>
              </a:defRPr>
            </a:pPr>
            <a:r>
              <a:t>■ Step 2: Start Zipkin</a:t>
            </a:r>
          </a:p>
          <a:p>
            <a:pPr>
              <a:spcAft>
                <a:spcPts val="800"/>
              </a:spcAft>
              <a:defRPr sz="1100">
                <a:solidFill>
                  <a:srgbClr val="38BDF8"/>
                </a:solidFill>
                <a:latin typeface="Consolas"/>
              </a:defRPr>
            </a:pPr>
            <a:r>
              <a:t>Docker container (Port 9411)</a:t>
            </a:r>
          </a:p>
          <a:p>
            <a:pPr>
              <a:spcAft>
                <a:spcPts val="200"/>
              </a:spcAft>
              <a:defRPr sz="1300" b="1">
                <a:solidFill>
                  <a:srgbClr val="10B981"/>
                </a:solidFill>
              </a:defRPr>
            </a:pPr>
            <a:r>
              <a:t>■ Step 3: Start Backend</a:t>
            </a:r>
          </a:p>
          <a:p>
            <a:pPr>
              <a:spcAft>
                <a:spcPts val="800"/>
              </a:spcAft>
              <a:defRPr sz="1100">
                <a:solidFill>
                  <a:srgbClr val="38BDF8"/>
                </a:solidFill>
                <a:latin typeface="Consolas"/>
              </a:defRPr>
            </a:pPr>
            <a:r>
              <a:t>uv run uvicorn api.app:app --host 127.0.0.1 --port 8000 --reload</a:t>
            </a:r>
          </a:p>
          <a:p>
            <a:pPr>
              <a:spcAft>
                <a:spcPts val="200"/>
              </a:spcAft>
              <a:defRPr sz="1300" b="1">
                <a:solidFill>
                  <a:srgbClr val="10B981"/>
                </a:solidFill>
              </a:defRPr>
            </a:pPr>
            <a:r>
              <a:t>■ Step 4: Run Validation Agent</a:t>
            </a:r>
          </a:p>
          <a:p>
            <a:pPr>
              <a:spcAft>
                <a:spcPts val="800"/>
              </a:spcAft>
              <a:defRPr sz="1100">
                <a:solidFill>
                  <a:srgbClr val="38BDF8"/>
                </a:solidFill>
                <a:latin typeface="Consolas"/>
              </a:defRPr>
            </a:pPr>
            <a:r>
              <a:t>uv run python examples/test_agent.py</a:t>
            </a:r>
          </a:p>
          <a:p>
            <a:pPr>
              <a:spcAft>
                <a:spcPts val="200"/>
              </a:spcAft>
              <a:defRPr sz="1300" b="1">
                <a:solidFill>
                  <a:srgbClr val="10B981"/>
                </a:solidFill>
              </a:defRPr>
            </a:pPr>
            <a:r>
              <a:t>■ Step 5: Execute Validation</a:t>
            </a:r>
          </a:p>
          <a:p>
            <a:pPr>
              <a:spcAft>
                <a:spcPts val="800"/>
              </a:spcAft>
              <a:defRPr sz="1100">
                <a:solidFill>
                  <a:srgbClr val="38BDF8"/>
                </a:solidFill>
                <a:latin typeface="Consolas"/>
              </a:defRPr>
            </a:pPr>
            <a:r>
              <a:t>DeepEval evaluation, Jaeger tracing, Zipkin tracing</a:t>
            </a:r>
          </a:p>
          <a:p>
            <a:pPr>
              <a:spcAft>
                <a:spcPts val="200"/>
              </a:spcAft>
              <a:defRPr sz="1300" b="1">
                <a:solidFill>
                  <a:srgbClr val="10B981"/>
                </a:solidFill>
              </a:defRPr>
            </a:pPr>
            <a:r>
              <a:t>■ Step 6: Verify Results</a:t>
            </a:r>
          </a:p>
          <a:p>
            <a:pPr>
              <a:spcAft>
                <a:spcPts val="800"/>
              </a:spcAft>
              <a:defRPr sz="1100">
                <a:solidFill>
                  <a:srgbClr val="38BDF8"/>
                </a:solidFill>
                <a:latin typeface="Consolas"/>
              </a:defRPr>
            </a:pPr>
            <a:r>
              <a:t>Validation Dashboard, DeepEval Metrics, Jaeger Trace, Zipkin Timeline, Resources Dashboard</a:t>
            </a:r>
          </a:p>
          <a:p>
            <a:br/>
            <a:r>
              <a:t>Expected Results:</a:t>
            </a:r>
            <a:br/>
            <a:r>
              <a:t>DeepEval → SUCCESS</a:t>
            </a:r>
            <a:br/>
            <a:r>
              <a:t>Jaeger → SUCCESS</a:t>
            </a:r>
            <a:br/>
            <a:r>
              <a:t>Zipkin → SUCCESS</a:t>
            </a:r>
            <a:br/>
            <a:r>
              <a:t>Resources Dashboard → SUCCESS</a:t>
            </a:r>
            <a:br/>
            <a:r>
              <a:t>Live Runtime Metrics Displayed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90D1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10B981"/>
                </a:solidFill>
                <a:latin typeface="Arial"/>
              </a:defRPr>
            </a:pPr>
            <a:r>
              <a:t>DPI-LS PERFORMANCE INDEX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FFF"/>
                </a:solidFill>
                <a:latin typeface="Arial"/>
              </a:defRPr>
            </a:pPr>
            <a:r>
              <a:t>Validation Dimension Summary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6984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/>
          </a:p>
          <a:p>
            <a:pPr>
              <a:spcAft>
                <a:spcPts val="600"/>
              </a:spcAft>
              <a:defRPr sz="1600" b="1">
                <a:solidFill>
                  <a:srgbClr val="FFFFFF"/>
                </a:solidFill>
              </a:defRPr>
            </a:pPr>
            <a:r>
              <a:t>✅ DeepEval integrated</a:t>
            </a:r>
          </a:p>
          <a:p>
            <a:pPr>
              <a:spcAft>
                <a:spcPts val="600"/>
              </a:spcAft>
              <a:defRPr sz="1600" b="1">
                <a:solidFill>
                  <a:srgbClr val="FFFFFF"/>
                </a:solidFill>
              </a:defRPr>
            </a:pPr>
            <a:r>
              <a:t>✅ Jaeger integrated</a:t>
            </a:r>
          </a:p>
          <a:p>
            <a:pPr>
              <a:spcAft>
                <a:spcPts val="600"/>
              </a:spcAft>
              <a:defRPr sz="1600" b="1">
                <a:solidFill>
                  <a:srgbClr val="FFFFFF"/>
                </a:solidFill>
              </a:defRPr>
            </a:pPr>
            <a:r>
              <a:t>✅ Zipkin integrated</a:t>
            </a:r>
          </a:p>
          <a:p>
            <a:pPr>
              <a:spcAft>
                <a:spcPts val="600"/>
              </a:spcAft>
              <a:defRPr sz="1600" b="1">
                <a:solidFill>
                  <a:srgbClr val="FFFFFF"/>
                </a:solidFill>
              </a:defRPr>
            </a:pPr>
            <a:r>
              <a:t>✅ OpenTelemetry implemented</a:t>
            </a:r>
          </a:p>
          <a:p>
            <a:pPr>
              <a:spcAft>
                <a:spcPts val="600"/>
              </a:spcAft>
              <a:defRPr sz="1600" b="1">
                <a:solidFill>
                  <a:srgbClr val="FFFFFF"/>
                </a:solidFill>
              </a:defRPr>
            </a:pPr>
            <a:r>
              <a:t>✅ Validation Resources Dashboard</a:t>
            </a:r>
          </a:p>
          <a:p>
            <a:pPr>
              <a:spcAft>
                <a:spcPts val="600"/>
              </a:spcAft>
              <a:defRPr sz="1600" b="1">
                <a:solidFill>
                  <a:srgbClr val="FFFFFF"/>
                </a:solidFill>
              </a:defRPr>
            </a:pPr>
            <a:r>
              <a:t>✅ Live Runtime Metrics</a:t>
            </a:r>
          </a:p>
          <a:p>
            <a:pPr>
              <a:spcAft>
                <a:spcPts val="600"/>
              </a:spcAft>
              <a:defRPr sz="1600" b="1">
                <a:solidFill>
                  <a:srgbClr val="FFFFFF"/>
                </a:solidFill>
              </a:defRPr>
            </a:pPr>
            <a:r>
              <a:t>✅ FastAPI Backend</a:t>
            </a:r>
          </a:p>
          <a:p>
            <a:pPr>
              <a:spcAft>
                <a:spcPts val="600"/>
              </a:spcAft>
              <a:defRPr sz="1600" b="1">
                <a:solidFill>
                  <a:srgbClr val="FFFFFF"/>
                </a:solidFill>
              </a:defRPr>
            </a:pPr>
            <a:r>
              <a:t>✅ SQLite Integration</a:t>
            </a:r>
          </a:p>
          <a:p>
            <a:pPr>
              <a:spcAft>
                <a:spcPts val="600"/>
              </a:spcAft>
              <a:defRPr sz="1600" b="1">
                <a:solidFill>
                  <a:srgbClr val="FFFFFF"/>
                </a:solidFill>
              </a:defRPr>
            </a:pPr>
            <a:r>
              <a:t>✅ Development Testing Completed</a:t>
            </a:r>
          </a:p>
          <a:p>
            <a:br/>
            <a:r>
              <a:t>Next Steps:</a:t>
            </a:r>
          </a:p>
          <a:p>
            <a:pPr>
              <a:spcAft>
                <a:spcPts val="600"/>
              </a:spcAft>
              <a:defRPr sz="1400">
                <a:solidFill>
                  <a:srgbClr val="94A3B8"/>
                </a:solidFill>
              </a:defRPr>
            </a:pPr>
            <a:r>
              <a:t>• Regeneron AWS validation</a:t>
            </a:r>
          </a:p>
          <a:p>
            <a:pPr>
              <a:spcAft>
                <a:spcPts val="600"/>
              </a:spcAft>
              <a:defRPr sz="1400">
                <a:solidFill>
                  <a:srgbClr val="94A3B8"/>
                </a:solidFill>
              </a:defRPr>
            </a:pPr>
            <a:r>
              <a:t>• Regeneron RDS</a:t>
            </a:r>
          </a:p>
          <a:p>
            <a:pPr>
              <a:spcAft>
                <a:spcPts val="600"/>
              </a:spcAft>
              <a:defRPr sz="1400">
                <a:solidFill>
                  <a:srgbClr val="94A3B8"/>
                </a:solidFill>
              </a:defRPr>
            </a:pPr>
            <a:r>
              <a:t>• Approved Benchmark Dataset</a:t>
            </a:r>
          </a:p>
          <a:p>
            <a:pPr>
              <a:spcAft>
                <a:spcPts val="600"/>
              </a:spcAft>
              <a:defRPr sz="1400">
                <a:solidFill>
                  <a:srgbClr val="94A3B8"/>
                </a:solidFill>
              </a:defRPr>
            </a:pPr>
            <a:r>
              <a:t>• Production Recall Measurement</a:t>
            </a:r>
          </a:p>
          <a:p>
            <a:pPr>
              <a:spcAft>
                <a:spcPts val="600"/>
              </a:spcAft>
              <a:defRPr sz="1400">
                <a:solidFill>
                  <a:srgbClr val="94A3B8"/>
                </a:solidFill>
              </a:defRPr>
            </a:pPr>
            <a:r>
              <a:t>• M6 Validation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217</TotalTime>
  <Words>684</Words>
  <Application>Microsoft Office PowerPoint</Application>
  <PresentationFormat>Custom</PresentationFormat>
  <Paragraphs>89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Nagendra Panda (Intelligenz IT)</cp:lastModifiedBy>
  <cp:revision>2</cp:revision>
  <dcterms:created xsi:type="dcterms:W3CDTF">2013-01-27T09:14:16Z</dcterms:created>
  <dcterms:modified xsi:type="dcterms:W3CDTF">2026-07-02T06:01:49Z</dcterms:modified>
  <cp:category/>
</cp:coreProperties>
</file>