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9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DIGITAL FTE</a:t>
            </a:r>
          </a:p>
          <a:p>
            <a:pPr>
              <a:spcBef>
                <a:spcPts val="1000"/>
              </a:spcBef>
              <a:defRPr sz="2800" b="1">
                <a:solidFill>
                  <a:srgbClr val="38BDF8"/>
                </a:solidFill>
                <a:latin typeface="Arial"/>
              </a:defRPr>
            </a:pPr>
            <a:r>
              <a:t>PERFORMANCE INDEX – QUALITY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218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rPr dirty="0"/>
              <a:t>Answer Quality, Trustworthiness, LLM Evaluation &amp; Runtime Quality Scoring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Arial"/>
              </a:defRPr>
            </a:pPr>
            <a:r>
              <a:rPr dirty="0"/>
              <a:t>Presented to:</a:t>
            </a:r>
            <a:r>
              <a:rPr lang="en-IN" dirty="0"/>
              <a:t> </a:t>
            </a:r>
            <a:r>
              <a:rPr dirty="0"/>
              <a:t>Executive Briefing: CEO, Ranga (</a:t>
            </a:r>
            <a:r>
              <a:rPr lang="en-IN" dirty="0"/>
              <a:t> group managers </a:t>
            </a:r>
            <a:r>
              <a:rPr dirty="0"/>
              <a:t>), Phani</a:t>
            </a:r>
            <a:r>
              <a:rPr lang="en-IN" dirty="0" err="1"/>
              <a:t>ndra</a:t>
            </a:r>
            <a:r>
              <a:rPr lang="en-IN" dirty="0"/>
              <a:t>  Sir </a:t>
            </a:r>
            <a:r>
              <a:rPr dirty="0"/>
              <a:t>(</a:t>
            </a:r>
            <a:r>
              <a:rPr lang="en-IN" dirty="0"/>
              <a:t> Team </a:t>
            </a:r>
            <a:r>
              <a:rPr dirty="0"/>
              <a:t>Lead)</a:t>
            </a:r>
          </a:p>
          <a:p>
            <a:pPr>
              <a:spcBef>
                <a:spcPts val="1500"/>
              </a:spcBef>
              <a:defRPr sz="1200" b="1">
                <a:solidFill>
                  <a:srgbClr val="EF4444"/>
                </a:solidFill>
                <a:latin typeface="Arial"/>
              </a:defRPr>
            </a:pPr>
            <a:r>
              <a:rPr dirty="0"/>
              <a:t>Status: Development Complete</a:t>
            </a:r>
            <a:br>
              <a:rPr dirty="0"/>
            </a:br>
            <a:r>
              <a:rPr dirty="0"/>
              <a:t>Production Quality Pending (Regeneron AWS/RDS + Approved Benchmark Dataset)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What is DPI-LS Quality &amp;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Digital FTE Quality Index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Quality (Q) measures whether an AI Agent produces accurate, relevant, trustworthy and consistent answers during runtime.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Quality combines three runtime evaluation resources:</a:t>
            </a:r>
            <a:br/>
            <a:r>
              <a:t>  • AgentOps</a:t>
            </a:r>
            <a:br/>
            <a:r>
              <a:t>  • LangSmith</a:t>
            </a:r>
            <a:br/>
            <a:r>
              <a:t>  • Ragas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Together they evaluate:</a:t>
            </a:r>
            <a:br/>
            <a:r>
              <a:t>  • LLM answer quality</a:t>
            </a:r>
            <a:br/>
            <a:r>
              <a:t>  • Prompt execution</a:t>
            </a:r>
            <a:br/>
            <a:r>
              <a:t>  • Agent workflow
   Runtime observability</a:t>
            </a:r>
            <a:br/>
            <a:r>
              <a:t>  • Retrieval quality
   AI reasoning consistency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Quality ensures every AI execution can be evaluated before production deployment.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Runtime telemetry is collected from AgentOps, LangSmith, and Ragas using real OpenTelemetry traces in the development environment.</a:t>
            </a:r>
          </a:p>
        </p:txBody>
      </p:sp>
      <p:pic>
        <p:nvPicPr>
          <p:cNvPr id="5" name="Picture 4" descr="media__17836736595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Quality (Q) Dimension &amp; Telemetry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8BDF8"/>
                </a:solidFill>
              </a:defRPr>
            </a:pPr>
            <a:r>
              <a:t>AgentOps
Runtime Observability
Session Replay
Token Usage
Cost
Execution Timeline
|
LangSmith
Execution Traces
Prompt Flow
LangGraph
Datasets
Experiments
|
Ragas
Answer Relevancy
Faithfulness
Context Precision
Context Recall
Correctness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748425"/>
              </p:ext>
            </p:extLst>
          </p:nvPr>
        </p:nvGraphicFramePr>
        <p:xfrm>
          <a:off x="731520" y="2651760"/>
          <a:ext cx="10698480" cy="356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5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URL / Where Data Comes From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LLM Runtime Observability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• Prompt Tokens</a:t>
                      </a:r>
                    </a:p>
                    <a:p>
                      <a:r>
                        <a:t>• Completion Tokens</a:t>
                      </a:r>
                    </a:p>
                    <a:p>
                      <a:r>
                        <a:t>• Total Tokens</a:t>
                      </a:r>
                    </a:p>
                    <a:p>
                      <a:r>
                        <a:t>• LLM Calls</a:t>
                      </a:r>
                    </a:p>
                    <a:p>
                      <a:r>
                        <a:t>• Session Replay</a:t>
                      </a:r>
                    </a:p>
                    <a:p>
                      <a:r>
                        <a:t>• Agent Actions</a:t>
                      </a:r>
                    </a:p>
                    <a:p>
                      <a:r>
                        <a:t>• Runtime Duration</a:t>
                      </a:r>
                    </a:p>
                    <a:p>
                      <a:r>
                        <a:t>• Cost Tracking</a:t>
                      </a:r>
                    </a:p>
                    <a:p>
                      <a:r>
                        <a:t>• Execution Timeline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AgentOps SDK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https://app.agentops.ai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LLM Execution Tracing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• Prompt Flow</a:t>
                      </a:r>
                    </a:p>
                    <a:p>
                      <a:r>
                        <a:t>• Chain Execution</a:t>
                      </a:r>
                    </a:p>
                    <a:p>
                      <a:r>
                        <a:t>• LangGraph Nodes</a:t>
                      </a:r>
                    </a:p>
                    <a:p>
                      <a:r>
                        <a:t>• Dataset Runs</a:t>
                      </a:r>
                    </a:p>
                    <a:p>
                      <a:r>
                        <a:t>• Trace Hierarchy</a:t>
                      </a:r>
                    </a:p>
                    <a:p>
                      <a:r>
                        <a:t>• Span Execution</a:t>
                      </a:r>
                    </a:p>
                    <a:p>
                      <a:r>
                        <a:t>• Prompt Versions</a:t>
                      </a:r>
                    </a:p>
                    <a:p>
                      <a:r>
                        <a:t>• Experiment Tracking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LangSmith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https://smith.langchain.com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LLM Quality Evaluation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• Answer Relevancy</a:t>
                      </a:r>
                    </a:p>
                    <a:p>
                      <a:r>
                        <a:t>• Faithfulness</a:t>
                      </a:r>
                    </a:p>
                    <a:p>
                      <a:r>
                        <a:t>• Context Precision</a:t>
                      </a:r>
                    </a:p>
                    <a:p>
                      <a:r>
                        <a:t>• Context Recall</a:t>
                      </a:r>
                    </a:p>
                    <a:p>
                      <a:r>
                        <a:t>• Answer Correctness</a:t>
                      </a:r>
                    </a:p>
                    <a:p>
                      <a:r>
                        <a:t>• Semantic Similarity</a:t>
                      </a:r>
                    </a:p>
                    <a:p>
                      <a:r>
                        <a:t>• Response Groundedness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Ragas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https://docs.ragas.io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Formula, Examples &amp; Quality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Key Logic Highlights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Formula:</a:t>
            </a:r>
            <a:br/>
            <a:r>
              <a:t>Quality Score = Successful Quality Checks ÷ Total Required Quality Checks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The validation score represents how many required validation checks passed successfully.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If all validation checks pass, Quality Score = 1.0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If several checks fail, Quality Score decreases accordingly.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Good Example:</a:t>
            </a:r>
            <a:br/>
            <a:r>
              <a:t>Passed = 10 / Required = 10</a:t>
            </a:r>
            <a:br/>
            <a:r>
              <a:t>Score = 1.0 (Runtime successfully validated)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Bad Example:</a:t>
            </a:r>
            <a:br/>
            <a:r>
              <a:t>Passed = 5 / Required = 10</a:t>
            </a:r>
            <a:br/>
            <a:r>
              <a:t>Score = 0.5 (Quality confidence decreases)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Safety Rule: If Quality Score drops below the configured threshold, the overall DPI-LS score is reduced and the dashboard flags the execution for investigation.</a:t>
            </a:r>
          </a:p>
        </p:txBody>
      </p:sp>
      <p:pic>
        <p:nvPicPr>
          <p:cNvPr id="6" name="Picture 5" descr="quality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858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DPI-LS Quality Dashboards &amp; Runtime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Quality Resource Evaluation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468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LLM Evaluation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40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Distributed Runtime 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212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Trace Timeline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Quality dashboards showing real runtime evaluation and distributed observability.</a:t>
            </a:r>
            <a:br/>
            <a:r>
              <a:t>Evidence is collected from AgentOps, LangSmith and Ragas during development using OpenTelemetry.</a:t>
            </a:r>
          </a:p>
        </p:txBody>
      </p:sp>
      <p:pic>
        <p:nvPicPr>
          <p:cNvPr id="13" name="Picture 12" descr="media__17836736595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1371600"/>
            <a:ext cx="4114800" cy="4114800"/>
          </a:xfrm>
          <a:prstGeom prst="rect">
            <a:avLst/>
          </a:prstGeom>
        </p:spPr>
      </p:pic>
      <p:pic>
        <p:nvPicPr>
          <p:cNvPr id="14" name="Picture 13" descr="media__17836736503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371600"/>
            <a:ext cx="4572000" cy="1428750"/>
          </a:xfrm>
          <a:prstGeom prst="rect">
            <a:avLst/>
          </a:prstGeom>
        </p:spPr>
      </p:pic>
      <p:pic>
        <p:nvPicPr>
          <p:cNvPr id="15" name="Picture 14" descr="media__17836736595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743200"/>
            <a:ext cx="4572000" cy="1428750"/>
          </a:xfrm>
          <a:prstGeom prst="rect">
            <a:avLst/>
          </a:prstGeom>
        </p:spPr>
      </p:pic>
      <p:pic>
        <p:nvPicPr>
          <p:cNvPr id="16" name="Picture 15" descr="media__17836736503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114800"/>
            <a:ext cx="4572000" cy="2388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Quality Execution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1: Start LangSmith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Docker container (Port 16686)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2: Start Ragas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Docker container (Port 9411)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3: Start Backend
uv run uvicorn api.app:app --host 127.0.0.1 --port 8000 --reload
uv run uvicorn api.app:app --host 127.0.0.1 --port 8000 --reload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uv run uvicorn api.app:app --host 127.0.0.1 --port 8000 --reload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4: Run Quality Agent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uv run python examples/test_agent.py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5: Execute Quality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AgentOps evaluation, LangSmith tracing, Ragas tracing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■ Step 6: Verify Results</a:t>
            </a:r>
          </a:p>
          <a:p>
            <a:pPr>
              <a:spcAft>
                <a:spcPts val="8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Quality Dashboard, AgentOps Metrics, LangSmith Trace, Ragas Timeline, Resources Dashboard</a:t>
            </a:r>
          </a:p>
          <a:p>
            <a:br/>
            <a:r>
              <a:t>Expected Results:</a:t>
            </a:r>
            <a:br/>
            <a:r>
              <a:t>AgentOps → SUCCESS</a:t>
            </a:r>
            <a:br/>
            <a:r>
              <a:t>LangSmith → SUCCESS</a:t>
            </a:r>
            <a:br/>
            <a:r>
              <a:t>Ragas → SUCCESS</a:t>
            </a:r>
            <a:br/>
            <a:r>
              <a:t>Resources Dashboard → SUCCESS</a:t>
            </a:r>
            <a:br/>
            <a:r>
              <a:t>Live Runtime Metrics Displayed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DPI-LS PERFORMANCE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Quality Dimension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71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AgentOps</a:t>
            </a:r>
            <a:r>
              <a:rPr dirty="0"/>
              <a:t> integrated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LangSmith integrated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Ragas integrated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OpenTelemetry</a:t>
            </a:r>
            <a:r>
              <a:rPr dirty="0"/>
              <a:t> implemented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Quality Resources Dashboard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Live Runtime Metrics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FastAPI</a:t>
            </a:r>
            <a:r>
              <a:rPr dirty="0"/>
              <a:t> Backend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SQLite Integration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rPr dirty="0"/>
              <a:t>✅ Development Testing Completed</a:t>
            </a:r>
          </a:p>
          <a:p>
            <a:br>
              <a:rPr dirty="0"/>
            </a:br>
            <a:r>
              <a:rPr dirty="0"/>
              <a:t>Next Steps: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rPr dirty="0"/>
              <a:t>• Regeneron AWS validation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rPr dirty="0"/>
              <a:t>• Regeneron RDS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rPr dirty="0"/>
              <a:t>• Approved Benchmark Dataset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rPr dirty="0"/>
              <a:t>• Production Recall Measurement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rPr dirty="0"/>
              <a:t>• M6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4948</TotalTime>
  <Words>674</Words>
  <Application>Microsoft Office PowerPoint</Application>
  <PresentationFormat>Custom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Nagendra Panda (Intelligenz IT)</cp:lastModifiedBy>
  <cp:revision>5</cp:revision>
  <dcterms:created xsi:type="dcterms:W3CDTF">2013-01-27T09:14:16Z</dcterms:created>
  <dcterms:modified xsi:type="dcterms:W3CDTF">2026-07-09T06:26:12Z</dcterms:modified>
  <cp:category/>
</cp:coreProperties>
</file>