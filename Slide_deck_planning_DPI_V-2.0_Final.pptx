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8" r:id="rId2"/>
    <p:sldId id="270" r:id="rId3"/>
    <p:sldId id="258" r:id="rId4"/>
    <p:sldId id="265" r:id="rId9"/>
    <p:sldId id="273" r:id="rId22"/>
    <p:sldId id="274" r:id="rId23"/>
    <p:sldId id="259" r:id="rId5"/>
    <p:sldId id="272" r:id="rId6"/>
    <p:sldId id="271" r:id="rId7"/>
    <p:sldId id="264" r:id="rId8"/>
    <p:sldId id="261" r:id="rId10"/>
    <p:sldId id="266" r:id="rId11"/>
    <p:sldId id="263" r:id="rId12"/>
    <p:sldId id="267" r:id="rId13"/>
    <p:sldId id="262" r:id="rId14"/>
    <p:sldId id="256" r:id="rId15"/>
    <p:sldId id="257"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51E"/>
    <a:srgbClr val="4F74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874" y="432"/>
      </p:cViewPr>
      <p:guideLst>
        <p:guide orient="horz" pos="3240"/>
        <p:guide pos="578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4.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5.xml"/><Relationship Id="rId2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452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E44FD-B6CE-79E2-C699-D00067D3A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35D61-6C1F-FC2C-1400-FF279F7164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33DF7-00ED-CF43-6E0C-04A71242E120}"/>
              </a:ext>
            </a:extLst>
          </p:cNvPr>
          <p:cNvSpPr>
            <a:spLocks noGrp="1"/>
          </p:cNvSpPr>
          <p:nvPr>
            <p:ph type="body" idx="1"/>
          </p:nvPr>
        </p:nvSpPr>
        <p:spPr/>
        <p:txBody>
          <a:bodyPr/>
          <a:lstStyle/>
          <a:p>
            <a:r>
              <a:rPr lang="en-US" dirty="0"/>
              <a:t>Frame: this is not an agent explainer. The subject is what enterprises manage after agents arrive.</a:t>
            </a:r>
          </a:p>
        </p:txBody>
      </p:sp>
      <p:sp>
        <p:nvSpPr>
          <p:cNvPr id="4" name="Slide Number Placeholder 3">
            <a:extLst>
              <a:ext uri="{FF2B5EF4-FFF2-40B4-BE49-F238E27FC236}">
                <a16:creationId xmlns:a16="http://schemas.microsoft.com/office/drawing/2014/main" id="{C9AB33BE-429E-CBDE-FBCC-AAB50D191782}"/>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279714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very interesting is happening to the economics of artificial intelligence. The cost of delivering intelligence continues to collapse. Yet enterprise AI expenditure is moving in the opposite direction. Why? Because enterprises are no longer asking AI simply to answer questions. We are asking AI to reason. To plan. To retrieve information. To use tools. To access enterprise systems. To collaborate with other agents. To make decisions. And increasingly — to act. Every additional layer of reasoning and action creates another layer of computation. So we have arrived at an apparent contradiction: AI is becoming cheaper, but operating intelligence at enterprise scale is becoming more complex. [Pause] And that changes the question enterprises need to ask. The challenge is no longer AI. The challenge is Enterprise Intelligence.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already produce evidence: traces, tool calls, latency, tokens, cost. But engineering, security, risk and finance each hold a different version of agent health. Management still asks one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an agent like any other critical enterprise resource: a multidimensional health profile, not uptime. If I say 82, your next question is why — so the dimensions and evidence must always be exposed.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interface instead of five products and five opinions. Scorecards configurable by role and domain; management experience consistent. Claims Agent still works — but validation deteriorating, security exceptions rising, token cost up 18%, business output flat.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another observability stack. An interpretation layer across evidence the enterprise already generates — connected through MCP, APIs and telemetry.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contract before the agent receives responsibility. The scoring engine measures the agent against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is only another dashboard we have solved little. Measurement should change behaviour: strong evidence expands an operating boundary; deteriorating evidence holds or reduces it. Autonomy becomes earned.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audience remembers only three things, these are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 sentences, then the line: measure intelligence before you scale autonomy. Pause between each.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2FD2A-D41F-F327-D738-34975D2347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6B359-B724-4D8D-3A59-F9462B6D1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8541E3-ED9C-E846-0F40-6E0D88314868}"/>
              </a:ext>
            </a:extLst>
          </p:cNvPr>
          <p:cNvSpPr>
            <a:spLocks noGrp="1"/>
          </p:cNvSpPr>
          <p:nvPr>
            <p:ph type="body" idx="1"/>
          </p:nvPr>
        </p:nvSpPr>
        <p:spPr/>
        <p:txBody>
          <a:bodyPr/>
          <a:lstStyle/>
          <a:p>
            <a:r>
              <a:rPr lang="en-US" dirty="0"/>
              <a:t>If the audience remembers only three things, these are them.</a:t>
            </a:r>
          </a:p>
        </p:txBody>
      </p:sp>
      <p:sp>
        <p:nvSpPr>
          <p:cNvPr id="4" name="Slide Number Placeholder 3">
            <a:extLst>
              <a:ext uri="{FF2B5EF4-FFF2-40B4-BE49-F238E27FC236}">
                <a16:creationId xmlns:a16="http://schemas.microsoft.com/office/drawing/2014/main" id="{AA39C9CB-AD2D-8349-B0DE-A7A4551849F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92690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building an AI workforce — workforce as an operating metaphor, not an employment claim. Yesterday: can AI do the work. Today: can agents execute it. Tomorrow: can we prove they should.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is not an agent explainer. The subject is what enterprises manage after agents arrive.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know agents, tools, orchestration. Imagine 50 agents. Then 500. Which one is performing? Which is expensive? Which is unreliable? Which deserves more autonomy tomorrow?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a:extLst>
            <a:ext uri="{FF2B5EF4-FFF2-40B4-BE49-F238E27FC236}">
              <a16:creationId xmlns:a16="http://schemas.microsoft.com/office/drawing/2014/main" id="{49DD09C1-0746-B001-15EF-50F97BFBEC7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5FBEE16-01B3-5773-6E13-DB9AC6CC4D24}"/>
              </a:ext>
            </a:extLst>
          </p:cNvPr>
          <p:cNvPicPr>
            <a:picLocks noChangeAspect="1"/>
          </p:cNvPicPr>
          <p:nvPr/>
        </p:nvPicPr>
        <p:blipFill>
          <a:blip r:embed="rId3"/>
          <a:srcRect t="-3" b="-3"/>
          <a:stretch/>
        </p:blipFill>
        <p:spPr>
          <a:xfrm>
            <a:off x="708660" y="40894"/>
            <a:ext cx="5600700" cy="2076863"/>
          </a:xfrm>
          <a:prstGeom prst="rect">
            <a:avLst/>
          </a:prstGeom>
        </p:spPr>
      </p:pic>
      <p:sp>
        <p:nvSpPr>
          <p:cNvPr id="3" name="Shape 0">
            <a:extLst>
              <a:ext uri="{FF2B5EF4-FFF2-40B4-BE49-F238E27FC236}">
                <a16:creationId xmlns:a16="http://schemas.microsoft.com/office/drawing/2014/main" id="{08C7FD5E-55DB-21D1-C761-0AF237671095}"/>
              </a:ext>
            </a:extLst>
          </p:cNvPr>
          <p:cNvSpPr/>
          <p:nvPr/>
        </p:nvSpPr>
        <p:spPr>
          <a:xfrm>
            <a:off x="952500" y="4012406"/>
            <a:ext cx="1047750" cy="76200"/>
          </a:xfrm>
          <a:prstGeom prst="rect">
            <a:avLst/>
          </a:prstGeom>
          <a:solidFill>
            <a:srgbClr val="D3A518"/>
          </a:solidFill>
          <a:ln/>
        </p:spPr>
        <p:txBody>
          <a:bodyPr/>
          <a:lstStyle/>
          <a:p>
            <a:endParaRPr lang="en-IN"/>
          </a:p>
        </p:txBody>
      </p:sp>
      <p:sp>
        <p:nvSpPr>
          <p:cNvPr id="4" name="Text 1">
            <a:extLst>
              <a:ext uri="{FF2B5EF4-FFF2-40B4-BE49-F238E27FC236}">
                <a16:creationId xmlns:a16="http://schemas.microsoft.com/office/drawing/2014/main" id="{CA308BF2-375F-5F00-7548-9A50AC1860F2}"/>
              </a:ext>
            </a:extLst>
          </p:cNvPr>
          <p:cNvSpPr/>
          <p:nvPr/>
        </p:nvSpPr>
        <p:spPr>
          <a:xfrm>
            <a:off x="952500" y="4355306"/>
            <a:ext cx="15716250" cy="970717"/>
          </a:xfrm>
          <a:prstGeom prst="rect">
            <a:avLst/>
          </a:prstGeom>
          <a:noFill/>
          <a:ln/>
        </p:spPr>
        <p:txBody>
          <a:bodyPr wrap="square" lIns="25400" tIns="25400" rIns="25400" bIns="25400" rtlCol="0" anchor="b">
            <a:normAutofit lnSpcReduction="10000"/>
          </a:bodyPr>
          <a:lstStyle/>
          <a:p>
            <a:pPr marL="0" indent="0" algn="l">
              <a:lnSpc>
                <a:spcPct val="85000"/>
              </a:lnSpc>
              <a:buNone/>
            </a:pPr>
            <a:r>
              <a:rPr lang="en-US" sz="7200" b="1" kern="0" spc="-144" dirty="0">
                <a:solidFill>
                  <a:srgbClr val="FFFFFF"/>
                </a:solidFill>
                <a:latin typeface="Abadi" panose="020B0604020104020204" pitchFamily="34" charset="0"/>
                <a:ea typeface="Lato" pitchFamily="34" charset="-122"/>
                <a:cs typeface="Lato" pitchFamily="34" charset="-120"/>
              </a:rPr>
              <a:t>BEYOND AI AGENTS</a:t>
            </a:r>
            <a:endParaRPr lang="en-US" sz="7200" dirty="0"/>
          </a:p>
        </p:txBody>
      </p:sp>
      <p:sp>
        <p:nvSpPr>
          <p:cNvPr id="5" name="Text 2">
            <a:extLst>
              <a:ext uri="{FF2B5EF4-FFF2-40B4-BE49-F238E27FC236}">
                <a16:creationId xmlns:a16="http://schemas.microsoft.com/office/drawing/2014/main" id="{8FEC6EBD-2B73-DD44-7E8B-EC6E5F5ADF84}"/>
              </a:ext>
            </a:extLst>
          </p:cNvPr>
          <p:cNvSpPr/>
          <p:nvPr/>
        </p:nvSpPr>
        <p:spPr>
          <a:xfrm>
            <a:off x="952500" y="5554623"/>
            <a:ext cx="15716250" cy="54102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300" dirty="0">
                <a:solidFill>
                  <a:srgbClr val="D3A518"/>
                </a:solidFill>
                <a:latin typeface="Abadi" panose="020B0604020104020204" pitchFamily="34" charset="0"/>
                <a:ea typeface="Lato" pitchFamily="34" charset="-122"/>
                <a:cs typeface="Lato" pitchFamily="34" charset="-120"/>
              </a:rPr>
              <a:t>The Measurable AI Enterprise</a:t>
            </a:r>
            <a:endParaRPr lang="en-US" sz="3300" dirty="0"/>
          </a:p>
        </p:txBody>
      </p:sp>
      <p:sp>
        <p:nvSpPr>
          <p:cNvPr id="6" name="Text 3">
            <a:extLst>
              <a:ext uri="{FF2B5EF4-FFF2-40B4-BE49-F238E27FC236}">
                <a16:creationId xmlns:a16="http://schemas.microsoft.com/office/drawing/2014/main" id="{4268545A-5A76-B805-90F9-A33C4F7038C4}"/>
              </a:ext>
            </a:extLst>
          </p:cNvPr>
          <p:cNvSpPr/>
          <p:nvPr/>
        </p:nvSpPr>
        <p:spPr>
          <a:xfrm>
            <a:off x="952500" y="6438543"/>
            <a:ext cx="12573000" cy="438150"/>
          </a:xfrm>
          <a:prstGeom prst="rect">
            <a:avLst/>
          </a:prstGeom>
          <a:noFill/>
          <a:ln/>
        </p:spPr>
        <p:txBody>
          <a:bodyPr wrap="square" lIns="25400" tIns="25400" rIns="25400" bIns="25400" rtlCol="0" anchor="t">
            <a:normAutofit/>
          </a:bodyPr>
          <a:lstStyle/>
          <a:p>
            <a:pPr marL="0" indent="0" algn="l">
              <a:lnSpc>
                <a:spcPct val="125000"/>
              </a:lnSpc>
              <a:buNone/>
            </a:pPr>
            <a:r>
              <a:rPr lang="en-US" sz="2100" dirty="0">
                <a:solidFill>
                  <a:srgbClr val="FFFFFF">
                    <a:alpha val="86000"/>
                  </a:srgbClr>
                </a:solidFill>
                <a:latin typeface="Abadi" panose="020B0604020104020204" pitchFamily="34" charset="0"/>
                <a:ea typeface="Lato" pitchFamily="34" charset="-122"/>
                <a:cs typeface="Lato" pitchFamily="34" charset="-120"/>
              </a:rPr>
              <a:t>From agent deployment to performance, efficiency, trust and accountable autonomy.</a:t>
            </a:r>
            <a:endParaRPr lang="en-US" sz="2100" dirty="0"/>
          </a:p>
        </p:txBody>
      </p:sp>
      <p:sp>
        <p:nvSpPr>
          <p:cNvPr id="7" name="Text 4">
            <a:extLst>
              <a:ext uri="{FF2B5EF4-FFF2-40B4-BE49-F238E27FC236}">
                <a16:creationId xmlns:a16="http://schemas.microsoft.com/office/drawing/2014/main" id="{BC0835E7-05E9-F0EB-6CAB-5CB70F53FD61}"/>
              </a:ext>
            </a:extLst>
          </p:cNvPr>
          <p:cNvSpPr/>
          <p:nvPr/>
        </p:nvSpPr>
        <p:spPr>
          <a:xfrm>
            <a:off x="952500" y="2670335"/>
            <a:ext cx="18021300"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88" dirty="0">
                <a:solidFill>
                  <a:srgbClr val="FFFFFF">
                    <a:alpha val="55000"/>
                  </a:srgbClr>
                </a:solidFill>
                <a:latin typeface="Abadi" panose="020B0604020104020204" pitchFamily="34" charset="0"/>
                <a:ea typeface="Lato" pitchFamily="34" charset="-122"/>
                <a:cs typeface="Lato" pitchFamily="34" charset="-120"/>
              </a:rPr>
              <a:t>MEASURE INTELLIGENCE BEFORE YOU SCALE AUTONOMY</a:t>
            </a:r>
            <a:endParaRPr lang="en-US" sz="1800" dirty="0"/>
          </a:p>
        </p:txBody>
      </p:sp>
      <p:sp>
        <p:nvSpPr>
          <p:cNvPr id="8" name="TextBox 7">
            <a:extLst>
              <a:ext uri="{FF2B5EF4-FFF2-40B4-BE49-F238E27FC236}">
                <a16:creationId xmlns:a16="http://schemas.microsoft.com/office/drawing/2014/main" id="{97FB6859-B708-D5D0-E39F-6CAE8F1C6F3F}"/>
              </a:ext>
            </a:extLst>
          </p:cNvPr>
          <p:cNvSpPr txBox="1"/>
          <p:nvPr/>
        </p:nvSpPr>
        <p:spPr>
          <a:xfrm>
            <a:off x="952500" y="7715971"/>
            <a:ext cx="8191500" cy="461665"/>
          </a:xfrm>
          <a:prstGeom prst="rect">
            <a:avLst/>
          </a:prstGeom>
          <a:noFill/>
        </p:spPr>
        <p:txBody>
          <a:bodyPr wrap="square" rtlCol="0">
            <a:spAutoFit/>
          </a:bodyPr>
          <a:lstStyle/>
          <a:p>
            <a:r>
              <a:rPr lang="en-IN" sz="2400" b="1" i="1" dirty="0">
                <a:solidFill>
                  <a:schemeClr val="bg1"/>
                </a:solidFill>
                <a:latin typeface="Abadi" panose="020B0604020104020204" pitchFamily="34" charset="0"/>
              </a:rPr>
              <a:t>Speaker – PVR,  CEO &amp; Managing Director.</a:t>
            </a:r>
          </a:p>
        </p:txBody>
      </p:sp>
      <p:sp>
        <p:nvSpPr>
          <p:cNvPr id="9" name="Rectangle 8">
            <a:extLst>
              <a:ext uri="{FF2B5EF4-FFF2-40B4-BE49-F238E27FC236}">
                <a16:creationId xmlns:a16="http://schemas.microsoft.com/office/drawing/2014/main" id="{821D01ED-80A0-37B7-7149-FFB71492F011}"/>
              </a:ext>
            </a:extLst>
          </p:cNvPr>
          <p:cNvSpPr/>
          <p:nvPr/>
        </p:nvSpPr>
        <p:spPr>
          <a:xfrm>
            <a:off x="952500" y="7416800"/>
            <a:ext cx="6337300" cy="11049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6D345791-2DFE-DEDF-95B5-EE60777F540F}"/>
              </a:ext>
            </a:extLst>
          </p:cNvPr>
          <p:cNvSpPr/>
          <p:nvPr/>
        </p:nvSpPr>
        <p:spPr>
          <a:xfrm>
            <a:off x="3327400" y="8451407"/>
            <a:ext cx="1117600" cy="17305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32752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p:nvSpPr>
          <p:cNvPr id="2" name="Text 0"/>
          <p:cNvSpPr/>
          <p:nvPr/>
        </p:nvSpPr>
        <p:spPr>
          <a:xfrm>
            <a:off x="1047750" y="834390"/>
            <a:ext cx="4181047"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88" dirty="0">
                <a:solidFill>
                  <a:srgbClr val="D3A518"/>
                </a:solidFill>
                <a:latin typeface="Abadi" panose="020B0604020104020204" pitchFamily="34" charset="0"/>
                <a:ea typeface="Lato" pitchFamily="34" charset="-122"/>
                <a:cs typeface="Lato" pitchFamily="34" charset="-120"/>
              </a:rPr>
              <a:t>THE AI COST PARADOX</a:t>
            </a:r>
            <a:endParaRPr lang="en-US" sz="1800" dirty="0"/>
          </a:p>
        </p:txBody>
      </p:sp>
      <p:sp>
        <p:nvSpPr>
          <p:cNvPr id="4" name="Text 1"/>
          <p:cNvSpPr/>
          <p:nvPr/>
        </p:nvSpPr>
        <p:spPr>
          <a:xfrm>
            <a:off x="1047750" y="1428750"/>
            <a:ext cx="17811750" cy="593527"/>
          </a:xfrm>
          <a:prstGeom prst="rect">
            <a:avLst/>
          </a:prstGeom>
          <a:noFill/>
          <a:ln/>
        </p:spPr>
        <p:txBody>
          <a:bodyPr wrap="square" lIns="25400" tIns="25400" rIns="25400" bIns="25400" rtlCol="0" anchor="ctr">
            <a:normAutofit lnSpcReduction="10000"/>
          </a:bodyPr>
          <a:lstStyle/>
          <a:p>
            <a:pPr marL="0" indent="0" algn="l">
              <a:lnSpc>
                <a:spcPct val="90000"/>
              </a:lnSpc>
              <a:buNone/>
            </a:pPr>
            <a:r>
              <a:rPr lang="en-US" sz="4050" b="1" kern="0" spc="300" dirty="0">
                <a:solidFill>
                  <a:schemeClr val="bg1"/>
                </a:solidFill>
                <a:latin typeface="Abadi" panose="020B0604020104020204" pitchFamily="34" charset="0"/>
                <a:ea typeface="Lato" pitchFamily="34" charset="-122"/>
                <a:cs typeface="Lato" pitchFamily="34" charset="-120"/>
              </a:rPr>
              <a:t>AI</a:t>
            </a:r>
            <a:r>
              <a:rPr lang="en-US" sz="4050" b="1" kern="0" dirty="0">
                <a:solidFill>
                  <a:schemeClr val="bg1"/>
                </a:solidFill>
                <a:latin typeface="Abadi" panose="020B0604020104020204" pitchFamily="34" charset="0"/>
                <a:ea typeface="Lato" pitchFamily="34" charset="-122"/>
                <a:cs typeface="Lato" pitchFamily="34" charset="-120"/>
              </a:rPr>
              <a:t> is Getting Cheaper.</a:t>
            </a:r>
            <a:endParaRPr lang="en-US" sz="4050" dirty="0">
              <a:solidFill>
                <a:schemeClr val="bg1"/>
              </a:solidFill>
            </a:endParaRPr>
          </a:p>
        </p:txBody>
      </p:sp>
      <p:sp>
        <p:nvSpPr>
          <p:cNvPr id="5" name="Text 2"/>
          <p:cNvSpPr/>
          <p:nvPr/>
        </p:nvSpPr>
        <p:spPr>
          <a:xfrm>
            <a:off x="1047749" y="1984880"/>
            <a:ext cx="15881007" cy="1148953"/>
          </a:xfrm>
          <a:prstGeom prst="rect">
            <a:avLst/>
          </a:prstGeom>
          <a:noFill/>
          <a:ln/>
        </p:spPr>
        <p:txBody>
          <a:bodyPr wrap="square" lIns="25400" tIns="25400" rIns="25400" bIns="25400" rtlCol="0" anchor="ctr">
            <a:normAutofit/>
          </a:bodyPr>
          <a:lstStyle/>
          <a:p>
            <a:pPr marL="0" indent="0" algn="l">
              <a:lnSpc>
                <a:spcPct val="90000"/>
              </a:lnSpc>
              <a:buNone/>
            </a:pPr>
            <a:r>
              <a:rPr lang="en-US" sz="3600" b="1" kern="0" dirty="0">
                <a:solidFill>
                  <a:srgbClr val="D3A518"/>
                </a:solidFill>
                <a:latin typeface="Abadi" panose="020B0604020104020204" pitchFamily="34" charset="0"/>
                <a:ea typeface="Lato" pitchFamily="34" charset="-122"/>
                <a:cs typeface="Lato" pitchFamily="34" charset="-120"/>
              </a:rPr>
              <a:t>But Enterprise Intelligence Is Getting More Expensive.</a:t>
            </a:r>
            <a:endParaRPr lang="en-US" sz="3600" dirty="0"/>
          </a:p>
        </p:txBody>
      </p:sp>
      <p:sp>
        <p:nvSpPr>
          <p:cNvPr id="6" name="Text 3"/>
          <p:cNvSpPr/>
          <p:nvPr/>
        </p:nvSpPr>
        <p:spPr>
          <a:xfrm>
            <a:off x="1047750" y="3441687"/>
            <a:ext cx="4786122" cy="320040"/>
          </a:xfrm>
          <a:prstGeom prst="rect">
            <a:avLst/>
          </a:prstGeom>
          <a:noFill/>
          <a:ln/>
        </p:spPr>
        <p:txBody>
          <a:bodyPr wrap="square" lIns="25400" tIns="25400" rIns="25400" bIns="25400" rtlCol="0" anchor="t">
            <a:noAutofit/>
          </a:bodyPr>
          <a:lstStyle/>
          <a:p>
            <a:pPr marL="0" indent="0" algn="l">
              <a:buNone/>
            </a:pPr>
            <a:r>
              <a:rPr lang="en-US" sz="2000" b="1" kern="0" spc="144" dirty="0">
                <a:solidFill>
                  <a:schemeClr val="accent5">
                    <a:lumMod val="20000"/>
                    <a:lumOff val="80000"/>
                  </a:schemeClr>
                </a:solidFill>
                <a:latin typeface="Abadi" panose="020B0604020104020204" pitchFamily="34" charset="0"/>
                <a:ea typeface="Lato" pitchFamily="34" charset="-122"/>
                <a:cs typeface="Lato" pitchFamily="34" charset="-120"/>
              </a:rPr>
              <a:t>↓ COST PER UNIT OF INTELLIGENCE</a:t>
            </a:r>
            <a:endParaRPr lang="en-US" sz="2000" dirty="0">
              <a:solidFill>
                <a:schemeClr val="accent5">
                  <a:lumMod val="20000"/>
                  <a:lumOff val="80000"/>
                </a:schemeClr>
              </a:solidFill>
            </a:endParaRPr>
          </a:p>
        </p:txBody>
      </p:sp>
      <p:sp>
        <p:nvSpPr>
          <p:cNvPr id="7" name="Text 4"/>
          <p:cNvSpPr/>
          <p:nvPr/>
        </p:nvSpPr>
        <p:spPr>
          <a:xfrm>
            <a:off x="12354877" y="3441687"/>
            <a:ext cx="5373910" cy="320040"/>
          </a:xfrm>
          <a:prstGeom prst="rect">
            <a:avLst/>
          </a:prstGeom>
          <a:noFill/>
          <a:ln/>
        </p:spPr>
        <p:txBody>
          <a:bodyPr wrap="square" lIns="25400" tIns="25400" rIns="25400" bIns="25400" rtlCol="0" anchor="t">
            <a:noAutofit/>
          </a:bodyPr>
          <a:lstStyle/>
          <a:p>
            <a:pPr marL="0" indent="0" algn="l">
              <a:buNone/>
            </a:pPr>
            <a:r>
              <a:rPr lang="en-US" sz="2000" b="1" kern="0" spc="144" dirty="0">
                <a:solidFill>
                  <a:schemeClr val="accent6">
                    <a:lumMod val="20000"/>
                    <a:lumOff val="80000"/>
                  </a:schemeClr>
                </a:solidFill>
                <a:latin typeface="Abadi" panose="020B0604020104020204" pitchFamily="34" charset="0"/>
                <a:ea typeface="Lato" pitchFamily="34" charset="-122"/>
                <a:cs typeface="Lato" pitchFamily="34" charset="-120"/>
              </a:rPr>
              <a:t>COMPUTATIONAL ACTIVITY PER TASK ↑</a:t>
            </a:r>
            <a:endParaRPr lang="en-US" sz="2000" dirty="0">
              <a:solidFill>
                <a:schemeClr val="accent6">
                  <a:lumMod val="20000"/>
                  <a:lumOff val="80000"/>
                </a:schemeClr>
              </a:solidFill>
            </a:endParaRPr>
          </a:p>
        </p:txBody>
      </p:sp>
      <p:pic>
        <p:nvPicPr>
          <p:cNvPr id="8" name="Image 1" descr="preencoded.png"/>
          <p:cNvPicPr>
            <a:picLocks noChangeAspect="1"/>
          </p:cNvPicPr>
          <p:nvPr/>
        </p:nvPicPr>
        <p:blipFill>
          <a:blip>
            <a:alphaModFix amt="93000"/>
            <a:extLst>
              <a:ext uri="{96DAC541-7B7A-43D3-8B79-37D633B846F1}">
                <asvg:svgBlip xmlns:asvg="http://schemas.microsoft.com/office/drawing/2016/SVG/main" r:embed="rId3"/>
              </a:ext>
            </a:extLst>
          </a:blip>
          <a:stretch>
            <a:fillRect/>
          </a:stretch>
        </p:blipFill>
        <p:spPr>
          <a:xfrm>
            <a:off x="1047750" y="3768061"/>
            <a:ext cx="16192500" cy="1587460"/>
          </a:xfrm>
          <a:prstGeom prst="rect">
            <a:avLst/>
          </a:prstGeom>
        </p:spPr>
      </p:pic>
      <p:sp>
        <p:nvSpPr>
          <p:cNvPr id="9" name="Shape 5"/>
          <p:cNvSpPr/>
          <p:nvPr/>
        </p:nvSpPr>
        <p:spPr>
          <a:xfrm>
            <a:off x="1047750" y="5538168"/>
            <a:ext cx="16192500" cy="9525"/>
          </a:xfrm>
          <a:prstGeom prst="rect">
            <a:avLst/>
          </a:prstGeom>
          <a:solidFill>
            <a:srgbClr val="2E3349">
              <a:alpha val="86000"/>
            </a:srgbClr>
          </a:solidFill>
          <a:ln/>
        </p:spPr>
        <p:txBody>
          <a:bodyPr/>
          <a:lstStyle/>
          <a:p>
            <a:endParaRPr lang="en-IN"/>
          </a:p>
        </p:txBody>
      </p:sp>
      <p:sp>
        <p:nvSpPr>
          <p:cNvPr id="10" name="Text 6"/>
          <p:cNvSpPr/>
          <p:nvPr/>
        </p:nvSpPr>
        <p:spPr>
          <a:xfrm>
            <a:off x="1047750"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FFFFFF">
                    <a:alpha val="86000"/>
                  </a:srgbClr>
                </a:solidFill>
                <a:latin typeface="Abadi" panose="020B0604020104020204" pitchFamily="34" charset="0"/>
                <a:ea typeface="Lato" pitchFamily="34" charset="-122"/>
                <a:cs typeface="Lato" pitchFamily="34" charset="-120"/>
              </a:rPr>
              <a:t>280×</a:t>
            </a:r>
            <a:endParaRPr lang="en-US" sz="5700" dirty="0"/>
          </a:p>
        </p:txBody>
      </p:sp>
      <p:sp>
        <p:nvSpPr>
          <p:cNvPr id="11" name="Text 7"/>
          <p:cNvSpPr/>
          <p:nvPr/>
        </p:nvSpPr>
        <p:spPr>
          <a:xfrm>
            <a:off x="1047750" y="6612588"/>
            <a:ext cx="3816382" cy="655320"/>
          </a:xfrm>
          <a:prstGeom prst="rect">
            <a:avLst/>
          </a:prstGeom>
          <a:noFill/>
          <a:ln/>
        </p:spPr>
        <p:txBody>
          <a:bodyPr wrap="square" lIns="25400" tIns="25400" rIns="25400" bIns="25400" rtlCol="0" anchor="ctr">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Fall in the price of a fixed level of AI performance, in about 18 months</a:t>
            </a:r>
            <a:endParaRPr lang="en-US" sz="1800" dirty="0">
              <a:solidFill>
                <a:schemeClr val="bg1"/>
              </a:solidFill>
            </a:endParaRPr>
          </a:p>
        </p:txBody>
      </p:sp>
      <p:sp>
        <p:nvSpPr>
          <p:cNvPr id="12" name="Text 8"/>
          <p:cNvSpPr/>
          <p:nvPr/>
        </p:nvSpPr>
        <p:spPr>
          <a:xfrm>
            <a:off x="5210175"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FFFFFF">
                    <a:alpha val="86000"/>
                  </a:srgbClr>
                </a:solidFill>
                <a:latin typeface="Abadi" panose="020B0604020104020204" pitchFamily="34" charset="0"/>
                <a:ea typeface="Lato" pitchFamily="34" charset="-122"/>
                <a:cs typeface="Lato" pitchFamily="34" charset="-120"/>
              </a:rPr>
              <a:t>320×</a:t>
            </a:r>
            <a:endParaRPr lang="en-US" sz="5700" dirty="0"/>
          </a:p>
        </p:txBody>
      </p:sp>
      <p:sp>
        <p:nvSpPr>
          <p:cNvPr id="13" name="Text 9"/>
          <p:cNvSpPr/>
          <p:nvPr/>
        </p:nvSpPr>
        <p:spPr>
          <a:xfrm>
            <a:off x="5210175" y="6612588"/>
            <a:ext cx="3816382" cy="96393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Growth in reasoning-token consumption per organization over 12 months</a:t>
            </a:r>
            <a:endParaRPr lang="en-US" sz="1800" dirty="0">
              <a:solidFill>
                <a:schemeClr val="bg1"/>
              </a:solidFill>
            </a:endParaRPr>
          </a:p>
        </p:txBody>
      </p:sp>
      <p:sp>
        <p:nvSpPr>
          <p:cNvPr id="14" name="Text 10"/>
          <p:cNvSpPr/>
          <p:nvPr/>
        </p:nvSpPr>
        <p:spPr>
          <a:xfrm>
            <a:off x="9372600"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FFFFFF">
                    <a:alpha val="86000"/>
                  </a:srgbClr>
                </a:solidFill>
                <a:latin typeface="Abadi" panose="020B0604020104020204" pitchFamily="34" charset="0"/>
                <a:ea typeface="Lato" pitchFamily="34" charset="-122"/>
                <a:cs typeface="Lato" pitchFamily="34" charset="-120"/>
              </a:rPr>
              <a:t>1,000×</a:t>
            </a:r>
            <a:endParaRPr lang="en-US" sz="5700" dirty="0"/>
          </a:p>
        </p:txBody>
      </p:sp>
      <p:sp>
        <p:nvSpPr>
          <p:cNvPr id="15" name="Text 11"/>
          <p:cNvSpPr/>
          <p:nvPr/>
        </p:nvSpPr>
        <p:spPr>
          <a:xfrm>
            <a:off x="9372600" y="6612588"/>
            <a:ext cx="3816382"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Token intensity of agentic coding tasks vs. code chat and reasoning</a:t>
            </a:r>
            <a:endParaRPr lang="en-US" sz="1800" dirty="0">
              <a:solidFill>
                <a:schemeClr val="bg1"/>
              </a:solidFill>
            </a:endParaRPr>
          </a:p>
        </p:txBody>
      </p:sp>
      <p:sp>
        <p:nvSpPr>
          <p:cNvPr id="16" name="Text 12"/>
          <p:cNvSpPr/>
          <p:nvPr/>
        </p:nvSpPr>
        <p:spPr>
          <a:xfrm>
            <a:off x="13535025" y="5793438"/>
            <a:ext cx="4075748" cy="762000"/>
          </a:xfrm>
          <a:prstGeom prst="rect">
            <a:avLst/>
          </a:prstGeom>
          <a:noFill/>
          <a:ln/>
        </p:spPr>
        <p:txBody>
          <a:bodyPr wrap="square" lIns="25400" tIns="25400" rIns="25400" bIns="25400" rtlCol="0" anchor="t">
            <a:normAutofit lnSpcReduction="10000"/>
          </a:bodyPr>
          <a:lstStyle/>
          <a:p>
            <a:pPr marL="0" indent="0" algn="l">
              <a:lnSpc>
                <a:spcPct val="83333"/>
              </a:lnSpc>
              <a:buNone/>
            </a:pPr>
            <a:r>
              <a:rPr lang="en-US" sz="5700" b="1" kern="0" spc="-114" dirty="0">
                <a:solidFill>
                  <a:srgbClr val="D3A518">
                    <a:alpha val="86000"/>
                  </a:srgbClr>
                </a:solidFill>
                <a:latin typeface="Abadi" panose="020B0604020104020204" pitchFamily="34" charset="0"/>
                <a:ea typeface="Lato" pitchFamily="34" charset="-122"/>
                <a:cs typeface="Lato" pitchFamily="34" charset="-120"/>
              </a:rPr>
              <a:t>73%</a:t>
            </a:r>
            <a:endParaRPr lang="en-US" sz="5700" dirty="0"/>
          </a:p>
        </p:txBody>
      </p:sp>
      <p:sp>
        <p:nvSpPr>
          <p:cNvPr id="17" name="Text 13"/>
          <p:cNvSpPr/>
          <p:nvPr/>
        </p:nvSpPr>
        <p:spPr>
          <a:xfrm>
            <a:off x="13535025" y="6612588"/>
            <a:ext cx="3816382"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chemeClr val="bg1"/>
                </a:solidFill>
                <a:latin typeface="Abadi" panose="020B0604020104020204" pitchFamily="34" charset="0"/>
                <a:ea typeface="Lato" pitchFamily="34" charset="-122"/>
                <a:cs typeface="Lato" pitchFamily="34" charset="-120"/>
              </a:rPr>
              <a:t>Of organizations exceeded their AI budgets in the past year</a:t>
            </a:r>
            <a:endParaRPr lang="en-US" sz="1800" dirty="0">
              <a:solidFill>
                <a:schemeClr val="bg1"/>
              </a:solidFill>
            </a:endParaRPr>
          </a:p>
        </p:txBody>
      </p:sp>
      <p:sp>
        <p:nvSpPr>
          <p:cNvPr id="18" name="Text 14"/>
          <p:cNvSpPr/>
          <p:nvPr/>
        </p:nvSpPr>
        <p:spPr>
          <a:xfrm>
            <a:off x="1047750" y="7823988"/>
            <a:ext cx="13038953" cy="838200"/>
          </a:xfrm>
          <a:prstGeom prst="rect">
            <a:avLst/>
          </a:prstGeom>
          <a:noFill/>
          <a:ln/>
        </p:spPr>
        <p:txBody>
          <a:bodyPr wrap="square" lIns="25400" tIns="25400" rIns="25400" bIns="25400" rtlCol="0" anchor="ctr">
            <a:normAutofit/>
          </a:bodyPr>
          <a:lstStyle/>
          <a:p>
            <a:pPr marL="0" indent="0" algn="l">
              <a:lnSpc>
                <a:spcPct val="116667"/>
              </a:lnSpc>
              <a:buNone/>
            </a:pPr>
            <a:r>
              <a:rPr lang="en-US" sz="2250" dirty="0">
                <a:solidFill>
                  <a:schemeClr val="bg1"/>
                </a:solidFill>
                <a:latin typeface="Abadi" panose="020B0604020104020204" pitchFamily="34" charset="0"/>
                <a:ea typeface="Lato" pitchFamily="34" charset="-122"/>
                <a:cs typeface="Lato" pitchFamily="34" charset="-120"/>
              </a:rPr>
              <a:t>The problem is no longer the cost of intelligence. It is the cost of coordinating intelligence at scale.</a:t>
            </a:r>
            <a:endParaRPr lang="en-US" sz="2250" dirty="0">
              <a:solidFill>
                <a:schemeClr val="bg1"/>
              </a:solidFill>
            </a:endParaRPr>
          </a:p>
        </p:txBody>
      </p:sp>
      <p:sp>
        <p:nvSpPr>
          <p:cNvPr id="3" name="Rectangle 2">
            <a:extLst>
              <a:ext uri="{FF2B5EF4-FFF2-40B4-BE49-F238E27FC236}">
                <a16:creationId xmlns:a16="http://schemas.microsoft.com/office/drawing/2014/main" id="{030317F5-EE28-423C-D894-E855FFC80926}"/>
              </a:ext>
            </a:extLst>
          </p:cNvPr>
          <p:cNvSpPr/>
          <p:nvPr/>
        </p:nvSpPr>
        <p:spPr>
          <a:xfrm>
            <a:off x="8054340" y="4884420"/>
            <a:ext cx="2202180" cy="352938"/>
          </a:xfrm>
          <a:prstGeom prst="rect">
            <a:avLst/>
          </a:prstGeom>
          <a:solidFill>
            <a:srgbClr val="0005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BA7DB29-2E09-E0A8-4C62-9916E60E008D}"/>
              </a:ext>
            </a:extLst>
          </p:cNvPr>
          <p:cNvSpPr txBox="1"/>
          <p:nvPr/>
        </p:nvSpPr>
        <p:spPr>
          <a:xfrm>
            <a:off x="7750627" y="4947557"/>
            <a:ext cx="2810691" cy="461665"/>
          </a:xfrm>
          <a:prstGeom prst="rect">
            <a:avLst/>
          </a:prstGeom>
          <a:noFill/>
        </p:spPr>
        <p:txBody>
          <a:bodyPr wrap="square" rtlCol="0">
            <a:spAutoFit/>
          </a:bodyPr>
          <a:lstStyle/>
          <a:p>
            <a:r>
              <a:rPr lang="en-IN" sz="2400" dirty="0">
                <a:solidFill>
                  <a:srgbClr val="FFC000"/>
                </a:solidFill>
              </a:rPr>
              <a:t>The A I Cost Paradox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81100"/>
            <a:ext cx="18021300"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88" dirty="0">
                <a:solidFill>
                  <a:srgbClr val="6B7185"/>
                </a:solidFill>
                <a:latin typeface="Abadi" panose="020B0604020104020204" pitchFamily="34" charset="0"/>
                <a:ea typeface="Lato" pitchFamily="34" charset="-122"/>
                <a:cs typeface="Lato" pitchFamily="34" charset="-120"/>
              </a:rPr>
              <a:t>THE NEW OBSERVABILITY GAP</a:t>
            </a:r>
            <a:endParaRPr lang="en-US" sz="1800" dirty="0"/>
          </a:p>
        </p:txBody>
      </p:sp>
      <p:sp>
        <p:nvSpPr>
          <p:cNvPr id="4" name="Text 2"/>
          <p:cNvSpPr/>
          <p:nvPr/>
        </p:nvSpPr>
        <p:spPr>
          <a:xfrm>
            <a:off x="952500" y="1664970"/>
            <a:ext cx="18021300" cy="696397"/>
          </a:xfrm>
          <a:prstGeom prst="rect">
            <a:avLst/>
          </a:prstGeom>
          <a:noFill/>
          <a:ln/>
        </p:spPr>
        <p:txBody>
          <a:bodyPr wrap="square" lIns="25400" tIns="25400" rIns="25400" bIns="25400" rtlCol="0" anchor="ctr">
            <a:normAutofit lnSpcReduction="10000"/>
          </a:bodyPr>
          <a:lstStyle/>
          <a:p>
            <a:pPr marL="0" indent="0" algn="l">
              <a:lnSpc>
                <a:spcPct val="90000"/>
              </a:lnSpc>
              <a:buNone/>
            </a:pPr>
            <a:r>
              <a:rPr lang="en-US" sz="4800" b="1" kern="0" spc="-72" dirty="0">
                <a:solidFill>
                  <a:srgbClr val="00051E"/>
                </a:solidFill>
                <a:latin typeface="Abadi" panose="020B0604020104020204" pitchFamily="34" charset="0"/>
                <a:ea typeface="Lato" pitchFamily="34" charset="-122"/>
                <a:cs typeface="Lato" pitchFamily="34" charset="-120"/>
              </a:rPr>
              <a:t>Every agent produces activity.</a:t>
            </a:r>
            <a:endParaRPr lang="en-US" sz="4800" dirty="0"/>
          </a:p>
        </p:txBody>
      </p:sp>
      <p:sp>
        <p:nvSpPr>
          <p:cNvPr id="5" name="Text 3"/>
          <p:cNvSpPr/>
          <p:nvPr/>
        </p:nvSpPr>
        <p:spPr>
          <a:xfrm>
            <a:off x="952500" y="2532817"/>
            <a:ext cx="18021300" cy="696397"/>
          </a:xfrm>
          <a:prstGeom prst="rect">
            <a:avLst/>
          </a:prstGeom>
          <a:noFill/>
          <a:ln/>
        </p:spPr>
        <p:txBody>
          <a:bodyPr wrap="square" lIns="25400" tIns="25400" rIns="25400" bIns="25400" rtlCol="0" anchor="ctr">
            <a:normAutofit/>
          </a:bodyPr>
          <a:lstStyle/>
          <a:p>
            <a:r>
              <a:rPr lang="en-IN" sz="4000" dirty="0"/>
              <a:t>Proving performance remains a capability demonstrated by select enterprises.</a:t>
            </a:r>
            <a:endParaRPr lang="en-US" sz="4000" dirty="0"/>
          </a:p>
        </p:txBody>
      </p:sp>
      <p:sp>
        <p:nvSpPr>
          <p:cNvPr id="6" name="Shape 4"/>
          <p:cNvSpPr/>
          <p:nvPr/>
        </p:nvSpPr>
        <p:spPr>
          <a:xfrm>
            <a:off x="952500" y="364831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7" name="Text 5"/>
          <p:cNvSpPr/>
          <p:nvPr/>
        </p:nvSpPr>
        <p:spPr>
          <a:xfrm>
            <a:off x="1143000" y="380071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Task outcomes</a:t>
            </a:r>
            <a:endParaRPr lang="en-US" sz="1800" dirty="0"/>
          </a:p>
        </p:txBody>
      </p:sp>
      <p:sp>
        <p:nvSpPr>
          <p:cNvPr id="8" name="Shape 6"/>
          <p:cNvSpPr/>
          <p:nvPr/>
        </p:nvSpPr>
        <p:spPr>
          <a:xfrm>
            <a:off x="4774763" y="364831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9" name="Text 7"/>
          <p:cNvSpPr/>
          <p:nvPr/>
        </p:nvSpPr>
        <p:spPr>
          <a:xfrm>
            <a:off x="4965263" y="380071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Tool calls</a:t>
            </a:r>
            <a:endParaRPr lang="en-US" sz="1800" dirty="0"/>
          </a:p>
        </p:txBody>
      </p:sp>
      <p:sp>
        <p:nvSpPr>
          <p:cNvPr id="10" name="Shape 8"/>
          <p:cNvSpPr/>
          <p:nvPr/>
        </p:nvSpPr>
        <p:spPr>
          <a:xfrm>
            <a:off x="952500" y="434173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1" name="Text 9"/>
          <p:cNvSpPr/>
          <p:nvPr/>
        </p:nvSpPr>
        <p:spPr>
          <a:xfrm>
            <a:off x="1143000" y="449413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LLM traces</a:t>
            </a:r>
            <a:endParaRPr lang="en-US" sz="1800" dirty="0"/>
          </a:p>
        </p:txBody>
      </p:sp>
      <p:sp>
        <p:nvSpPr>
          <p:cNvPr id="12" name="Shape 10"/>
          <p:cNvSpPr/>
          <p:nvPr/>
        </p:nvSpPr>
        <p:spPr>
          <a:xfrm>
            <a:off x="4774763" y="434173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3" name="Text 11"/>
          <p:cNvSpPr/>
          <p:nvPr/>
        </p:nvSpPr>
        <p:spPr>
          <a:xfrm>
            <a:off x="4965263" y="449413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Token consumption</a:t>
            </a:r>
            <a:endParaRPr lang="en-US" sz="1800" dirty="0"/>
          </a:p>
        </p:txBody>
      </p:sp>
      <p:sp>
        <p:nvSpPr>
          <p:cNvPr id="14" name="Shape 12"/>
          <p:cNvSpPr/>
          <p:nvPr/>
        </p:nvSpPr>
        <p:spPr>
          <a:xfrm>
            <a:off x="952500" y="503515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5" name="Text 13"/>
          <p:cNvSpPr/>
          <p:nvPr/>
        </p:nvSpPr>
        <p:spPr>
          <a:xfrm>
            <a:off x="1143000" y="518755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Latency</a:t>
            </a:r>
            <a:endParaRPr lang="en-US" sz="1800" dirty="0"/>
          </a:p>
        </p:txBody>
      </p:sp>
      <p:sp>
        <p:nvSpPr>
          <p:cNvPr id="16" name="Shape 14"/>
          <p:cNvSpPr/>
          <p:nvPr/>
        </p:nvSpPr>
        <p:spPr>
          <a:xfrm>
            <a:off x="4774763" y="503515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7" name="Text 15"/>
          <p:cNvSpPr/>
          <p:nvPr/>
        </p:nvSpPr>
        <p:spPr>
          <a:xfrm>
            <a:off x="4965263" y="518755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Quality evaluations</a:t>
            </a:r>
            <a:endParaRPr lang="en-US" sz="1800" dirty="0"/>
          </a:p>
        </p:txBody>
      </p:sp>
      <p:sp>
        <p:nvSpPr>
          <p:cNvPr id="18" name="Shape 16"/>
          <p:cNvSpPr/>
          <p:nvPr/>
        </p:nvSpPr>
        <p:spPr>
          <a:xfrm>
            <a:off x="952500" y="572857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19" name="Text 17"/>
          <p:cNvSpPr/>
          <p:nvPr/>
        </p:nvSpPr>
        <p:spPr>
          <a:xfrm>
            <a:off x="1143000" y="588097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Policy events</a:t>
            </a:r>
            <a:endParaRPr lang="en-US" sz="1800" dirty="0"/>
          </a:p>
        </p:txBody>
      </p:sp>
      <p:sp>
        <p:nvSpPr>
          <p:cNvPr id="20" name="Shape 18"/>
          <p:cNvSpPr/>
          <p:nvPr/>
        </p:nvSpPr>
        <p:spPr>
          <a:xfrm>
            <a:off x="4774763" y="572857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21" name="Text 19"/>
          <p:cNvSpPr/>
          <p:nvPr/>
        </p:nvSpPr>
        <p:spPr>
          <a:xfrm>
            <a:off x="4965263" y="588097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Security incidents</a:t>
            </a:r>
            <a:endParaRPr lang="en-US" sz="1800" dirty="0"/>
          </a:p>
        </p:txBody>
      </p:sp>
      <p:sp>
        <p:nvSpPr>
          <p:cNvPr id="22" name="Shape 20"/>
          <p:cNvSpPr/>
          <p:nvPr/>
        </p:nvSpPr>
        <p:spPr>
          <a:xfrm>
            <a:off x="952500" y="6421993"/>
            <a:ext cx="370796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23" name="Text 21"/>
          <p:cNvSpPr/>
          <p:nvPr/>
        </p:nvSpPr>
        <p:spPr>
          <a:xfrm>
            <a:off x="1143000" y="6574393"/>
            <a:ext cx="3438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Cloud / AI cost</a:t>
            </a:r>
            <a:endParaRPr lang="en-US" sz="1800" dirty="0"/>
          </a:p>
        </p:txBody>
      </p:sp>
      <p:sp>
        <p:nvSpPr>
          <p:cNvPr id="24" name="Shape 22"/>
          <p:cNvSpPr/>
          <p:nvPr/>
        </p:nvSpPr>
        <p:spPr>
          <a:xfrm>
            <a:off x="4774763" y="6421993"/>
            <a:ext cx="3708083" cy="579120"/>
          </a:xfrm>
          <a:prstGeom prst="roundRect">
            <a:avLst>
              <a:gd name="adj" fmla="val 9868"/>
            </a:avLst>
          </a:prstGeom>
          <a:solidFill>
            <a:srgbClr val="FFFFFF"/>
          </a:solidFill>
          <a:ln/>
          <a:effectLst>
            <a:outerShdw blurRad="38100" dist="9525" dir="5400000" algn="bl" rotWithShape="0">
              <a:srgbClr val="00051E">
                <a:alpha val="8000"/>
              </a:srgbClr>
            </a:outerShdw>
          </a:effectLst>
        </p:spPr>
        <p:txBody>
          <a:bodyPr anchor="ctr"/>
          <a:lstStyle/>
          <a:p>
            <a:endParaRPr lang="en-IN"/>
          </a:p>
        </p:txBody>
      </p:sp>
      <p:sp>
        <p:nvSpPr>
          <p:cNvPr id="25" name="Text 23"/>
          <p:cNvSpPr/>
          <p:nvPr/>
        </p:nvSpPr>
        <p:spPr>
          <a:xfrm>
            <a:off x="4965263" y="6574393"/>
            <a:ext cx="343832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Business outcomes</a:t>
            </a:r>
            <a:endParaRPr lang="en-US" sz="1800" dirty="0"/>
          </a:p>
        </p:txBody>
      </p:sp>
      <p:sp>
        <p:nvSpPr>
          <p:cNvPr id="26" name="Text 24"/>
          <p:cNvSpPr/>
          <p:nvPr/>
        </p:nvSpPr>
        <p:spPr>
          <a:xfrm>
            <a:off x="8711446" y="5000863"/>
            <a:ext cx="1223605" cy="685800"/>
          </a:xfrm>
          <a:prstGeom prst="rect">
            <a:avLst/>
          </a:prstGeom>
          <a:noFill/>
          <a:ln/>
        </p:spPr>
        <p:txBody>
          <a:bodyPr wrap="square" lIns="25400" tIns="25400" rIns="25400" bIns="25400" rtlCol="0" anchor="t">
            <a:normAutofit lnSpcReduction="10000"/>
          </a:bodyPr>
          <a:lstStyle/>
          <a:p>
            <a:pPr marL="0" indent="0" algn="ctr">
              <a:buNone/>
            </a:pPr>
            <a:r>
              <a:rPr lang="en-US" sz="4200" dirty="0">
                <a:solidFill>
                  <a:srgbClr val="D3A518"/>
                </a:solidFill>
                <a:latin typeface="Abadi" panose="020B0604020104020204" pitchFamily="34" charset="0"/>
                <a:ea typeface="Lato" pitchFamily="34" charset="-122"/>
                <a:cs typeface="Lato" pitchFamily="34" charset="-120"/>
              </a:rPr>
              <a:t>→</a:t>
            </a:r>
            <a:endParaRPr lang="en-US" sz="4200" dirty="0"/>
          </a:p>
        </p:txBody>
      </p:sp>
      <p:sp>
        <p:nvSpPr>
          <p:cNvPr id="27" name="Shape 25"/>
          <p:cNvSpPr/>
          <p:nvPr/>
        </p:nvSpPr>
        <p:spPr>
          <a:xfrm>
            <a:off x="10163652" y="4116943"/>
            <a:ext cx="3509605" cy="1131570"/>
          </a:xfrm>
          <a:prstGeom prst="roundRect">
            <a:avLst>
              <a:gd name="adj" fmla="val 5051"/>
            </a:avLst>
          </a:prstGeom>
          <a:ln w="7620">
            <a:solidFill>
              <a:srgbClr val="A9B2CC"/>
            </a:solidFill>
            <a:prstDash val="dash"/>
          </a:ln>
        </p:spPr>
        <p:txBody>
          <a:bodyPr anchor="ctr"/>
          <a:lstStyle/>
          <a:p>
            <a:endParaRPr lang="en-IN"/>
          </a:p>
        </p:txBody>
      </p:sp>
      <p:sp>
        <p:nvSpPr>
          <p:cNvPr id="28" name="Text 26"/>
          <p:cNvSpPr/>
          <p:nvPr/>
        </p:nvSpPr>
        <p:spPr>
          <a:xfrm>
            <a:off x="10399871" y="4353163"/>
            <a:ext cx="334088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Engineering</a:t>
            </a:r>
            <a:endParaRPr lang="en-US" sz="1800" dirty="0"/>
          </a:p>
        </p:txBody>
      </p:sp>
      <p:sp>
        <p:nvSpPr>
          <p:cNvPr id="29" name="Text 27"/>
          <p:cNvSpPr/>
          <p:nvPr/>
        </p:nvSpPr>
        <p:spPr>
          <a:xfrm>
            <a:off x="10399871" y="4703683"/>
            <a:ext cx="3340882"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6B7185"/>
                </a:solidFill>
                <a:latin typeface="Abadi" panose="020B0604020104020204" pitchFamily="34" charset="0"/>
                <a:ea typeface="Lato" pitchFamily="34" charset="-122"/>
                <a:cs typeface="Lato" pitchFamily="34" charset="-120"/>
              </a:rPr>
              <a:t>one version of agent health</a:t>
            </a:r>
            <a:endParaRPr lang="en-US" sz="1800" dirty="0"/>
          </a:p>
        </p:txBody>
      </p:sp>
      <p:sp>
        <p:nvSpPr>
          <p:cNvPr id="30" name="Shape 28"/>
          <p:cNvSpPr/>
          <p:nvPr/>
        </p:nvSpPr>
        <p:spPr>
          <a:xfrm>
            <a:off x="13825657" y="4116943"/>
            <a:ext cx="3509724" cy="1131570"/>
          </a:xfrm>
          <a:prstGeom prst="roundRect">
            <a:avLst>
              <a:gd name="adj" fmla="val 5051"/>
            </a:avLst>
          </a:prstGeom>
          <a:ln w="7620">
            <a:solidFill>
              <a:srgbClr val="A9B2CC"/>
            </a:solidFill>
            <a:prstDash val="dash"/>
          </a:ln>
        </p:spPr>
        <p:txBody>
          <a:bodyPr anchor="ctr"/>
          <a:lstStyle/>
          <a:p>
            <a:endParaRPr lang="en-IN"/>
          </a:p>
        </p:txBody>
      </p:sp>
      <p:sp>
        <p:nvSpPr>
          <p:cNvPr id="31" name="Text 29"/>
          <p:cNvSpPr/>
          <p:nvPr/>
        </p:nvSpPr>
        <p:spPr>
          <a:xfrm>
            <a:off x="14061877" y="4353163"/>
            <a:ext cx="334101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Security</a:t>
            </a:r>
            <a:endParaRPr lang="en-US" sz="1800" dirty="0"/>
          </a:p>
        </p:txBody>
      </p:sp>
      <p:sp>
        <p:nvSpPr>
          <p:cNvPr id="32" name="Text 30"/>
          <p:cNvSpPr/>
          <p:nvPr/>
        </p:nvSpPr>
        <p:spPr>
          <a:xfrm>
            <a:off x="14061877" y="4703683"/>
            <a:ext cx="3341013"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6B7185"/>
                </a:solidFill>
                <a:latin typeface="Abadi" panose="020B0604020104020204" pitchFamily="34" charset="0"/>
                <a:ea typeface="Lato" pitchFamily="34" charset="-122"/>
                <a:cs typeface="Lato" pitchFamily="34" charset="-120"/>
              </a:rPr>
              <a:t>another</a:t>
            </a:r>
            <a:endParaRPr lang="en-US" sz="1800" dirty="0"/>
          </a:p>
        </p:txBody>
      </p:sp>
      <p:sp>
        <p:nvSpPr>
          <p:cNvPr id="33" name="Shape 31"/>
          <p:cNvSpPr/>
          <p:nvPr/>
        </p:nvSpPr>
        <p:spPr>
          <a:xfrm>
            <a:off x="10163652" y="5400913"/>
            <a:ext cx="3509605" cy="1131570"/>
          </a:xfrm>
          <a:prstGeom prst="roundRect">
            <a:avLst>
              <a:gd name="adj" fmla="val 5051"/>
            </a:avLst>
          </a:prstGeom>
          <a:ln w="7620">
            <a:solidFill>
              <a:srgbClr val="A9B2CC"/>
            </a:solidFill>
            <a:prstDash val="dash"/>
          </a:ln>
        </p:spPr>
        <p:txBody>
          <a:bodyPr anchor="ctr"/>
          <a:lstStyle/>
          <a:p>
            <a:endParaRPr lang="en-IN"/>
          </a:p>
        </p:txBody>
      </p:sp>
      <p:sp>
        <p:nvSpPr>
          <p:cNvPr id="34" name="Text 32"/>
          <p:cNvSpPr/>
          <p:nvPr/>
        </p:nvSpPr>
        <p:spPr>
          <a:xfrm>
            <a:off x="10399871" y="5637133"/>
            <a:ext cx="334088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Risk &amp; Governance</a:t>
            </a:r>
            <a:endParaRPr lang="en-US" sz="1800" dirty="0"/>
          </a:p>
        </p:txBody>
      </p:sp>
      <p:sp>
        <p:nvSpPr>
          <p:cNvPr id="35" name="Text 33"/>
          <p:cNvSpPr/>
          <p:nvPr/>
        </p:nvSpPr>
        <p:spPr>
          <a:xfrm>
            <a:off x="10399871" y="5987653"/>
            <a:ext cx="3340882"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6B7185"/>
                </a:solidFill>
                <a:latin typeface="Abadi" panose="020B0604020104020204" pitchFamily="34" charset="0"/>
                <a:ea typeface="Lato" pitchFamily="34" charset="-122"/>
                <a:cs typeface="Lato" pitchFamily="34" charset="-120"/>
              </a:rPr>
              <a:t>another</a:t>
            </a:r>
            <a:endParaRPr lang="en-US" sz="1800" dirty="0"/>
          </a:p>
        </p:txBody>
      </p:sp>
      <p:sp>
        <p:nvSpPr>
          <p:cNvPr id="36" name="Shape 34"/>
          <p:cNvSpPr/>
          <p:nvPr/>
        </p:nvSpPr>
        <p:spPr>
          <a:xfrm>
            <a:off x="13825657" y="5400913"/>
            <a:ext cx="3509724" cy="1131570"/>
          </a:xfrm>
          <a:prstGeom prst="roundRect">
            <a:avLst>
              <a:gd name="adj" fmla="val 5051"/>
            </a:avLst>
          </a:prstGeom>
          <a:ln w="7620">
            <a:solidFill>
              <a:srgbClr val="A9B2CC"/>
            </a:solidFill>
            <a:prstDash val="dash"/>
          </a:ln>
        </p:spPr>
        <p:txBody>
          <a:bodyPr anchor="ctr"/>
          <a:lstStyle/>
          <a:p>
            <a:endParaRPr lang="en-IN"/>
          </a:p>
        </p:txBody>
      </p:sp>
      <p:sp>
        <p:nvSpPr>
          <p:cNvPr id="37" name="Text 35"/>
          <p:cNvSpPr/>
          <p:nvPr/>
        </p:nvSpPr>
        <p:spPr>
          <a:xfrm>
            <a:off x="14061877" y="5637133"/>
            <a:ext cx="334101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00051E"/>
                </a:solidFill>
                <a:latin typeface="Abadi" panose="020B0604020104020204" pitchFamily="34" charset="0"/>
                <a:ea typeface="Lato" pitchFamily="34" charset="-122"/>
                <a:cs typeface="Lato" pitchFamily="34" charset="-120"/>
              </a:rPr>
              <a:t>Finance / FinOps</a:t>
            </a:r>
            <a:endParaRPr lang="en-US" sz="1800" dirty="0"/>
          </a:p>
        </p:txBody>
      </p:sp>
      <p:sp>
        <p:nvSpPr>
          <p:cNvPr id="38" name="Text 36"/>
          <p:cNvSpPr/>
          <p:nvPr/>
        </p:nvSpPr>
        <p:spPr>
          <a:xfrm>
            <a:off x="14061877" y="5987653"/>
            <a:ext cx="3341013"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6B7185"/>
                </a:solidFill>
                <a:latin typeface="Abadi" panose="020B0604020104020204" pitchFamily="34" charset="0"/>
                <a:ea typeface="Lato" pitchFamily="34" charset="-122"/>
                <a:cs typeface="Lato" pitchFamily="34" charset="-120"/>
              </a:rPr>
              <a:t>another</a:t>
            </a:r>
            <a:endParaRPr lang="en-US" sz="1800" dirty="0"/>
          </a:p>
        </p:txBody>
      </p:sp>
      <p:sp>
        <p:nvSpPr>
          <p:cNvPr id="39" name="Shape 37"/>
          <p:cNvSpPr/>
          <p:nvPr/>
        </p:nvSpPr>
        <p:spPr>
          <a:xfrm>
            <a:off x="952500" y="7458313"/>
            <a:ext cx="16383000" cy="1188720"/>
          </a:xfrm>
          <a:prstGeom prst="roundRect">
            <a:avLst>
              <a:gd name="adj" fmla="val 4808"/>
            </a:avLst>
          </a:prstGeom>
          <a:solidFill>
            <a:srgbClr val="00051E"/>
          </a:solidFill>
          <a:ln/>
        </p:spPr>
        <p:txBody>
          <a:bodyPr/>
          <a:lstStyle/>
          <a:p>
            <a:endParaRPr lang="en-IN"/>
          </a:p>
        </p:txBody>
      </p:sp>
      <p:sp>
        <p:nvSpPr>
          <p:cNvPr id="40" name="Text 38"/>
          <p:cNvSpPr/>
          <p:nvPr/>
        </p:nvSpPr>
        <p:spPr>
          <a:xfrm>
            <a:off x="1371600" y="7801213"/>
            <a:ext cx="8319135" cy="54102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300" dirty="0">
                <a:solidFill>
                  <a:srgbClr val="FFFFFF"/>
                </a:solidFill>
                <a:latin typeface="Abadi" panose="020B0604020104020204" pitchFamily="34" charset="0"/>
                <a:ea typeface="Lato" pitchFamily="34" charset="-122"/>
                <a:cs typeface="Lato" pitchFamily="34" charset="-120"/>
              </a:rPr>
              <a:t>“So… is the agent healthy?”</a:t>
            </a:r>
            <a:endParaRPr lang="en-US" sz="3300" dirty="0"/>
          </a:p>
        </p:txBody>
      </p:sp>
      <p:sp>
        <p:nvSpPr>
          <p:cNvPr id="41" name="Text 39"/>
          <p:cNvSpPr/>
          <p:nvPr/>
        </p:nvSpPr>
        <p:spPr>
          <a:xfrm>
            <a:off x="9353550" y="7872651"/>
            <a:ext cx="8319135" cy="398145"/>
          </a:xfrm>
          <a:prstGeom prst="rect">
            <a:avLst/>
          </a:prstGeom>
          <a:noFill/>
          <a:ln/>
        </p:spPr>
        <p:txBody>
          <a:bodyPr wrap="square" lIns="25400" tIns="25400" rIns="25400" bIns="25400" rtlCol="0" anchor="t">
            <a:normAutofit/>
          </a:bodyPr>
          <a:lstStyle/>
          <a:p>
            <a:r>
              <a:t>An API Interface collects the raw telemetry. DPI-LS calculates the intelligence.</a:t>
            </a:r>
          </a:p>
        </p:txBody>
      </p:sp>
      <p:sp>
        <p:nvSpPr>
          <p:cNvPr id="42" name="TextBox 41">
            <a:extLst>
              <a:ext uri="{FF2B5EF4-FFF2-40B4-BE49-F238E27FC236}">
                <a16:creationId xmlns:a16="http://schemas.microsoft.com/office/drawing/2014/main" id="{8AFB7547-318F-7B0D-B793-94CAD696F89F}"/>
              </a:ext>
            </a:extLst>
          </p:cNvPr>
          <p:cNvSpPr txBox="1"/>
          <p:nvPr/>
        </p:nvSpPr>
        <p:spPr>
          <a:xfrm>
            <a:off x="8711446" y="4600664"/>
            <a:ext cx="1093710" cy="400110"/>
          </a:xfrm>
          <a:prstGeom prst="rect">
            <a:avLst/>
          </a:prstGeom>
          <a:noFill/>
        </p:spPr>
        <p:txBody>
          <a:bodyPr wrap="square" rtlCol="0" anchor="ctr">
            <a:spAutoFit/>
          </a:bodyPr>
          <a:lstStyle/>
          <a:p>
            <a:pPr algn="ctr"/>
            <a:r>
              <a:rPr lang="en-IN" sz="2000" b="1" dirty="0"/>
              <a:t>Teams</a:t>
            </a:r>
          </a:p>
        </p:txBody>
      </p:sp>
      <p:sp>
        <p:nvSpPr>
          <p:cNvPr id="43" name="TextBox 42"/>
          <p:cNvSpPr txBox="1"/>
          <p:nvPr/>
        </p:nvSpPr>
        <p:spPr>
          <a:xfrm>
            <a:off x="457200" y="4572000"/>
            <a:ext cx="8229600" cy="1828800"/>
          </a:xfrm>
          <a:prstGeom prst="rect">
            <a:avLst/>
          </a:prstGeom>
          <a:noFill/>
        </p:spPr>
        <p:txBody>
          <a:bodyPr wrap="none">
            <a:spAutoFit/>
          </a:bodyPr>
          <a:lstStyle/>
          <a:p/>
          <a:p>
            <a:pPr>
              <a:defRPr b="1" sz="2000"/>
            </a:pPr>
            <a:r>
              <a:t>Additional Aspects:</a:t>
            </a:r>
          </a:p>
          <a:p>
            <a:pPr>
              <a:defRPr sz="1800"/>
            </a:pPr>
            <a:r>
              <a:t>1. Spend has increased by 40%+</a:t>
            </a:r>
          </a:p>
          <a:p>
            <a:pPr>
              <a:defRPr sz="1800"/>
            </a:pPr>
            <a:r>
              <a:t>2. Must measure Efficiency / ROI at the Logical unit</a:t>
            </a:r>
          </a:p>
          <a:p>
            <a:pPr>
              <a:defRPr sz="1800"/>
            </a:pPr>
            <a:r>
              <a:t>3. Comparison strategy: Agentic Workflows vs Traditional Execution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62050"/>
            <a:ext cx="1802130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6B7185"/>
                </a:solidFill>
                <a:latin typeface="Abadi" panose="020B0604020104020204" pitchFamily="34" charset="0"/>
                <a:ea typeface="Lato" pitchFamily="34" charset="-122"/>
                <a:cs typeface="Lato" pitchFamily="34" charset="-120"/>
              </a:rPr>
              <a:t>APPENDIX · THE CONCEPTUAL INNOVATION</a:t>
            </a:r>
            <a:endParaRPr lang="en-US" sz="1800" dirty="0"/>
          </a:p>
        </p:txBody>
      </p:sp>
      <p:sp>
        <p:nvSpPr>
          <p:cNvPr id="4" name="Text 2"/>
          <p:cNvSpPr/>
          <p:nvPr/>
        </p:nvSpPr>
        <p:spPr>
          <a:xfrm>
            <a:off x="952500" y="1626870"/>
            <a:ext cx="18021300" cy="696397"/>
          </a:xfrm>
          <a:prstGeom prst="rect">
            <a:avLst/>
          </a:prstGeom>
          <a:noFill/>
          <a:ln/>
        </p:spPr>
        <p:txBody>
          <a:bodyPr wrap="square" lIns="25400" tIns="25400" rIns="25400" bIns="25400" rtlCol="0" anchor="t">
            <a:normAutofit lnSpcReduction="10000"/>
          </a:bodyPr>
          <a:lstStyle/>
          <a:p>
            <a:pPr marL="0" indent="0" algn="l">
              <a:lnSpc>
                <a:spcPct val="90000"/>
              </a:lnSpc>
              <a:buNone/>
            </a:pPr>
            <a:r>
              <a:rPr lang="en-US" sz="4800" b="1" kern="0" spc="-72" dirty="0">
                <a:solidFill>
                  <a:srgbClr val="00051E"/>
                </a:solidFill>
                <a:latin typeface="Abadi" panose="020B0604020104020204" pitchFamily="34" charset="0"/>
                <a:ea typeface="Lato" pitchFamily="34" charset="-122"/>
                <a:cs typeface="Lato" pitchFamily="34" charset="-120"/>
              </a:rPr>
              <a:t>The Agent Performance Contract</a:t>
            </a:r>
            <a:endParaRPr lang="en-US" sz="4800" dirty="0"/>
          </a:p>
        </p:txBody>
      </p:sp>
      <p:sp>
        <p:nvSpPr>
          <p:cNvPr id="5" name="Text 3"/>
          <p:cNvSpPr/>
          <p:nvPr/>
        </p:nvSpPr>
        <p:spPr>
          <a:xfrm>
            <a:off x="952500" y="2475667"/>
            <a:ext cx="18021300" cy="398145"/>
          </a:xfrm>
          <a:prstGeom prst="rect">
            <a:avLst/>
          </a:prstGeom>
          <a:noFill/>
          <a:ln/>
        </p:spPr>
        <p:txBody>
          <a:bodyPr wrap="square" lIns="25400" tIns="25400" rIns="25400" bIns="25400" rtlCol="0" anchor="t">
            <a:normAutofit/>
          </a:bodyPr>
          <a:lstStyle/>
          <a:p>
            <a:pPr marL="0" indent="0" algn="l">
              <a:lnSpc>
                <a:spcPct val="112500"/>
              </a:lnSpc>
              <a:buNone/>
            </a:pPr>
            <a:r>
              <a:rPr lang="en-US" sz="2100" dirty="0">
                <a:solidFill>
                  <a:srgbClr val="5A6079"/>
                </a:solidFill>
                <a:latin typeface="Abadi" panose="020B0604020104020204" pitchFamily="34" charset="0"/>
                <a:ea typeface="Lato" pitchFamily="34" charset="-122"/>
                <a:cs typeface="Lato" pitchFamily="34" charset="-120"/>
              </a:rPr>
              <a:t>Before an enterprise agent receives responsibility, define:</a:t>
            </a:r>
            <a:endParaRPr lang="en-US" sz="2100" dirty="0"/>
          </a:p>
        </p:txBody>
      </p:sp>
      <p:sp>
        <p:nvSpPr>
          <p:cNvPr id="6" name="Shape 4"/>
          <p:cNvSpPr/>
          <p:nvPr/>
        </p:nvSpPr>
        <p:spPr>
          <a:xfrm>
            <a:off x="952500" y="3254812"/>
            <a:ext cx="3967163" cy="1607820"/>
          </a:xfrm>
          <a:prstGeom prst="roundRect">
            <a:avLst>
              <a:gd name="adj" fmla="val 3555"/>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7" name="Text 5"/>
          <p:cNvSpPr/>
          <p:nvPr/>
        </p:nvSpPr>
        <p:spPr>
          <a:xfrm>
            <a:off x="1219200" y="352151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01</a:t>
            </a:r>
            <a:endParaRPr lang="en-US" sz="1800" dirty="0"/>
          </a:p>
        </p:txBody>
      </p:sp>
      <p:sp>
        <p:nvSpPr>
          <p:cNvPr id="8" name="Text 6"/>
          <p:cNvSpPr/>
          <p:nvPr/>
        </p:nvSpPr>
        <p:spPr>
          <a:xfrm>
            <a:off x="1219200" y="3929182"/>
            <a:ext cx="3777139" cy="371475"/>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outcome is expected?</a:t>
            </a:r>
            <a:endParaRPr lang="en-US" sz="2100" dirty="0"/>
          </a:p>
        </p:txBody>
      </p:sp>
      <p:sp>
        <p:nvSpPr>
          <p:cNvPr id="9" name="Shape 7"/>
          <p:cNvSpPr/>
          <p:nvPr/>
        </p:nvSpPr>
        <p:spPr>
          <a:xfrm>
            <a:off x="5091113" y="3254812"/>
            <a:ext cx="3967163" cy="1607820"/>
          </a:xfrm>
          <a:prstGeom prst="roundRect">
            <a:avLst>
              <a:gd name="adj" fmla="val 3555"/>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0" name="Text 8"/>
          <p:cNvSpPr/>
          <p:nvPr/>
        </p:nvSpPr>
        <p:spPr>
          <a:xfrm>
            <a:off x="5357813" y="352151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02</a:t>
            </a:r>
            <a:endParaRPr lang="en-US" sz="1800" dirty="0"/>
          </a:p>
        </p:txBody>
      </p:sp>
      <p:sp>
        <p:nvSpPr>
          <p:cNvPr id="11" name="Text 9"/>
          <p:cNvSpPr/>
          <p:nvPr/>
        </p:nvSpPr>
        <p:spPr>
          <a:xfrm>
            <a:off x="5357813" y="3929182"/>
            <a:ext cx="3777139" cy="371475"/>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quality is acceptable?</a:t>
            </a:r>
            <a:endParaRPr lang="en-US" sz="2100" dirty="0"/>
          </a:p>
        </p:txBody>
      </p:sp>
      <p:sp>
        <p:nvSpPr>
          <p:cNvPr id="12" name="Shape 10"/>
          <p:cNvSpPr/>
          <p:nvPr/>
        </p:nvSpPr>
        <p:spPr>
          <a:xfrm>
            <a:off x="9229725" y="3254812"/>
            <a:ext cx="3967163" cy="1607820"/>
          </a:xfrm>
          <a:prstGeom prst="roundRect">
            <a:avLst>
              <a:gd name="adj" fmla="val 3555"/>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3" name="Text 11"/>
          <p:cNvSpPr/>
          <p:nvPr/>
        </p:nvSpPr>
        <p:spPr>
          <a:xfrm>
            <a:off x="9496425" y="352151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03</a:t>
            </a:r>
            <a:endParaRPr lang="en-US" sz="1800" dirty="0"/>
          </a:p>
        </p:txBody>
      </p:sp>
      <p:sp>
        <p:nvSpPr>
          <p:cNvPr id="14" name="Text 12"/>
          <p:cNvSpPr/>
          <p:nvPr/>
        </p:nvSpPr>
        <p:spPr>
          <a:xfrm>
            <a:off x="9496425" y="392918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execution reliability is required?</a:t>
            </a:r>
            <a:endParaRPr lang="en-US" sz="2100" dirty="0"/>
          </a:p>
        </p:txBody>
      </p:sp>
      <p:sp>
        <p:nvSpPr>
          <p:cNvPr id="15" name="Shape 13"/>
          <p:cNvSpPr/>
          <p:nvPr/>
        </p:nvSpPr>
        <p:spPr>
          <a:xfrm>
            <a:off x="13368338" y="3254812"/>
            <a:ext cx="3967163" cy="1607820"/>
          </a:xfrm>
          <a:prstGeom prst="roundRect">
            <a:avLst>
              <a:gd name="adj" fmla="val 3555"/>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6" name="Text 14"/>
          <p:cNvSpPr/>
          <p:nvPr/>
        </p:nvSpPr>
        <p:spPr>
          <a:xfrm>
            <a:off x="13635038" y="352151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04</a:t>
            </a:r>
            <a:endParaRPr lang="en-US" sz="1800" dirty="0"/>
          </a:p>
        </p:txBody>
      </p:sp>
      <p:sp>
        <p:nvSpPr>
          <p:cNvPr id="17" name="Text 15"/>
          <p:cNvSpPr/>
          <p:nvPr/>
        </p:nvSpPr>
        <p:spPr>
          <a:xfrm>
            <a:off x="13635038" y="392918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cost / token budget is acceptable?</a:t>
            </a:r>
            <a:endParaRPr lang="en-US" sz="2100" dirty="0"/>
          </a:p>
        </p:txBody>
      </p:sp>
      <p:sp>
        <p:nvSpPr>
          <p:cNvPr id="18" name="Shape 16"/>
          <p:cNvSpPr/>
          <p:nvPr/>
        </p:nvSpPr>
        <p:spPr>
          <a:xfrm>
            <a:off x="952500" y="5034082"/>
            <a:ext cx="3967163" cy="1922145"/>
          </a:xfrm>
          <a:prstGeom prst="roundRect">
            <a:avLst>
              <a:gd name="adj" fmla="val 297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9" name="Text 17"/>
          <p:cNvSpPr/>
          <p:nvPr/>
        </p:nvSpPr>
        <p:spPr>
          <a:xfrm>
            <a:off x="1219200" y="530078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05</a:t>
            </a:r>
            <a:endParaRPr lang="en-US" sz="1800" dirty="0"/>
          </a:p>
        </p:txBody>
      </p:sp>
      <p:sp>
        <p:nvSpPr>
          <p:cNvPr id="20" name="Text 18"/>
          <p:cNvSpPr/>
          <p:nvPr/>
        </p:nvSpPr>
        <p:spPr>
          <a:xfrm>
            <a:off x="1219200" y="570845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security thresholds apply?</a:t>
            </a:r>
            <a:endParaRPr lang="en-US" sz="2100" dirty="0"/>
          </a:p>
        </p:txBody>
      </p:sp>
      <p:sp>
        <p:nvSpPr>
          <p:cNvPr id="21" name="Shape 19"/>
          <p:cNvSpPr/>
          <p:nvPr/>
        </p:nvSpPr>
        <p:spPr>
          <a:xfrm>
            <a:off x="5091113" y="5034082"/>
            <a:ext cx="3967163" cy="1922145"/>
          </a:xfrm>
          <a:prstGeom prst="roundRect">
            <a:avLst>
              <a:gd name="adj" fmla="val 297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22" name="Text 20"/>
          <p:cNvSpPr/>
          <p:nvPr/>
        </p:nvSpPr>
        <p:spPr>
          <a:xfrm>
            <a:off x="5357813" y="530078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06</a:t>
            </a:r>
            <a:endParaRPr lang="en-US" sz="1800" dirty="0"/>
          </a:p>
        </p:txBody>
      </p:sp>
      <p:sp>
        <p:nvSpPr>
          <p:cNvPr id="23" name="Text 21"/>
          <p:cNvSpPr/>
          <p:nvPr/>
        </p:nvSpPr>
        <p:spPr>
          <a:xfrm>
            <a:off x="5357813" y="570845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Which governance policies are non-negotiable?</a:t>
            </a:r>
            <a:endParaRPr lang="en-US" sz="2100" dirty="0"/>
          </a:p>
        </p:txBody>
      </p:sp>
      <p:sp>
        <p:nvSpPr>
          <p:cNvPr id="24" name="Shape 22"/>
          <p:cNvSpPr/>
          <p:nvPr/>
        </p:nvSpPr>
        <p:spPr>
          <a:xfrm>
            <a:off x="9229725" y="5034082"/>
            <a:ext cx="3967163" cy="1922145"/>
          </a:xfrm>
          <a:prstGeom prst="roundRect">
            <a:avLst>
              <a:gd name="adj" fmla="val 297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25" name="Text 23"/>
          <p:cNvSpPr/>
          <p:nvPr/>
        </p:nvSpPr>
        <p:spPr>
          <a:xfrm>
            <a:off x="9496425" y="530078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07</a:t>
            </a:r>
            <a:endParaRPr lang="en-US" sz="1800" dirty="0"/>
          </a:p>
        </p:txBody>
      </p:sp>
      <p:sp>
        <p:nvSpPr>
          <p:cNvPr id="26" name="Text 24"/>
          <p:cNvSpPr/>
          <p:nvPr/>
        </p:nvSpPr>
        <p:spPr>
          <a:xfrm>
            <a:off x="9496425" y="5708452"/>
            <a:ext cx="3536775"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What conditions require human escalation?</a:t>
            </a:r>
            <a:endParaRPr lang="en-US" sz="2100" dirty="0"/>
          </a:p>
        </p:txBody>
      </p:sp>
      <p:sp>
        <p:nvSpPr>
          <p:cNvPr id="27" name="Shape 25"/>
          <p:cNvSpPr/>
          <p:nvPr/>
        </p:nvSpPr>
        <p:spPr>
          <a:xfrm>
            <a:off x="13368338" y="5034082"/>
            <a:ext cx="3967163" cy="1922145"/>
          </a:xfrm>
          <a:prstGeom prst="roundRect">
            <a:avLst>
              <a:gd name="adj" fmla="val 2973"/>
            </a:avLst>
          </a:prstGeom>
          <a:solidFill>
            <a:srgbClr val="00051E"/>
          </a:solidFill>
          <a:ln/>
        </p:spPr>
        <p:txBody>
          <a:bodyPr/>
          <a:lstStyle/>
          <a:p>
            <a:endParaRPr lang="en-IN"/>
          </a:p>
        </p:txBody>
      </p:sp>
      <p:sp>
        <p:nvSpPr>
          <p:cNvPr id="28" name="Text 26"/>
          <p:cNvSpPr/>
          <p:nvPr/>
        </p:nvSpPr>
        <p:spPr>
          <a:xfrm>
            <a:off x="13635038" y="5300782"/>
            <a:ext cx="3777139"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D3A518"/>
                </a:solidFill>
                <a:latin typeface="Abadi" panose="020B0604020104020204" pitchFamily="34" charset="0"/>
                <a:ea typeface="Lato" pitchFamily="34" charset="-122"/>
                <a:cs typeface="Lato" pitchFamily="34" charset="-120"/>
              </a:rPr>
              <a:t>THEN</a:t>
            </a:r>
            <a:endParaRPr lang="en-US" sz="1800" dirty="0"/>
          </a:p>
        </p:txBody>
      </p:sp>
      <p:sp>
        <p:nvSpPr>
          <p:cNvPr id="29" name="Text 27"/>
          <p:cNvSpPr/>
          <p:nvPr/>
        </p:nvSpPr>
        <p:spPr>
          <a:xfrm>
            <a:off x="13635038" y="5689402"/>
            <a:ext cx="3536775" cy="1038225"/>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FFFFFF"/>
                </a:solidFill>
                <a:latin typeface="Abadi" panose="020B0604020104020204" pitchFamily="34" charset="0"/>
                <a:ea typeface="Lato" pitchFamily="34" charset="-122"/>
                <a:cs typeface="Lato" pitchFamily="34" charset="-120"/>
              </a:rPr>
              <a:t>The scoring engine measures the agent against the contract.</a:t>
            </a:r>
            <a:endParaRPr lang="en-US" sz="2100" dirty="0"/>
          </a:p>
        </p:txBody>
      </p:sp>
      <p:sp>
        <p:nvSpPr>
          <p:cNvPr id="30" name="Text 28"/>
          <p:cNvSpPr/>
          <p:nvPr/>
        </p:nvSpPr>
        <p:spPr>
          <a:xfrm>
            <a:off x="952500" y="7375327"/>
            <a:ext cx="18021300" cy="398145"/>
          </a:xfrm>
          <a:prstGeom prst="rect">
            <a:avLst/>
          </a:prstGeom>
          <a:noFill/>
          <a:ln/>
        </p:spPr>
        <p:txBody>
          <a:bodyPr wrap="square" lIns="25400" tIns="25400" rIns="25400" bIns="25400" rtlCol="0" anchor="t">
            <a:normAutofit/>
          </a:bodyPr>
          <a:lstStyle/>
          <a:p>
            <a:pPr marL="0" indent="0" algn="l">
              <a:lnSpc>
                <a:spcPct val="112500"/>
              </a:lnSpc>
              <a:buNone/>
            </a:pPr>
            <a:r>
              <a:rPr lang="en-US" sz="2100" b="1" dirty="0">
                <a:solidFill>
                  <a:srgbClr val="2E3349"/>
                </a:solidFill>
                <a:latin typeface="Abadi" panose="020B0604020104020204" pitchFamily="34" charset="0"/>
                <a:ea typeface="Lato" pitchFamily="34" charset="-122"/>
                <a:cs typeface="Lato" pitchFamily="34" charset="-120"/>
              </a:rPr>
              <a:t>We establish a measurable performance contract for every enterprise agent.</a:t>
            </a:r>
            <a:endParaRPr lang="en-US" sz="21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7315200" cy="3657600"/>
          </a:xfrm>
          <a:prstGeom prst="rect">
            <a:avLst/>
          </a:prstGeom>
          <a:noFill/>
        </p:spPr>
        <p:txBody>
          <a:bodyPr wrap="none">
            <a:spAutoFit/>
          </a:bodyPr>
          <a:lstStyle/>
          <a:p/>
          <a:p>
            <a:pPr>
              <a:defRPr b="1" sz="2400"/>
            </a:pPr>
            <a:r>
              <a:t>Why is this important?</a:t>
            </a:r>
          </a:p>
          <a:p>
            <a:pPr>
              <a:defRPr sz="2000"/>
            </a:pPr>
            <a:r>
              <a:t>Without measuring ROI at the logical unit, AI scales as a cost-center rather than a profit-driver.</a:t>
            </a:r>
          </a:p>
          <a:p>
            <a:br/>
            <a:pPr>
              <a:defRPr b="1" sz="2400"/>
            </a:pPr>
            <a:r>
              <a:t>Example of benefits of measuring ROI:</a:t>
            </a:r>
          </a:p>
          <a:p>
            <a:pPr>
              <a:defRPr sz="2000"/>
            </a:pPr>
            <a:r>
              <a:t>Top pharma companies like Pfizer measure the exact ROI of their AI systems by tracking time-saved in drug discovery data analysis and regulatory compliance checks against the actual token cost.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7315200" cy="3657600"/>
          </a:xfrm>
          <a:prstGeom prst="rect">
            <a:avLst/>
          </a:prstGeom>
          <a:noFill/>
        </p:spPr>
        <p:txBody>
          <a:bodyPr wrap="none">
            <a:spAutoFit/>
          </a:bodyPr>
          <a:lstStyle/>
          <a:p/>
          <a:p>
            <a:r>
              <a:t>1. Science: Competency</a:t>
            </a:r>
          </a:p>
          <a:p>
            <a:r>
              <a:t>The foundational engineering, LLMs, and compute.</a:t>
            </a:r>
          </a:p>
          <a:p>
            <a:br/>
            <a:r>
              <a:t>2. Art: Collaboration</a:t>
            </a:r>
          </a:p>
          <a:p>
            <a:r>
              <a:t>Prompting, agentic behaviors, and workflows.</a:t>
            </a:r>
          </a:p>
          <a:p>
            <a:br/>
            <a:r>
              <a:t>3. Security: Maturity</a:t>
            </a:r>
          </a:p>
          <a:p>
            <a:r>
              <a:t>Governance, risk, and compliance.</a:t>
            </a:r>
          </a:p>
          <a:p>
            <a:br/>
            <a:r>
              <a:t>--&gt; DPI (Formula) - Measuring the balance of all three.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flipV="1">
            <a:off x="4298078" y="1371600"/>
            <a:ext cx="2514201" cy="128348"/>
          </a:xfrm>
          <a:prstGeom prst="rect">
            <a:avLst/>
          </a:prstGeom>
          <a:solidFill>
            <a:schemeClr val="accent6">
              <a:lumMod val="75000"/>
            </a:schemeClr>
          </a:solidFill>
          <a:ln/>
        </p:spPr>
        <p:txBody>
          <a:bodyPr/>
          <a:lstStyle/>
          <a:p>
            <a:endParaRPr lang="en-IN"/>
          </a:p>
        </p:txBody>
      </p:sp>
      <p:sp>
        <p:nvSpPr>
          <p:cNvPr id="3" name="Text 1"/>
          <p:cNvSpPr/>
          <p:nvPr/>
        </p:nvSpPr>
        <p:spPr>
          <a:xfrm>
            <a:off x="953215" y="1652824"/>
            <a:ext cx="8191500" cy="353616"/>
          </a:xfrm>
          <a:prstGeom prst="rect">
            <a:avLst/>
          </a:prstGeom>
          <a:noFill/>
          <a:ln/>
        </p:spPr>
        <p:txBody>
          <a:bodyPr wrap="square" lIns="25400" tIns="25400" rIns="25400" bIns="25400" rtlCol="0" anchor="t">
            <a:normAutofit/>
          </a:bodyPr>
          <a:lstStyle/>
          <a:p>
            <a:pPr marL="0" indent="0" algn="l">
              <a:buNone/>
            </a:pPr>
            <a:r>
              <a:rPr lang="en-US" sz="1800" b="1" kern="0" spc="288" dirty="0">
                <a:solidFill>
                  <a:srgbClr val="00051E"/>
                </a:solidFill>
                <a:latin typeface="Abadi" panose="020B0604020104020204" pitchFamily="34" charset="0"/>
                <a:ea typeface="Lato" pitchFamily="34" charset="-122"/>
                <a:cs typeface="Lato" pitchFamily="34" charset="-120"/>
              </a:rPr>
              <a:t>From Telemetry To An Agent Health Score</a:t>
            </a:r>
            <a:endParaRPr lang="en-US" sz="1800" dirty="0">
              <a:solidFill>
                <a:srgbClr val="00051E"/>
              </a:solidFill>
            </a:endParaRPr>
          </a:p>
        </p:txBody>
      </p:sp>
      <p:sp>
        <p:nvSpPr>
          <p:cNvPr id="4" name="Text 2"/>
          <p:cNvSpPr/>
          <p:nvPr/>
        </p:nvSpPr>
        <p:spPr>
          <a:xfrm>
            <a:off x="952500" y="2129790"/>
            <a:ext cx="13452277" cy="696397"/>
          </a:xfrm>
          <a:prstGeom prst="rect">
            <a:avLst/>
          </a:prstGeom>
          <a:noFill/>
          <a:ln/>
        </p:spPr>
        <p:txBody>
          <a:bodyPr wrap="square" lIns="25400" tIns="25400" rIns="25400" bIns="25400" rtlCol="0" anchor="ctr">
            <a:normAutofit/>
          </a:bodyPr>
          <a:lstStyle/>
          <a:p>
            <a:pPr marL="0" indent="0" algn="l">
              <a:lnSpc>
                <a:spcPct val="90000"/>
              </a:lnSpc>
              <a:buNone/>
            </a:pPr>
            <a:r>
              <a:rPr lang="en-US" sz="2800" b="1" kern="0" dirty="0">
                <a:solidFill>
                  <a:srgbClr val="00051E"/>
                </a:solidFill>
                <a:latin typeface="Abadi" panose="020B0604020104020204" pitchFamily="34" charset="0"/>
                <a:ea typeface="Lato" pitchFamily="34" charset="-122"/>
                <a:cs typeface="Lato" pitchFamily="34" charset="-120"/>
              </a:rPr>
              <a:t>Every Enterprise Agent Should Have A Performance Score?</a:t>
            </a:r>
            <a:endParaRPr lang="en-US" sz="2800" dirty="0"/>
          </a:p>
        </p:txBody>
      </p:sp>
      <p:sp>
        <p:nvSpPr>
          <p:cNvPr id="5" name="Shape 3"/>
          <p:cNvSpPr/>
          <p:nvPr/>
        </p:nvSpPr>
        <p:spPr>
          <a:xfrm>
            <a:off x="952500" y="3283387"/>
            <a:ext cx="6124218" cy="6320790"/>
          </a:xfrm>
          <a:prstGeom prst="roundRect">
            <a:avLst>
              <a:gd name="adj" fmla="val 933"/>
            </a:avLst>
          </a:prstGeom>
          <a:solidFill>
            <a:srgbClr val="00051E"/>
          </a:solidFill>
          <a:ln/>
        </p:spPr>
        <p:txBody>
          <a:bodyPr/>
          <a:lstStyle/>
          <a:p>
            <a:endParaRPr lang="en-IN"/>
          </a:p>
        </p:txBody>
      </p:sp>
      <p:sp>
        <p:nvSpPr>
          <p:cNvPr id="6" name="Text 4"/>
          <p:cNvSpPr/>
          <p:nvPr/>
        </p:nvSpPr>
        <p:spPr>
          <a:xfrm>
            <a:off x="2162868" y="3702049"/>
            <a:ext cx="3703483" cy="312858"/>
          </a:xfrm>
          <a:prstGeom prst="rect">
            <a:avLst/>
          </a:prstGeom>
          <a:noFill/>
          <a:ln/>
        </p:spPr>
        <p:txBody>
          <a:bodyPr wrap="square" lIns="25400" tIns="25400" rIns="25400" bIns="25400" rtlCol="0" anchor="t">
            <a:normAutofit lnSpcReduction="10000"/>
          </a:bodyPr>
          <a:lstStyle/>
          <a:p>
            <a:pPr marL="0" indent="0" algn="ctr">
              <a:buNone/>
            </a:pPr>
            <a:r>
              <a:rPr lang="en-US" sz="1800" b="1" kern="0" spc="252" dirty="0">
                <a:solidFill>
                  <a:srgbClr val="D3A518"/>
                </a:solidFill>
                <a:latin typeface="Abadi" panose="020B0604020104020204" pitchFamily="34" charset="0"/>
                <a:ea typeface="Lato" pitchFamily="34" charset="-122"/>
                <a:cs typeface="Lato" pitchFamily="34" charset="-120"/>
              </a:rPr>
              <a:t>CLAIMS AGENT</a:t>
            </a:r>
            <a:endParaRPr lang="en-US" sz="1800" dirty="0"/>
          </a:p>
        </p:txBody>
      </p:sp>
      <p:sp>
        <p:nvSpPr>
          <p:cNvPr id="7" name="Text 5"/>
          <p:cNvSpPr/>
          <p:nvPr/>
        </p:nvSpPr>
        <p:spPr>
          <a:xfrm>
            <a:off x="2292408" y="4072056"/>
            <a:ext cx="3444403" cy="352425"/>
          </a:xfrm>
          <a:prstGeom prst="rect">
            <a:avLst/>
          </a:prstGeom>
          <a:noFill/>
          <a:ln/>
        </p:spPr>
        <p:txBody>
          <a:bodyPr wrap="square" lIns="25400" tIns="25400" rIns="25400" bIns="25400" rtlCol="0" anchor="t">
            <a:normAutofit/>
          </a:bodyPr>
          <a:lstStyle/>
          <a:p>
            <a:pPr marL="0" indent="0" algn="ctr">
              <a:buNone/>
            </a:pPr>
            <a:r>
              <a:rPr lang="en-US" sz="1800" kern="0" spc="144" dirty="0">
                <a:solidFill>
                  <a:srgbClr val="FFFFFF">
                    <a:alpha val="70000"/>
                  </a:srgbClr>
                </a:solidFill>
                <a:latin typeface="Abadi" panose="020B0604020104020204" pitchFamily="34" charset="0"/>
                <a:ea typeface="Lato" pitchFamily="34" charset="-122"/>
                <a:cs typeface="Lato" pitchFamily="34" charset="-120"/>
              </a:rPr>
              <a:t>AGENT HEALTH SCORE</a:t>
            </a:r>
            <a:endParaRPr lang="en-US" sz="1800" dirty="0"/>
          </a:p>
        </p:txBody>
      </p:sp>
      <p:sp>
        <p:nvSpPr>
          <p:cNvPr id="8" name="Shape 6"/>
          <p:cNvSpPr/>
          <p:nvPr/>
        </p:nvSpPr>
        <p:spPr>
          <a:xfrm>
            <a:off x="2522383" y="4917877"/>
            <a:ext cx="2857500" cy="2857500"/>
          </a:xfrm>
          <a:prstGeom prst="ellipse">
            <a:avLst/>
          </a:prstGeom>
          <a:solidFill>
            <a:schemeClr val="accent4">
              <a:lumMod val="60000"/>
              <a:lumOff val="40000"/>
            </a:schemeClr>
          </a:solidFill>
          <a:ln/>
        </p:spPr>
        <p:txBody>
          <a:bodyPr/>
          <a:lstStyle/>
          <a:p>
            <a:pPr algn="ctr"/>
            <a:endParaRPr lang="en-IN"/>
          </a:p>
        </p:txBody>
      </p:sp>
      <p:sp>
        <p:nvSpPr>
          <p:cNvPr id="9" name="Shape 7"/>
          <p:cNvSpPr/>
          <p:nvPr/>
        </p:nvSpPr>
        <p:spPr>
          <a:xfrm>
            <a:off x="2827183" y="5241727"/>
            <a:ext cx="2247900" cy="2247900"/>
          </a:xfrm>
          <a:prstGeom prst="ellipse">
            <a:avLst/>
          </a:prstGeom>
          <a:solidFill>
            <a:srgbClr val="00051E"/>
          </a:solidFill>
          <a:ln/>
        </p:spPr>
        <p:txBody>
          <a:bodyPr/>
          <a:lstStyle/>
          <a:p>
            <a:endParaRPr lang="en-IN"/>
          </a:p>
        </p:txBody>
      </p:sp>
      <p:sp>
        <p:nvSpPr>
          <p:cNvPr id="10" name="Text 8"/>
          <p:cNvSpPr/>
          <p:nvPr/>
        </p:nvSpPr>
        <p:spPr>
          <a:xfrm>
            <a:off x="3116108" y="5781476"/>
            <a:ext cx="1613535" cy="1300043"/>
          </a:xfrm>
          <a:prstGeom prst="rect">
            <a:avLst/>
          </a:prstGeom>
          <a:noFill/>
          <a:ln/>
        </p:spPr>
        <p:txBody>
          <a:bodyPr wrap="square" lIns="25400" tIns="25400" rIns="25400" bIns="25400" rtlCol="0" anchor="t">
            <a:normAutofit fontScale="92500"/>
          </a:bodyPr>
          <a:lstStyle/>
          <a:p>
            <a:pPr marL="0" indent="0" algn="ctr">
              <a:lnSpc>
                <a:spcPct val="83333"/>
              </a:lnSpc>
              <a:buNone/>
            </a:pPr>
            <a:r>
              <a:rPr lang="en-US" sz="10500" b="1" kern="0" spc="-315" dirty="0">
                <a:solidFill>
                  <a:srgbClr val="FFFFFF"/>
                </a:solidFill>
                <a:latin typeface="Abadi" panose="020B0604020104020204" pitchFamily="34" charset="0"/>
                <a:ea typeface="Lato" pitchFamily="34" charset="-122"/>
                <a:cs typeface="Lato" pitchFamily="34" charset="-120"/>
              </a:rPr>
              <a:t>78</a:t>
            </a:r>
            <a:endParaRPr lang="en-US" sz="10500" dirty="0"/>
          </a:p>
        </p:txBody>
      </p:sp>
      <p:sp>
        <p:nvSpPr>
          <p:cNvPr id="11" name="Shape 9"/>
          <p:cNvSpPr/>
          <p:nvPr/>
        </p:nvSpPr>
        <p:spPr>
          <a:xfrm>
            <a:off x="1371600" y="8270677"/>
            <a:ext cx="5286018" cy="9525"/>
          </a:xfrm>
          <a:prstGeom prst="rect">
            <a:avLst/>
          </a:prstGeom>
          <a:solidFill>
            <a:srgbClr val="FFFFFF">
              <a:alpha val="18000"/>
            </a:srgbClr>
          </a:solidFill>
          <a:ln/>
        </p:spPr>
        <p:txBody>
          <a:bodyPr/>
          <a:lstStyle/>
          <a:p>
            <a:endParaRPr lang="en-IN"/>
          </a:p>
        </p:txBody>
      </p:sp>
      <p:sp>
        <p:nvSpPr>
          <p:cNvPr id="12" name="Text 10"/>
          <p:cNvSpPr/>
          <p:nvPr/>
        </p:nvSpPr>
        <p:spPr>
          <a:xfrm>
            <a:off x="1767234" y="8442127"/>
            <a:ext cx="4494751" cy="377190"/>
          </a:xfrm>
          <a:prstGeom prst="rect">
            <a:avLst/>
          </a:prstGeom>
          <a:noFill/>
          <a:ln/>
        </p:spPr>
        <p:txBody>
          <a:bodyPr wrap="square" lIns="25400" tIns="25400" rIns="25400" bIns="25400" rtlCol="0" anchor="t">
            <a:normAutofit/>
          </a:bodyPr>
          <a:lstStyle/>
          <a:p>
            <a:pPr marL="0" indent="0" algn="ctr">
              <a:buNone/>
            </a:pPr>
            <a:r>
              <a:rPr lang="en-US" sz="1800" b="1" dirty="0">
                <a:solidFill>
                  <a:srgbClr val="D3A518"/>
                </a:solidFill>
                <a:latin typeface="Abadi" panose="020B0604020104020204" pitchFamily="34" charset="0"/>
                <a:ea typeface="Lato" pitchFamily="34" charset="-122"/>
                <a:cs typeface="Lato" pitchFamily="34" charset="-120"/>
              </a:rPr>
              <a:t>The score is not the intelligence.</a:t>
            </a:r>
            <a:endParaRPr lang="en-US" sz="1800" dirty="0"/>
          </a:p>
        </p:txBody>
      </p:sp>
      <p:sp>
        <p:nvSpPr>
          <p:cNvPr id="13" name="Text 11"/>
          <p:cNvSpPr/>
          <p:nvPr/>
        </p:nvSpPr>
        <p:spPr>
          <a:xfrm>
            <a:off x="1832004" y="8876466"/>
            <a:ext cx="4365211" cy="346710"/>
          </a:xfrm>
          <a:prstGeom prst="rect">
            <a:avLst/>
          </a:prstGeom>
          <a:noFill/>
          <a:ln/>
        </p:spPr>
        <p:txBody>
          <a:bodyPr wrap="square" lIns="25400" tIns="25400" rIns="25400" bIns="25400" rtlCol="0" anchor="t">
            <a:normAutofit/>
          </a:bodyPr>
          <a:lstStyle/>
          <a:p>
            <a:pPr marL="0" indent="0" algn="ctr">
              <a:lnSpc>
                <a:spcPct val="112500"/>
              </a:lnSpc>
              <a:buNone/>
            </a:pPr>
            <a:r>
              <a:rPr lang="en-US" sz="1800" dirty="0">
                <a:solidFill>
                  <a:srgbClr val="FFFFFF">
                    <a:alpha val="80000"/>
                  </a:srgbClr>
                </a:solidFill>
                <a:latin typeface="Abadi" panose="020B0604020104020204" pitchFamily="34" charset="0"/>
                <a:ea typeface="Lato" pitchFamily="34" charset="-122"/>
                <a:cs typeface="Lato" pitchFamily="34" charset="-120"/>
              </a:rPr>
              <a:t>The evidence behind the score is.</a:t>
            </a:r>
            <a:endParaRPr lang="en-US" sz="1800" dirty="0"/>
          </a:p>
        </p:txBody>
      </p:sp>
      <p:sp>
        <p:nvSpPr>
          <p:cNvPr id="14" name="Shape 12"/>
          <p:cNvSpPr/>
          <p:nvPr/>
        </p:nvSpPr>
        <p:spPr>
          <a:xfrm>
            <a:off x="7457718" y="3283387"/>
            <a:ext cx="3178255"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5" name="Text 13"/>
          <p:cNvSpPr/>
          <p:nvPr/>
        </p:nvSpPr>
        <p:spPr>
          <a:xfrm>
            <a:off x="7705368" y="3531037"/>
            <a:ext cx="295125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PERFORMANCE</a:t>
            </a:r>
            <a:endParaRPr lang="en-US" sz="1800" dirty="0"/>
          </a:p>
        </p:txBody>
      </p:sp>
      <p:sp>
        <p:nvSpPr>
          <p:cNvPr id="16" name="Text 14"/>
          <p:cNvSpPr/>
          <p:nvPr/>
        </p:nvSpPr>
        <p:spPr>
          <a:xfrm>
            <a:off x="7705368" y="3919657"/>
            <a:ext cx="2763443"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Is the agent achieving the objective?</a:t>
            </a:r>
            <a:endParaRPr lang="en-US" sz="1800" dirty="0"/>
          </a:p>
        </p:txBody>
      </p:sp>
      <p:sp>
        <p:nvSpPr>
          <p:cNvPr id="17" name="Shape 15"/>
          <p:cNvSpPr/>
          <p:nvPr/>
        </p:nvSpPr>
        <p:spPr>
          <a:xfrm>
            <a:off x="10807423" y="3283387"/>
            <a:ext cx="3178255"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8" name="Text 16"/>
          <p:cNvSpPr/>
          <p:nvPr/>
        </p:nvSpPr>
        <p:spPr>
          <a:xfrm>
            <a:off x="11055073" y="3531037"/>
            <a:ext cx="295125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QUALITY</a:t>
            </a:r>
            <a:endParaRPr lang="en-US" sz="1800" dirty="0"/>
          </a:p>
        </p:txBody>
      </p:sp>
      <p:sp>
        <p:nvSpPr>
          <p:cNvPr id="19" name="Text 17"/>
          <p:cNvSpPr/>
          <p:nvPr/>
        </p:nvSpPr>
        <p:spPr>
          <a:xfrm>
            <a:off x="11055073" y="3919657"/>
            <a:ext cx="2951250"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Can we trust the output?</a:t>
            </a:r>
            <a:endParaRPr lang="en-US" sz="1800" dirty="0"/>
          </a:p>
        </p:txBody>
      </p:sp>
      <p:sp>
        <p:nvSpPr>
          <p:cNvPr id="20" name="Shape 18"/>
          <p:cNvSpPr/>
          <p:nvPr/>
        </p:nvSpPr>
        <p:spPr>
          <a:xfrm>
            <a:off x="14157127" y="3283387"/>
            <a:ext cx="3178373"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21" name="Text 19"/>
          <p:cNvSpPr/>
          <p:nvPr/>
        </p:nvSpPr>
        <p:spPr>
          <a:xfrm>
            <a:off x="14404777" y="3531037"/>
            <a:ext cx="2951381"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RELIABILITY</a:t>
            </a:r>
            <a:endParaRPr lang="en-US" sz="1800" dirty="0"/>
          </a:p>
        </p:txBody>
      </p:sp>
      <p:sp>
        <p:nvSpPr>
          <p:cNvPr id="22" name="Text 20"/>
          <p:cNvSpPr/>
          <p:nvPr/>
        </p:nvSpPr>
        <p:spPr>
          <a:xfrm>
            <a:off x="14404777" y="3919657"/>
            <a:ext cx="2763566"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Are actions and tools succeeding?</a:t>
            </a:r>
            <a:endParaRPr lang="en-US" sz="1800" dirty="0"/>
          </a:p>
        </p:txBody>
      </p:sp>
      <p:sp>
        <p:nvSpPr>
          <p:cNvPr id="23" name="Shape 21"/>
          <p:cNvSpPr/>
          <p:nvPr/>
        </p:nvSpPr>
        <p:spPr>
          <a:xfrm>
            <a:off x="7457718" y="6060877"/>
            <a:ext cx="3178255" cy="2606040"/>
          </a:xfrm>
          <a:prstGeom prst="roundRect">
            <a:avLst>
              <a:gd name="adj" fmla="val 2193"/>
            </a:avLst>
          </a:prstGeom>
          <a:solidFill>
            <a:srgbClr val="FFFFFF"/>
          </a:solidFill>
          <a:ln w="15240">
            <a:solidFill>
              <a:srgbClr val="D3A518"/>
            </a:solidFill>
            <a:prstDash val="solid"/>
          </a:ln>
          <a:effectLst>
            <a:outerShdw blurRad="114300" dist="19050" dir="5400000" algn="bl" rotWithShape="0">
              <a:srgbClr val="00051E">
                <a:alpha val="10000"/>
              </a:srgbClr>
            </a:outerShdw>
          </a:effectLst>
        </p:spPr>
        <p:txBody>
          <a:bodyPr/>
          <a:lstStyle/>
          <a:p>
            <a:endParaRPr lang="en-IN"/>
          </a:p>
        </p:txBody>
      </p:sp>
      <p:sp>
        <p:nvSpPr>
          <p:cNvPr id="24" name="Text 22"/>
          <p:cNvSpPr/>
          <p:nvPr/>
        </p:nvSpPr>
        <p:spPr>
          <a:xfrm>
            <a:off x="7720608" y="6323766"/>
            <a:ext cx="2917722"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ECONOMICS</a:t>
            </a:r>
            <a:endParaRPr lang="en-US" sz="1800" dirty="0"/>
          </a:p>
        </p:txBody>
      </p:sp>
      <p:sp>
        <p:nvSpPr>
          <p:cNvPr id="25" name="Text 23"/>
          <p:cNvSpPr/>
          <p:nvPr/>
        </p:nvSpPr>
        <p:spPr>
          <a:xfrm>
            <a:off x="7720608" y="6712387"/>
            <a:ext cx="2732049"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What does the outcome cost?</a:t>
            </a:r>
            <a:endParaRPr lang="en-US" sz="1800" dirty="0"/>
          </a:p>
        </p:txBody>
      </p:sp>
      <p:sp>
        <p:nvSpPr>
          <p:cNvPr id="26" name="Text 24"/>
          <p:cNvSpPr/>
          <p:nvPr/>
        </p:nvSpPr>
        <p:spPr>
          <a:xfrm>
            <a:off x="7720608" y="7443907"/>
            <a:ext cx="2732049" cy="998220"/>
          </a:xfrm>
          <a:prstGeom prst="rect">
            <a:avLst/>
          </a:prstGeom>
          <a:noFill/>
          <a:ln/>
        </p:spPr>
        <p:txBody>
          <a:bodyPr wrap="square" lIns="25400" tIns="25400" rIns="25400" bIns="25400" rtlCol="0" anchor="t">
            <a:normAutofit/>
          </a:bodyPr>
          <a:lstStyle/>
          <a:p>
            <a:pPr marL="0" indent="0" algn="l">
              <a:lnSpc>
                <a:spcPct val="116667"/>
              </a:lnSpc>
              <a:buNone/>
            </a:pPr>
            <a:r>
              <a:rPr lang="en-US" sz="1800" b="1" dirty="0">
                <a:solidFill>
                  <a:srgbClr val="00051E"/>
                </a:solidFill>
                <a:latin typeface="Abadi" panose="020B0604020104020204" pitchFamily="34" charset="0"/>
                <a:ea typeface="Lato" pitchFamily="34" charset="-122"/>
                <a:cs typeface="Lato" pitchFamily="34" charset="-120"/>
              </a:rPr>
              <a:t>Token efficiency · Compute cost · Cost per outcome · Cost trend</a:t>
            </a:r>
            <a:endParaRPr lang="en-US" sz="1800" dirty="0"/>
          </a:p>
        </p:txBody>
      </p:sp>
      <p:sp>
        <p:nvSpPr>
          <p:cNvPr id="27" name="Shape 25"/>
          <p:cNvSpPr/>
          <p:nvPr/>
        </p:nvSpPr>
        <p:spPr>
          <a:xfrm>
            <a:off x="10807423" y="6060877"/>
            <a:ext cx="3178255"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28" name="Text 26"/>
          <p:cNvSpPr/>
          <p:nvPr/>
        </p:nvSpPr>
        <p:spPr>
          <a:xfrm>
            <a:off x="11055073" y="6308527"/>
            <a:ext cx="295125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SECURITY &amp; RISK</a:t>
            </a:r>
            <a:endParaRPr lang="en-US" sz="1800" dirty="0"/>
          </a:p>
        </p:txBody>
      </p:sp>
      <p:sp>
        <p:nvSpPr>
          <p:cNvPr id="29" name="Text 27"/>
          <p:cNvSpPr/>
          <p:nvPr/>
        </p:nvSpPr>
        <p:spPr>
          <a:xfrm>
            <a:off x="11055073" y="6697147"/>
            <a:ext cx="2763443"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What exposure is being created?</a:t>
            </a:r>
            <a:endParaRPr lang="en-US" sz="1800" dirty="0"/>
          </a:p>
        </p:txBody>
      </p:sp>
      <p:sp>
        <p:nvSpPr>
          <p:cNvPr id="30" name="Shape 28"/>
          <p:cNvSpPr/>
          <p:nvPr/>
        </p:nvSpPr>
        <p:spPr>
          <a:xfrm>
            <a:off x="14157127" y="6060877"/>
            <a:ext cx="3178373" cy="2606040"/>
          </a:xfrm>
          <a:prstGeom prst="roundRect">
            <a:avLst>
              <a:gd name="adj" fmla="val 2193"/>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31" name="Text 29"/>
          <p:cNvSpPr/>
          <p:nvPr/>
        </p:nvSpPr>
        <p:spPr>
          <a:xfrm>
            <a:off x="14404777" y="6308527"/>
            <a:ext cx="2951381"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00051E"/>
                </a:solidFill>
                <a:latin typeface="Abadi" panose="020B0604020104020204" pitchFamily="34" charset="0"/>
                <a:ea typeface="Lato" pitchFamily="34" charset="-122"/>
                <a:cs typeface="Lato" pitchFamily="34" charset="-120"/>
              </a:rPr>
              <a:t>GOVERNANCE</a:t>
            </a:r>
            <a:endParaRPr lang="en-US" sz="1800" dirty="0"/>
          </a:p>
        </p:txBody>
      </p:sp>
      <p:sp>
        <p:nvSpPr>
          <p:cNvPr id="32" name="Text 30"/>
          <p:cNvSpPr/>
          <p:nvPr/>
        </p:nvSpPr>
        <p:spPr>
          <a:xfrm>
            <a:off x="14404777" y="6697147"/>
            <a:ext cx="2763566"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Is the agent operating within policy?</a:t>
            </a:r>
            <a:endParaRPr lang="en-US" sz="1800" dirty="0"/>
          </a:p>
        </p:txBody>
      </p:sp>
      <p:sp>
        <p:nvSpPr>
          <p:cNvPr id="33" name="Shape 31"/>
          <p:cNvSpPr/>
          <p:nvPr/>
        </p:nvSpPr>
        <p:spPr>
          <a:xfrm>
            <a:off x="7457718" y="8838366"/>
            <a:ext cx="9877782" cy="765810"/>
          </a:xfrm>
          <a:prstGeom prst="roundRect">
            <a:avLst>
              <a:gd name="adj" fmla="val 7463"/>
            </a:avLst>
          </a:prstGeom>
          <a:solidFill>
            <a:srgbClr val="2E3349"/>
          </a:solidFill>
          <a:ln/>
        </p:spPr>
        <p:txBody>
          <a:bodyPr/>
          <a:lstStyle/>
          <a:p>
            <a:endParaRPr lang="en-IN"/>
          </a:p>
        </p:txBody>
      </p:sp>
      <p:sp>
        <p:nvSpPr>
          <p:cNvPr id="34" name="Text 32"/>
          <p:cNvSpPr/>
          <p:nvPr/>
        </p:nvSpPr>
        <p:spPr>
          <a:xfrm>
            <a:off x="7705368" y="9065061"/>
            <a:ext cx="1674043"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08" dirty="0">
                <a:solidFill>
                  <a:srgbClr val="D3A518"/>
                </a:solidFill>
                <a:latin typeface="Abadi" panose="020B0604020104020204" pitchFamily="34" charset="0"/>
                <a:ea typeface="Lato" pitchFamily="34" charset="-122"/>
                <a:cs typeface="Lato" pitchFamily="34" charset="-120"/>
              </a:rPr>
              <a:t>VALIDATION</a:t>
            </a:r>
            <a:endParaRPr lang="en-US" sz="1800" dirty="0"/>
          </a:p>
        </p:txBody>
      </p:sp>
      <p:sp>
        <p:nvSpPr>
          <p:cNvPr id="35" name="Text 33"/>
          <p:cNvSpPr/>
          <p:nvPr/>
        </p:nvSpPr>
        <p:spPr>
          <a:xfrm>
            <a:off x="9455825" y="9047916"/>
            <a:ext cx="6370582" cy="34671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FFFFFF"/>
                </a:solidFill>
                <a:latin typeface="Abadi" panose="020B0604020104020204" pitchFamily="34" charset="0"/>
                <a:ea typeface="Lato" pitchFamily="34" charset="-122"/>
                <a:cs typeface="Lato" pitchFamily="34" charset="-120"/>
              </a:rPr>
              <a:t>Are required structures, rules and controls being satisfied?</a:t>
            </a:r>
            <a:endParaRPr lang="en-US" sz="1800" dirty="0"/>
          </a:p>
        </p:txBody>
      </p:sp>
      <p:sp>
        <p:nvSpPr>
          <p:cNvPr id="36" name="TextBox 35">
            <a:extLst>
              <a:ext uri="{FF2B5EF4-FFF2-40B4-BE49-F238E27FC236}">
                <a16:creationId xmlns:a16="http://schemas.microsoft.com/office/drawing/2014/main" id="{1F22C8D2-B37E-8EDA-9691-061E4DA06C71}"/>
              </a:ext>
            </a:extLst>
          </p:cNvPr>
          <p:cNvSpPr txBox="1"/>
          <p:nvPr/>
        </p:nvSpPr>
        <p:spPr>
          <a:xfrm>
            <a:off x="952500" y="651271"/>
            <a:ext cx="7033260" cy="738664"/>
          </a:xfrm>
          <a:prstGeom prst="rect">
            <a:avLst/>
          </a:prstGeom>
          <a:noFill/>
        </p:spPr>
        <p:txBody>
          <a:bodyPr wrap="square" rtlCol="0">
            <a:spAutoFit/>
          </a:bodyPr>
          <a:lstStyle/>
          <a:p>
            <a:r>
              <a:rPr lang="en-IN" sz="4200" b="1" dirty="0">
                <a:solidFill>
                  <a:srgbClr val="00051E"/>
                </a:solidFill>
              </a:rPr>
              <a:t>Intelligenz IT – DPI Engine</a:t>
            </a:r>
          </a:p>
        </p:txBody>
      </p:sp>
      <p:sp>
        <p:nvSpPr>
          <p:cNvPr id="37" name="Text 1">
            <a:extLst>
              <a:ext uri="{FF2B5EF4-FFF2-40B4-BE49-F238E27FC236}">
                <a16:creationId xmlns:a16="http://schemas.microsoft.com/office/drawing/2014/main" id="{3D6411A7-7DFA-CD3B-6FAC-922E661CC97E}"/>
              </a:ext>
            </a:extLst>
          </p:cNvPr>
          <p:cNvSpPr/>
          <p:nvPr/>
        </p:nvSpPr>
        <p:spPr>
          <a:xfrm>
            <a:off x="7060409" y="1132463"/>
            <a:ext cx="4638003" cy="392788"/>
          </a:xfrm>
          <a:prstGeom prst="rect">
            <a:avLst/>
          </a:prstGeom>
          <a:noFill/>
          <a:ln/>
        </p:spPr>
        <p:txBody>
          <a:bodyPr wrap="square" lIns="25400" tIns="25400" rIns="25400" bIns="25400" rtlCol="0" anchor="t">
            <a:normAutofit/>
          </a:bodyPr>
          <a:lstStyle/>
          <a:p>
            <a:r>
              <a:rPr lang="en-IN" b="1" dirty="0"/>
              <a:t>DPI-LS = (P × Q^1.5 × E) × (G^1.5 × R^2) × C × V</a:t>
            </a:r>
            <a:endParaRPr lang="en-US" sz="1800" b="1" dirty="0">
              <a:solidFill>
                <a:srgbClr val="00051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7E5A9A1-CE15-6B90-D40F-D351742DC7E8}"/>
              </a:ext>
            </a:extLst>
          </p:cNvPr>
          <p:cNvPicPr>
            <a:picLocks noChangeAspect="1"/>
          </p:cNvPicPr>
          <p:nvPr/>
        </p:nvPicPr>
        <p:blipFill>
          <a:blip r:embed="rId2"/>
          <a:stretch>
            <a:fillRect/>
          </a:stretch>
        </p:blipFill>
        <p:spPr>
          <a:xfrm>
            <a:off x="2448732" y="0"/>
            <a:ext cx="13390536" cy="10287000"/>
          </a:xfrm>
          <a:prstGeom prst="rect">
            <a:avLst/>
          </a:prstGeom>
        </p:spPr>
      </p:pic>
    </p:spTree>
    <p:extLst>
      <p:ext uri="{BB962C8B-B14F-4D97-AF65-F5344CB8AC3E}">
        <p14:creationId xmlns:p14="http://schemas.microsoft.com/office/powerpoint/2010/main" val="275031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p:nvSpPr>
          <p:cNvPr id="2" name="Text 0"/>
          <p:cNvSpPr/>
          <p:nvPr/>
        </p:nvSpPr>
        <p:spPr>
          <a:xfrm>
            <a:off x="952500" y="723900"/>
            <a:ext cx="11865114"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D3A518"/>
                </a:solidFill>
                <a:latin typeface="Abadi" panose="020B0604020104020204" pitchFamily="34" charset="0"/>
                <a:ea typeface="Lato" pitchFamily="34" charset="-122"/>
                <a:cs typeface="Lato" pitchFamily="34" charset="-120"/>
              </a:rPr>
              <a:t>THE ENTERPRISE AGENT CONTROL TOWER</a:t>
            </a:r>
            <a:endParaRPr lang="en-US" sz="1800" dirty="0"/>
          </a:p>
        </p:txBody>
      </p:sp>
      <p:sp>
        <p:nvSpPr>
          <p:cNvPr id="3" name="Text 1"/>
          <p:cNvSpPr/>
          <p:nvPr/>
        </p:nvSpPr>
        <p:spPr>
          <a:xfrm>
            <a:off x="952500" y="1150620"/>
            <a:ext cx="11865114" cy="598170"/>
          </a:xfrm>
          <a:prstGeom prst="rect">
            <a:avLst/>
          </a:prstGeom>
          <a:noFill/>
          <a:ln/>
        </p:spPr>
        <p:txBody>
          <a:bodyPr wrap="square" lIns="25400" tIns="25400" rIns="25400" bIns="25400" rtlCol="0" anchor="t">
            <a:normAutofit lnSpcReduction="10000"/>
          </a:bodyPr>
          <a:lstStyle/>
          <a:p>
            <a:pPr marL="0" indent="0" algn="l">
              <a:lnSpc>
                <a:spcPct val="87500"/>
              </a:lnSpc>
              <a:buNone/>
            </a:pPr>
            <a:r>
              <a:rPr lang="en-US" sz="4200" b="1" kern="0" spc="-63" dirty="0">
                <a:solidFill>
                  <a:srgbClr val="FFFFFF"/>
                </a:solidFill>
                <a:latin typeface="Abadi" panose="020B0604020104020204" pitchFamily="34" charset="0"/>
                <a:ea typeface="Lato" pitchFamily="34" charset="-122"/>
                <a:cs typeface="Lato" pitchFamily="34" charset="-120"/>
              </a:rPr>
              <a:t>One enterprise. One view of the AI workforce.</a:t>
            </a:r>
            <a:endParaRPr lang="en-US" sz="4200" dirty="0"/>
          </a:p>
        </p:txBody>
      </p:sp>
      <p:sp>
        <p:nvSpPr>
          <p:cNvPr id="4" name="Text 2"/>
          <p:cNvSpPr/>
          <p:nvPr/>
        </p:nvSpPr>
        <p:spPr>
          <a:xfrm>
            <a:off x="13214985" y="1070610"/>
            <a:ext cx="4120515" cy="678180"/>
          </a:xfrm>
          <a:prstGeom prst="rect">
            <a:avLst/>
          </a:prstGeom>
          <a:noFill/>
          <a:ln/>
        </p:spPr>
        <p:txBody>
          <a:bodyPr wrap="square" lIns="25400" tIns="25400" rIns="25400" bIns="25400" rtlCol="0" anchor="t">
            <a:normAutofit/>
          </a:bodyPr>
          <a:lstStyle/>
          <a:p>
            <a:pPr marL="0" indent="0" algn="r">
              <a:lnSpc>
                <a:spcPct val="116667"/>
              </a:lnSpc>
              <a:buNone/>
            </a:pPr>
            <a:r>
              <a:rPr lang="en-US" sz="1800" b="1" dirty="0">
                <a:solidFill>
                  <a:srgbClr val="FFFFFF">
                    <a:alpha val="65000"/>
                  </a:srgbClr>
                </a:solidFill>
                <a:latin typeface="Abadi" panose="020B0604020104020204" pitchFamily="34" charset="0"/>
                <a:ea typeface="Lato" pitchFamily="34" charset="-122"/>
                <a:cs typeface="Lato" pitchFamily="34" charset="-120"/>
              </a:rPr>
              <a:t>Agent health should be observable before agent failure becomes visible.</a:t>
            </a:r>
            <a:endParaRPr lang="en-US" sz="1800" dirty="0"/>
          </a:p>
        </p:txBody>
      </p:sp>
      <p:sp>
        <p:nvSpPr>
          <p:cNvPr id="5" name="Shape 3"/>
          <p:cNvSpPr/>
          <p:nvPr/>
        </p:nvSpPr>
        <p:spPr>
          <a:xfrm>
            <a:off x="952500" y="2015490"/>
            <a:ext cx="16383000" cy="708660"/>
          </a:xfrm>
          <a:prstGeom prst="roundRect">
            <a:avLst>
              <a:gd name="adj" fmla="val 8065"/>
            </a:avLst>
          </a:prstGeom>
          <a:solidFill>
            <a:srgbClr val="FFFFFF">
              <a:alpha val="5000"/>
            </a:srgbClr>
          </a:solidFill>
          <a:ln w="7620">
            <a:solidFill>
              <a:srgbClr val="FFFFFF">
                <a:alpha val="14000"/>
              </a:srgbClr>
            </a:solidFill>
            <a:prstDash val="solid"/>
          </a:ln>
        </p:spPr>
        <p:txBody>
          <a:bodyPr/>
          <a:lstStyle/>
          <a:p>
            <a:endParaRPr lang="en-IN"/>
          </a:p>
        </p:txBody>
      </p:sp>
      <p:sp>
        <p:nvSpPr>
          <p:cNvPr id="6" name="Text 4"/>
          <p:cNvSpPr/>
          <p:nvPr/>
        </p:nvSpPr>
        <p:spPr>
          <a:xfrm>
            <a:off x="1264920" y="2232660"/>
            <a:ext cx="4277963"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FFFFF"/>
                </a:solidFill>
                <a:latin typeface="Abadi" panose="020B0604020104020204" pitchFamily="34" charset="0"/>
                <a:ea typeface="Lato" pitchFamily="34" charset="-122"/>
                <a:cs typeface="Lato" pitchFamily="34" charset="-120"/>
              </a:rPr>
              <a:t>ENTERPRISE AI WORKFORCE</a:t>
            </a:r>
            <a:endParaRPr lang="en-US" sz="1800" dirty="0"/>
          </a:p>
        </p:txBody>
      </p:sp>
      <p:sp>
        <p:nvSpPr>
          <p:cNvPr id="7" name="Text 5"/>
          <p:cNvSpPr/>
          <p:nvPr/>
        </p:nvSpPr>
        <p:spPr>
          <a:xfrm>
            <a:off x="5573078" y="2232660"/>
            <a:ext cx="123920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128 Agents</a:t>
            </a:r>
            <a:endParaRPr lang="en-US" sz="1800" dirty="0"/>
          </a:p>
        </p:txBody>
      </p:sp>
      <p:sp>
        <p:nvSpPr>
          <p:cNvPr id="8" name="Text 6"/>
          <p:cNvSpPr/>
          <p:nvPr/>
        </p:nvSpPr>
        <p:spPr>
          <a:xfrm>
            <a:off x="7155180" y="2232660"/>
            <a:ext cx="1358146"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D4A5"/>
                </a:solidFill>
                <a:latin typeface="Abadi" panose="020B0604020104020204" pitchFamily="34" charset="0"/>
                <a:ea typeface="Lato" pitchFamily="34" charset="-122"/>
                <a:cs typeface="Lato" pitchFamily="34" charset="-120"/>
              </a:rPr>
              <a:t>106 Healthy</a:t>
            </a:r>
            <a:endParaRPr lang="en-US" sz="1800" dirty="0"/>
          </a:p>
        </p:txBody>
      </p:sp>
      <p:sp>
        <p:nvSpPr>
          <p:cNvPr id="9" name="Text 7"/>
          <p:cNvSpPr/>
          <p:nvPr/>
        </p:nvSpPr>
        <p:spPr>
          <a:xfrm>
            <a:off x="8808958" y="2232660"/>
            <a:ext cx="1043464"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D3A518"/>
                </a:solidFill>
                <a:latin typeface="Abadi" panose="020B0604020104020204" pitchFamily="34" charset="0"/>
                <a:ea typeface="Lato" pitchFamily="34" charset="-122"/>
                <a:cs typeface="Lato" pitchFamily="34" charset="-120"/>
              </a:rPr>
              <a:t>14 Watch</a:t>
            </a:r>
            <a:endParaRPr lang="en-US" sz="1800" dirty="0"/>
          </a:p>
        </p:txBody>
      </p:sp>
      <p:sp>
        <p:nvSpPr>
          <p:cNvPr id="10" name="Text 8"/>
          <p:cNvSpPr/>
          <p:nvPr/>
        </p:nvSpPr>
        <p:spPr>
          <a:xfrm>
            <a:off x="10195322" y="2232660"/>
            <a:ext cx="1176933"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5A623"/>
                </a:solidFill>
                <a:latin typeface="Abadi" panose="020B0604020104020204" pitchFamily="34" charset="0"/>
                <a:ea typeface="Lato" pitchFamily="34" charset="-122"/>
                <a:cs typeface="Lato" pitchFamily="34" charset="-120"/>
              </a:rPr>
              <a:t>6 Optimize</a:t>
            </a:r>
            <a:endParaRPr lang="en-US" sz="1800" dirty="0"/>
          </a:p>
        </p:txBody>
      </p:sp>
      <p:sp>
        <p:nvSpPr>
          <p:cNvPr id="11" name="Text 9"/>
          <p:cNvSpPr/>
          <p:nvPr/>
        </p:nvSpPr>
        <p:spPr>
          <a:xfrm>
            <a:off x="11715155" y="2232660"/>
            <a:ext cx="1340334"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E8531A"/>
                </a:solidFill>
                <a:latin typeface="Abadi" panose="020B0604020104020204" pitchFamily="34" charset="0"/>
                <a:ea typeface="Lato" pitchFamily="34" charset="-122"/>
                <a:cs typeface="Lato" pitchFamily="34" charset="-120"/>
              </a:rPr>
              <a:t>2 Restricted</a:t>
            </a:r>
            <a:endParaRPr lang="en-US" sz="1800" dirty="0"/>
          </a:p>
        </p:txBody>
      </p:sp>
      <p:sp>
        <p:nvSpPr>
          <p:cNvPr id="12" name="Shape 10"/>
          <p:cNvSpPr/>
          <p:nvPr/>
        </p:nvSpPr>
        <p:spPr>
          <a:xfrm>
            <a:off x="952500" y="3028950"/>
            <a:ext cx="9773007" cy="3848100"/>
          </a:xfrm>
          <a:prstGeom prst="roundRect">
            <a:avLst>
              <a:gd name="adj" fmla="val 1485"/>
            </a:avLst>
          </a:prstGeom>
          <a:ln w="7620">
            <a:solidFill>
              <a:srgbClr val="FFFFFF">
                <a:alpha val="14000"/>
              </a:srgbClr>
            </a:solidFill>
            <a:prstDash val="solid"/>
          </a:ln>
        </p:spPr>
        <p:txBody>
          <a:bodyPr/>
          <a:lstStyle/>
          <a:p>
            <a:endParaRPr lang="en-IN"/>
          </a:p>
        </p:txBody>
      </p:sp>
      <p:sp>
        <p:nvSpPr>
          <p:cNvPr id="13" name="Shape 11"/>
          <p:cNvSpPr/>
          <p:nvPr/>
        </p:nvSpPr>
        <p:spPr>
          <a:xfrm>
            <a:off x="960120" y="3036570"/>
            <a:ext cx="9757767" cy="617220"/>
          </a:xfrm>
          <a:prstGeom prst="rect">
            <a:avLst/>
          </a:prstGeom>
          <a:solidFill>
            <a:srgbClr val="FFFFFF">
              <a:alpha val="8000"/>
            </a:srgbClr>
          </a:solidFill>
          <a:ln/>
        </p:spPr>
        <p:txBody>
          <a:bodyPr/>
          <a:lstStyle/>
          <a:p>
            <a:endParaRPr lang="en-IN"/>
          </a:p>
        </p:txBody>
      </p:sp>
      <p:sp>
        <p:nvSpPr>
          <p:cNvPr id="14" name="Text 12"/>
          <p:cNvSpPr/>
          <p:nvPr/>
        </p:nvSpPr>
        <p:spPr>
          <a:xfrm>
            <a:off x="1188720" y="3208020"/>
            <a:ext cx="215561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alpha val="70000"/>
                  </a:srgbClr>
                </a:solidFill>
                <a:latin typeface="Abadi" panose="020B0604020104020204" pitchFamily="34" charset="0"/>
                <a:ea typeface="Lato" pitchFamily="34" charset="-122"/>
                <a:cs typeface="Lato" pitchFamily="34" charset="-120"/>
              </a:rPr>
              <a:t>Agent</a:t>
            </a:r>
            <a:endParaRPr lang="en-US" sz="1800" dirty="0"/>
          </a:p>
        </p:txBody>
      </p:sp>
      <p:sp>
        <p:nvSpPr>
          <p:cNvPr id="15" name="Text 13"/>
          <p:cNvSpPr/>
          <p:nvPr/>
        </p:nvSpPr>
        <p:spPr>
          <a:xfrm>
            <a:off x="3148370"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Health</a:t>
            </a:r>
            <a:endParaRPr lang="en-US" sz="1800" dirty="0"/>
          </a:p>
        </p:txBody>
      </p:sp>
      <p:sp>
        <p:nvSpPr>
          <p:cNvPr id="16" name="Text 14"/>
          <p:cNvSpPr/>
          <p:nvPr/>
        </p:nvSpPr>
        <p:spPr>
          <a:xfrm>
            <a:off x="4256008"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Perf.</a:t>
            </a:r>
            <a:endParaRPr lang="en-US" sz="1800" dirty="0"/>
          </a:p>
        </p:txBody>
      </p:sp>
      <p:sp>
        <p:nvSpPr>
          <p:cNvPr id="17" name="Text 15"/>
          <p:cNvSpPr/>
          <p:nvPr/>
        </p:nvSpPr>
        <p:spPr>
          <a:xfrm>
            <a:off x="5363646"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Quality</a:t>
            </a:r>
            <a:endParaRPr lang="en-US" sz="1800" dirty="0"/>
          </a:p>
        </p:txBody>
      </p:sp>
      <p:sp>
        <p:nvSpPr>
          <p:cNvPr id="18" name="Text 16"/>
          <p:cNvSpPr/>
          <p:nvPr/>
        </p:nvSpPr>
        <p:spPr>
          <a:xfrm>
            <a:off x="6471285"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Cost</a:t>
            </a:r>
            <a:endParaRPr lang="en-US" sz="1800" dirty="0"/>
          </a:p>
        </p:txBody>
      </p:sp>
      <p:sp>
        <p:nvSpPr>
          <p:cNvPr id="19" name="Text 17"/>
          <p:cNvSpPr/>
          <p:nvPr/>
        </p:nvSpPr>
        <p:spPr>
          <a:xfrm>
            <a:off x="7578923"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Security</a:t>
            </a:r>
            <a:endParaRPr lang="en-US" sz="1800" dirty="0"/>
          </a:p>
        </p:txBody>
      </p:sp>
      <p:sp>
        <p:nvSpPr>
          <p:cNvPr id="20" name="Text 18"/>
          <p:cNvSpPr/>
          <p:nvPr/>
        </p:nvSpPr>
        <p:spPr>
          <a:xfrm>
            <a:off x="8686562" y="3208020"/>
            <a:ext cx="1107638"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Gov.</a:t>
            </a:r>
            <a:endParaRPr lang="en-US" sz="1800" dirty="0"/>
          </a:p>
        </p:txBody>
      </p:sp>
      <p:sp>
        <p:nvSpPr>
          <p:cNvPr id="21" name="Text 19"/>
          <p:cNvSpPr/>
          <p:nvPr/>
        </p:nvSpPr>
        <p:spPr>
          <a:xfrm>
            <a:off x="9965651" y="3217545"/>
            <a:ext cx="695087" cy="31242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FFFFFF">
                    <a:alpha val="70000"/>
                  </a:srgbClr>
                </a:solidFill>
                <a:latin typeface="Abadi" panose="020B0604020104020204" pitchFamily="34" charset="0"/>
                <a:ea typeface="Lato" pitchFamily="34" charset="-122"/>
                <a:cs typeface="Lato" pitchFamily="34" charset="-120"/>
              </a:rPr>
              <a:t>Trend</a:t>
            </a:r>
            <a:endParaRPr lang="en-US" sz="1800" dirty="0"/>
          </a:p>
        </p:txBody>
      </p:sp>
      <p:sp>
        <p:nvSpPr>
          <p:cNvPr id="22" name="Shape 20"/>
          <p:cNvSpPr/>
          <p:nvPr/>
        </p:nvSpPr>
        <p:spPr>
          <a:xfrm>
            <a:off x="960120" y="3653790"/>
            <a:ext cx="9757767" cy="9525"/>
          </a:xfrm>
          <a:prstGeom prst="rect">
            <a:avLst/>
          </a:prstGeom>
          <a:solidFill>
            <a:srgbClr val="FFFFFF">
              <a:alpha val="8000"/>
            </a:srgbClr>
          </a:solidFill>
          <a:ln/>
        </p:spPr>
        <p:txBody>
          <a:bodyPr/>
          <a:lstStyle/>
          <a:p>
            <a:endParaRPr lang="en-IN"/>
          </a:p>
        </p:txBody>
      </p:sp>
      <p:sp>
        <p:nvSpPr>
          <p:cNvPr id="23" name="Text 21"/>
          <p:cNvSpPr/>
          <p:nvPr/>
        </p:nvSpPr>
        <p:spPr>
          <a:xfrm>
            <a:off x="1188720" y="3851910"/>
            <a:ext cx="2035850" cy="5867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Procurement Agent</a:t>
            </a:r>
            <a:endParaRPr lang="en-US" sz="1800" dirty="0"/>
          </a:p>
        </p:txBody>
      </p:sp>
      <p:sp>
        <p:nvSpPr>
          <p:cNvPr id="24" name="Text 22"/>
          <p:cNvSpPr/>
          <p:nvPr/>
        </p:nvSpPr>
        <p:spPr>
          <a:xfrm>
            <a:off x="3148370" y="3851910"/>
            <a:ext cx="1107638" cy="586740"/>
          </a:xfrm>
          <a:prstGeom prst="rect">
            <a:avLst/>
          </a:prstGeom>
          <a:noFill/>
          <a:ln/>
        </p:spPr>
        <p:txBody>
          <a:bodyPr wrap="square" lIns="25400" tIns="25400" rIns="25400" bIns="25400" rtlCol="0" anchor="t">
            <a:normAutofit/>
          </a:bodyPr>
          <a:lstStyle/>
          <a:p>
            <a:pPr marL="0" indent="0" algn="r">
              <a:buNone/>
            </a:pPr>
            <a:r>
              <a:rPr lang="en-US" sz="1800" b="1" dirty="0">
                <a:solidFill>
                  <a:srgbClr val="FFFFFF"/>
                </a:solidFill>
                <a:latin typeface="Abadi" panose="020B0604020104020204" pitchFamily="34" charset="0"/>
                <a:ea typeface="Lato" pitchFamily="34" charset="-122"/>
                <a:cs typeface="Lato" pitchFamily="34" charset="-120"/>
              </a:rPr>
              <a:t>92</a:t>
            </a:r>
            <a:endParaRPr lang="en-US" sz="1800" dirty="0"/>
          </a:p>
        </p:txBody>
      </p:sp>
      <p:sp>
        <p:nvSpPr>
          <p:cNvPr id="25" name="Text 23"/>
          <p:cNvSpPr/>
          <p:nvPr/>
        </p:nvSpPr>
        <p:spPr>
          <a:xfrm>
            <a:off x="4831080" y="3851910"/>
            <a:ext cx="532566"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94</a:t>
            </a:r>
            <a:endParaRPr lang="en-US" sz="1800" dirty="0"/>
          </a:p>
        </p:txBody>
      </p:sp>
      <p:sp>
        <p:nvSpPr>
          <p:cNvPr id="26" name="Text 24"/>
          <p:cNvSpPr/>
          <p:nvPr/>
        </p:nvSpPr>
        <p:spPr>
          <a:xfrm>
            <a:off x="5363646"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96</a:t>
            </a:r>
            <a:endParaRPr lang="en-US" sz="1800" dirty="0"/>
          </a:p>
        </p:txBody>
      </p:sp>
      <p:sp>
        <p:nvSpPr>
          <p:cNvPr id="27" name="Text 25"/>
          <p:cNvSpPr/>
          <p:nvPr/>
        </p:nvSpPr>
        <p:spPr>
          <a:xfrm>
            <a:off x="6471285"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87</a:t>
            </a:r>
            <a:endParaRPr lang="en-US" sz="1800" dirty="0"/>
          </a:p>
        </p:txBody>
      </p:sp>
      <p:sp>
        <p:nvSpPr>
          <p:cNvPr id="28" name="Text 26"/>
          <p:cNvSpPr/>
          <p:nvPr/>
        </p:nvSpPr>
        <p:spPr>
          <a:xfrm>
            <a:off x="7578923"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95</a:t>
            </a:r>
            <a:endParaRPr lang="en-US" sz="1800" dirty="0"/>
          </a:p>
        </p:txBody>
      </p:sp>
      <p:sp>
        <p:nvSpPr>
          <p:cNvPr id="29" name="Text 27"/>
          <p:cNvSpPr/>
          <p:nvPr/>
        </p:nvSpPr>
        <p:spPr>
          <a:xfrm>
            <a:off x="8686562" y="385191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97</a:t>
            </a:r>
            <a:endParaRPr lang="en-US" sz="1800" dirty="0"/>
          </a:p>
        </p:txBody>
      </p:sp>
      <p:sp>
        <p:nvSpPr>
          <p:cNvPr id="30" name="Text 28"/>
          <p:cNvSpPr/>
          <p:nvPr/>
        </p:nvSpPr>
        <p:spPr>
          <a:xfrm>
            <a:off x="9794201" y="3851910"/>
            <a:ext cx="695087" cy="586740"/>
          </a:xfrm>
          <a:prstGeom prst="rect">
            <a:avLst/>
          </a:prstGeom>
          <a:noFill/>
          <a:ln/>
        </p:spPr>
        <p:txBody>
          <a:bodyPr wrap="square" lIns="25400" tIns="25400" rIns="25400" bIns="25400" rtlCol="0" anchor="t">
            <a:normAutofit/>
          </a:bodyPr>
          <a:lstStyle/>
          <a:p>
            <a:pPr marL="0" indent="0" algn="r">
              <a:buNone/>
            </a:pPr>
            <a:r>
              <a:rPr lang="en-US" sz="1800" dirty="0">
                <a:solidFill>
                  <a:srgbClr val="8FD4A5"/>
                </a:solidFill>
                <a:latin typeface="Abadi" panose="020B0604020104020204" pitchFamily="34" charset="0"/>
                <a:ea typeface="Lato" pitchFamily="34" charset="-122"/>
                <a:cs typeface="Lato" pitchFamily="34" charset="-120"/>
              </a:rPr>
              <a:t>↑</a:t>
            </a:r>
            <a:endParaRPr lang="en-US" sz="1800" dirty="0"/>
          </a:p>
        </p:txBody>
      </p:sp>
      <p:sp>
        <p:nvSpPr>
          <p:cNvPr id="31" name="Shape 29"/>
          <p:cNvSpPr/>
          <p:nvPr/>
        </p:nvSpPr>
        <p:spPr>
          <a:xfrm>
            <a:off x="960120" y="4591050"/>
            <a:ext cx="9757767" cy="9525"/>
          </a:xfrm>
          <a:prstGeom prst="rect">
            <a:avLst/>
          </a:prstGeom>
          <a:solidFill>
            <a:srgbClr val="FFFFFF">
              <a:alpha val="8000"/>
            </a:srgbClr>
          </a:solidFill>
          <a:ln/>
        </p:spPr>
        <p:txBody>
          <a:bodyPr/>
          <a:lstStyle/>
          <a:p>
            <a:endParaRPr lang="en-IN"/>
          </a:p>
        </p:txBody>
      </p:sp>
      <p:sp>
        <p:nvSpPr>
          <p:cNvPr id="32" name="Text 30"/>
          <p:cNvSpPr/>
          <p:nvPr/>
        </p:nvSpPr>
        <p:spPr>
          <a:xfrm>
            <a:off x="1188720" y="4789170"/>
            <a:ext cx="2035850" cy="5867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Cloud Operations Agent</a:t>
            </a:r>
            <a:endParaRPr lang="en-US" sz="1800" dirty="0"/>
          </a:p>
        </p:txBody>
      </p:sp>
      <p:sp>
        <p:nvSpPr>
          <p:cNvPr id="33" name="Text 31"/>
          <p:cNvSpPr/>
          <p:nvPr/>
        </p:nvSpPr>
        <p:spPr>
          <a:xfrm>
            <a:off x="3148370" y="4789170"/>
            <a:ext cx="1107638" cy="586740"/>
          </a:xfrm>
          <a:prstGeom prst="rect">
            <a:avLst/>
          </a:prstGeom>
          <a:noFill/>
          <a:ln/>
        </p:spPr>
        <p:txBody>
          <a:bodyPr wrap="square" lIns="25400" tIns="25400" rIns="25400" bIns="25400" rtlCol="0" anchor="t">
            <a:normAutofit/>
          </a:bodyPr>
          <a:lstStyle/>
          <a:p>
            <a:pPr marL="0" indent="0" algn="r">
              <a:buNone/>
            </a:pPr>
            <a:r>
              <a:rPr lang="en-US" sz="1800" b="1" dirty="0">
                <a:solidFill>
                  <a:srgbClr val="FFFFFF"/>
                </a:solidFill>
                <a:latin typeface="Abadi" panose="020B0604020104020204" pitchFamily="34" charset="0"/>
                <a:ea typeface="Lato" pitchFamily="34" charset="-122"/>
                <a:cs typeface="Lato" pitchFamily="34" charset="-120"/>
              </a:rPr>
              <a:t>86</a:t>
            </a:r>
            <a:endParaRPr lang="en-US" sz="1800" dirty="0"/>
          </a:p>
        </p:txBody>
      </p:sp>
      <p:sp>
        <p:nvSpPr>
          <p:cNvPr id="34" name="Text 32"/>
          <p:cNvSpPr/>
          <p:nvPr/>
        </p:nvSpPr>
        <p:spPr>
          <a:xfrm>
            <a:off x="4256008"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91</a:t>
            </a:r>
            <a:endParaRPr lang="en-US" sz="1800" dirty="0"/>
          </a:p>
        </p:txBody>
      </p:sp>
      <p:sp>
        <p:nvSpPr>
          <p:cNvPr id="35" name="Text 33"/>
          <p:cNvSpPr/>
          <p:nvPr/>
        </p:nvSpPr>
        <p:spPr>
          <a:xfrm>
            <a:off x="5363646"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88</a:t>
            </a:r>
            <a:endParaRPr lang="en-US" sz="1800" dirty="0"/>
          </a:p>
        </p:txBody>
      </p:sp>
      <p:sp>
        <p:nvSpPr>
          <p:cNvPr id="36" name="Text 34"/>
          <p:cNvSpPr/>
          <p:nvPr/>
        </p:nvSpPr>
        <p:spPr>
          <a:xfrm>
            <a:off x="6471285"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71</a:t>
            </a:r>
            <a:endParaRPr lang="en-US" sz="1800" dirty="0"/>
          </a:p>
        </p:txBody>
      </p:sp>
      <p:sp>
        <p:nvSpPr>
          <p:cNvPr id="37" name="Text 35"/>
          <p:cNvSpPr/>
          <p:nvPr/>
        </p:nvSpPr>
        <p:spPr>
          <a:xfrm>
            <a:off x="7578923"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90</a:t>
            </a:r>
            <a:endParaRPr lang="en-US" sz="1800" dirty="0"/>
          </a:p>
        </p:txBody>
      </p:sp>
      <p:sp>
        <p:nvSpPr>
          <p:cNvPr id="38" name="Text 36"/>
          <p:cNvSpPr/>
          <p:nvPr/>
        </p:nvSpPr>
        <p:spPr>
          <a:xfrm>
            <a:off x="8686562" y="4789170"/>
            <a:ext cx="1107638"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92</a:t>
            </a:r>
            <a:endParaRPr lang="en-US" sz="1800" dirty="0"/>
          </a:p>
        </p:txBody>
      </p:sp>
      <p:sp>
        <p:nvSpPr>
          <p:cNvPr id="39" name="Text 37"/>
          <p:cNvSpPr/>
          <p:nvPr/>
        </p:nvSpPr>
        <p:spPr>
          <a:xfrm>
            <a:off x="9794201" y="4789170"/>
            <a:ext cx="695087" cy="586740"/>
          </a:xfrm>
          <a:prstGeom prst="rect">
            <a:avLst/>
          </a:prstGeom>
          <a:noFill/>
          <a:ln/>
        </p:spPr>
        <p:txBody>
          <a:bodyPr wrap="square" lIns="25400" tIns="25400" rIns="25400" bIns="25400" rtlCol="0" anchor="t">
            <a:normAutofit/>
          </a:bodyPr>
          <a:lstStyle/>
          <a:p>
            <a:pPr marL="0" indent="0" algn="r">
              <a:buNone/>
            </a:pPr>
            <a:r>
              <a:rPr lang="en-US" sz="1800" dirty="0">
                <a:solidFill>
                  <a:srgbClr val="FFFFFF">
                    <a:alpha val="70000"/>
                  </a:srgbClr>
                </a:solidFill>
                <a:latin typeface="Abadi" panose="020B0604020104020204" pitchFamily="34" charset="0"/>
                <a:ea typeface="Lato" pitchFamily="34" charset="-122"/>
                <a:cs typeface="Lato" pitchFamily="34" charset="-120"/>
              </a:rPr>
              <a:t>→</a:t>
            </a:r>
            <a:endParaRPr lang="en-US" sz="1800" dirty="0"/>
          </a:p>
        </p:txBody>
      </p:sp>
      <p:sp>
        <p:nvSpPr>
          <p:cNvPr id="40" name="Shape 38"/>
          <p:cNvSpPr/>
          <p:nvPr/>
        </p:nvSpPr>
        <p:spPr>
          <a:xfrm>
            <a:off x="960120" y="5528310"/>
            <a:ext cx="9757767" cy="670560"/>
          </a:xfrm>
          <a:prstGeom prst="rect">
            <a:avLst/>
          </a:prstGeom>
          <a:solidFill>
            <a:srgbClr val="D3A518">
              <a:alpha val="12000"/>
            </a:srgbClr>
          </a:solidFill>
          <a:ln/>
        </p:spPr>
        <p:txBody>
          <a:bodyPr/>
          <a:lstStyle/>
          <a:p>
            <a:endParaRPr lang="en-IN"/>
          </a:p>
        </p:txBody>
      </p:sp>
      <p:sp>
        <p:nvSpPr>
          <p:cNvPr id="41" name="Shape 39"/>
          <p:cNvSpPr/>
          <p:nvPr/>
        </p:nvSpPr>
        <p:spPr>
          <a:xfrm>
            <a:off x="960120" y="5528310"/>
            <a:ext cx="9757767" cy="9525"/>
          </a:xfrm>
          <a:prstGeom prst="rect">
            <a:avLst/>
          </a:prstGeom>
          <a:solidFill>
            <a:srgbClr val="FFFFFF">
              <a:alpha val="8000"/>
            </a:srgbClr>
          </a:solidFill>
          <a:ln/>
        </p:spPr>
        <p:txBody>
          <a:bodyPr/>
          <a:lstStyle/>
          <a:p>
            <a:endParaRPr lang="en-IN"/>
          </a:p>
        </p:txBody>
      </p:sp>
      <p:sp>
        <p:nvSpPr>
          <p:cNvPr id="42" name="Shape 40"/>
          <p:cNvSpPr/>
          <p:nvPr/>
        </p:nvSpPr>
        <p:spPr>
          <a:xfrm>
            <a:off x="960120" y="5528310"/>
            <a:ext cx="38100" cy="670560"/>
          </a:xfrm>
          <a:prstGeom prst="rect">
            <a:avLst/>
          </a:prstGeom>
          <a:solidFill>
            <a:srgbClr val="D3A518"/>
          </a:solidFill>
          <a:ln/>
        </p:spPr>
        <p:txBody>
          <a:bodyPr/>
          <a:lstStyle/>
          <a:p>
            <a:endParaRPr lang="en-IN"/>
          </a:p>
        </p:txBody>
      </p:sp>
      <p:sp>
        <p:nvSpPr>
          <p:cNvPr id="43" name="Text 41"/>
          <p:cNvSpPr/>
          <p:nvPr/>
        </p:nvSpPr>
        <p:spPr>
          <a:xfrm>
            <a:off x="1226820" y="5726430"/>
            <a:ext cx="2146316" cy="3200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Claims Agent</a:t>
            </a:r>
            <a:endParaRPr lang="en-US" sz="1800" dirty="0"/>
          </a:p>
        </p:txBody>
      </p:sp>
      <p:sp>
        <p:nvSpPr>
          <p:cNvPr id="44" name="Text 42"/>
          <p:cNvSpPr/>
          <p:nvPr/>
        </p:nvSpPr>
        <p:spPr>
          <a:xfrm>
            <a:off x="3178016"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D3A518"/>
                </a:solidFill>
                <a:latin typeface="Abadi" panose="020B0604020104020204" pitchFamily="34" charset="0"/>
                <a:ea typeface="Lato" pitchFamily="34" charset="-122"/>
                <a:cs typeface="Lato" pitchFamily="34" charset="-120"/>
              </a:rPr>
              <a:t>78</a:t>
            </a:r>
            <a:endParaRPr lang="en-US" sz="1800" dirty="0"/>
          </a:p>
        </p:txBody>
      </p:sp>
      <p:sp>
        <p:nvSpPr>
          <p:cNvPr id="45" name="Text 43"/>
          <p:cNvSpPr/>
          <p:nvPr/>
        </p:nvSpPr>
        <p:spPr>
          <a:xfrm>
            <a:off x="4281130"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83</a:t>
            </a:r>
            <a:endParaRPr lang="en-US" sz="1800" dirty="0"/>
          </a:p>
        </p:txBody>
      </p:sp>
      <p:sp>
        <p:nvSpPr>
          <p:cNvPr id="46" name="Text 44"/>
          <p:cNvSpPr/>
          <p:nvPr/>
        </p:nvSpPr>
        <p:spPr>
          <a:xfrm>
            <a:off x="5384245"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74</a:t>
            </a:r>
            <a:endParaRPr lang="en-US" sz="1800" dirty="0"/>
          </a:p>
        </p:txBody>
      </p:sp>
      <p:sp>
        <p:nvSpPr>
          <p:cNvPr id="47" name="Text 45"/>
          <p:cNvSpPr/>
          <p:nvPr/>
        </p:nvSpPr>
        <p:spPr>
          <a:xfrm>
            <a:off x="6487359" y="5726430"/>
            <a:ext cx="1103233"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89</a:t>
            </a:r>
            <a:endParaRPr lang="en-US" sz="1800" dirty="0"/>
          </a:p>
        </p:txBody>
      </p:sp>
      <p:sp>
        <p:nvSpPr>
          <p:cNvPr id="48" name="Text 46"/>
          <p:cNvSpPr/>
          <p:nvPr/>
        </p:nvSpPr>
        <p:spPr>
          <a:xfrm>
            <a:off x="7590592"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72</a:t>
            </a:r>
            <a:endParaRPr lang="en-US" sz="1800" dirty="0"/>
          </a:p>
        </p:txBody>
      </p:sp>
      <p:sp>
        <p:nvSpPr>
          <p:cNvPr id="49" name="Text 47"/>
          <p:cNvSpPr/>
          <p:nvPr/>
        </p:nvSpPr>
        <p:spPr>
          <a:xfrm>
            <a:off x="8693706" y="5726430"/>
            <a:ext cx="1103114"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81</a:t>
            </a:r>
            <a:endParaRPr lang="en-US" sz="1800" dirty="0"/>
          </a:p>
        </p:txBody>
      </p:sp>
      <p:sp>
        <p:nvSpPr>
          <p:cNvPr id="50" name="Text 48"/>
          <p:cNvSpPr/>
          <p:nvPr/>
        </p:nvSpPr>
        <p:spPr>
          <a:xfrm>
            <a:off x="9796819" y="5726430"/>
            <a:ext cx="69234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a:t>
            </a:r>
            <a:endParaRPr lang="en-US" sz="1800" dirty="0"/>
          </a:p>
        </p:txBody>
      </p:sp>
      <p:sp>
        <p:nvSpPr>
          <p:cNvPr id="51" name="Shape 49"/>
          <p:cNvSpPr/>
          <p:nvPr/>
        </p:nvSpPr>
        <p:spPr>
          <a:xfrm>
            <a:off x="960120" y="6198870"/>
            <a:ext cx="9757767" cy="9525"/>
          </a:xfrm>
          <a:prstGeom prst="rect">
            <a:avLst/>
          </a:prstGeom>
          <a:solidFill>
            <a:srgbClr val="FFFFFF">
              <a:alpha val="8000"/>
            </a:srgbClr>
          </a:solidFill>
          <a:ln/>
        </p:spPr>
        <p:txBody>
          <a:bodyPr/>
          <a:lstStyle/>
          <a:p>
            <a:endParaRPr lang="en-IN"/>
          </a:p>
        </p:txBody>
      </p:sp>
      <p:sp>
        <p:nvSpPr>
          <p:cNvPr id="52" name="Text 50"/>
          <p:cNvSpPr/>
          <p:nvPr/>
        </p:nvSpPr>
        <p:spPr>
          <a:xfrm>
            <a:off x="1188720" y="6396990"/>
            <a:ext cx="2155615" cy="32004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Customer Agent</a:t>
            </a:r>
            <a:endParaRPr lang="en-US" sz="1800" dirty="0"/>
          </a:p>
        </p:txBody>
      </p:sp>
      <p:sp>
        <p:nvSpPr>
          <p:cNvPr id="53" name="Text 51"/>
          <p:cNvSpPr/>
          <p:nvPr/>
        </p:nvSpPr>
        <p:spPr>
          <a:xfrm>
            <a:off x="3148370"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b="1" dirty="0">
                <a:solidFill>
                  <a:srgbClr val="E8531A"/>
                </a:solidFill>
                <a:latin typeface="Abadi" panose="020B0604020104020204" pitchFamily="34" charset="0"/>
                <a:ea typeface="Lato" pitchFamily="34" charset="-122"/>
                <a:cs typeface="Lato" pitchFamily="34" charset="-120"/>
              </a:rPr>
              <a:t>69</a:t>
            </a:r>
            <a:endParaRPr lang="en-US" sz="1800" dirty="0"/>
          </a:p>
        </p:txBody>
      </p:sp>
      <p:sp>
        <p:nvSpPr>
          <p:cNvPr id="54" name="Text 52"/>
          <p:cNvSpPr/>
          <p:nvPr/>
        </p:nvSpPr>
        <p:spPr>
          <a:xfrm>
            <a:off x="4256008"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FFFFFF"/>
                </a:solidFill>
                <a:latin typeface="Abadi" panose="020B0604020104020204" pitchFamily="34" charset="0"/>
                <a:ea typeface="Lato" pitchFamily="34" charset="-122"/>
                <a:cs typeface="Lato" pitchFamily="34" charset="-120"/>
              </a:rPr>
              <a:t>85</a:t>
            </a:r>
            <a:endParaRPr lang="en-US" sz="1800" dirty="0"/>
          </a:p>
        </p:txBody>
      </p:sp>
      <p:sp>
        <p:nvSpPr>
          <p:cNvPr id="55" name="Text 53"/>
          <p:cNvSpPr/>
          <p:nvPr/>
        </p:nvSpPr>
        <p:spPr>
          <a:xfrm>
            <a:off x="5363646"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68</a:t>
            </a:r>
            <a:endParaRPr lang="en-US" sz="1800" dirty="0"/>
          </a:p>
        </p:txBody>
      </p:sp>
      <p:sp>
        <p:nvSpPr>
          <p:cNvPr id="56" name="Text 54"/>
          <p:cNvSpPr/>
          <p:nvPr/>
        </p:nvSpPr>
        <p:spPr>
          <a:xfrm>
            <a:off x="6471285"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62</a:t>
            </a:r>
            <a:endParaRPr lang="en-US" sz="1800" dirty="0"/>
          </a:p>
        </p:txBody>
      </p:sp>
      <p:sp>
        <p:nvSpPr>
          <p:cNvPr id="57" name="Text 55"/>
          <p:cNvSpPr/>
          <p:nvPr/>
        </p:nvSpPr>
        <p:spPr>
          <a:xfrm>
            <a:off x="7578923"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74</a:t>
            </a:r>
            <a:endParaRPr lang="en-US" sz="1800" dirty="0"/>
          </a:p>
        </p:txBody>
      </p:sp>
      <p:sp>
        <p:nvSpPr>
          <p:cNvPr id="58" name="Text 56"/>
          <p:cNvSpPr/>
          <p:nvPr/>
        </p:nvSpPr>
        <p:spPr>
          <a:xfrm>
            <a:off x="8686562" y="6396990"/>
            <a:ext cx="1107638"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D3A518"/>
                </a:solidFill>
                <a:latin typeface="Abadi" panose="020B0604020104020204" pitchFamily="34" charset="0"/>
                <a:ea typeface="Lato" pitchFamily="34" charset="-122"/>
                <a:cs typeface="Lato" pitchFamily="34" charset="-120"/>
              </a:rPr>
              <a:t>70</a:t>
            </a:r>
            <a:endParaRPr lang="en-US" sz="1800" dirty="0"/>
          </a:p>
        </p:txBody>
      </p:sp>
      <p:sp>
        <p:nvSpPr>
          <p:cNvPr id="59" name="Text 57"/>
          <p:cNvSpPr/>
          <p:nvPr/>
        </p:nvSpPr>
        <p:spPr>
          <a:xfrm>
            <a:off x="9794201" y="6396990"/>
            <a:ext cx="695087" cy="32004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E8531A"/>
                </a:solidFill>
                <a:latin typeface="Abadi" panose="020B0604020104020204" pitchFamily="34" charset="0"/>
                <a:ea typeface="Lato" pitchFamily="34" charset="-122"/>
                <a:cs typeface="Lato" pitchFamily="34" charset="-120"/>
              </a:rPr>
              <a:t>↓</a:t>
            </a:r>
            <a:endParaRPr lang="en-US" sz="1800" dirty="0"/>
          </a:p>
        </p:txBody>
      </p:sp>
      <p:sp>
        <p:nvSpPr>
          <p:cNvPr id="60" name="Shape 58"/>
          <p:cNvSpPr/>
          <p:nvPr/>
        </p:nvSpPr>
        <p:spPr>
          <a:xfrm>
            <a:off x="952500" y="7067550"/>
            <a:ext cx="9773007" cy="1642110"/>
          </a:xfrm>
          <a:prstGeom prst="roundRect">
            <a:avLst>
              <a:gd name="adj" fmla="val 3480"/>
            </a:avLst>
          </a:prstGeom>
          <a:ln w="7620">
            <a:solidFill>
              <a:srgbClr val="FFFFFF">
                <a:alpha val="14000"/>
              </a:srgbClr>
            </a:solidFill>
            <a:prstDash val="solid"/>
          </a:ln>
        </p:spPr>
        <p:txBody>
          <a:bodyPr/>
          <a:lstStyle/>
          <a:p>
            <a:endParaRPr lang="en-IN"/>
          </a:p>
        </p:txBody>
      </p:sp>
      <p:sp>
        <p:nvSpPr>
          <p:cNvPr id="61" name="Shape 59"/>
          <p:cNvSpPr/>
          <p:nvPr/>
        </p:nvSpPr>
        <p:spPr>
          <a:xfrm>
            <a:off x="1226820" y="7303770"/>
            <a:ext cx="323850" cy="800100"/>
          </a:xfrm>
          <a:prstGeom prst="rect">
            <a:avLst/>
          </a:prstGeom>
          <a:solidFill>
            <a:srgbClr val="FFFFFF">
              <a:alpha val="35000"/>
            </a:srgbClr>
          </a:solidFill>
          <a:ln/>
        </p:spPr>
        <p:txBody>
          <a:bodyPr/>
          <a:lstStyle/>
          <a:p>
            <a:endParaRPr lang="en-IN"/>
          </a:p>
        </p:txBody>
      </p:sp>
      <p:sp>
        <p:nvSpPr>
          <p:cNvPr id="62" name="Text 60"/>
          <p:cNvSpPr/>
          <p:nvPr/>
        </p:nvSpPr>
        <p:spPr>
          <a:xfrm>
            <a:off x="12561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70000"/>
                  </a:srgbClr>
                </a:solidFill>
                <a:latin typeface="Abadi" panose="020B0604020104020204" pitchFamily="34" charset="0"/>
                <a:ea typeface="Lato" pitchFamily="34" charset="-122"/>
                <a:cs typeface="Lato" pitchFamily="34" charset="-120"/>
              </a:rPr>
              <a:t>84</a:t>
            </a:r>
            <a:endParaRPr lang="en-US" sz="1800" dirty="0"/>
          </a:p>
        </p:txBody>
      </p:sp>
      <p:sp>
        <p:nvSpPr>
          <p:cNvPr id="63" name="Shape 61"/>
          <p:cNvSpPr/>
          <p:nvPr/>
        </p:nvSpPr>
        <p:spPr>
          <a:xfrm>
            <a:off x="1684020" y="7360920"/>
            <a:ext cx="323850" cy="742950"/>
          </a:xfrm>
          <a:prstGeom prst="rect">
            <a:avLst/>
          </a:prstGeom>
          <a:solidFill>
            <a:srgbClr val="FFFFFF">
              <a:alpha val="35000"/>
            </a:srgbClr>
          </a:solidFill>
          <a:ln/>
        </p:spPr>
        <p:txBody>
          <a:bodyPr/>
          <a:lstStyle/>
          <a:p>
            <a:endParaRPr lang="en-IN"/>
          </a:p>
        </p:txBody>
      </p:sp>
      <p:sp>
        <p:nvSpPr>
          <p:cNvPr id="64" name="Text 62"/>
          <p:cNvSpPr/>
          <p:nvPr/>
        </p:nvSpPr>
        <p:spPr>
          <a:xfrm>
            <a:off x="17133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70000"/>
                  </a:srgbClr>
                </a:solidFill>
                <a:latin typeface="Abadi" panose="020B0604020104020204" pitchFamily="34" charset="0"/>
                <a:ea typeface="Lato" pitchFamily="34" charset="-122"/>
                <a:cs typeface="Lato" pitchFamily="34" charset="-120"/>
              </a:rPr>
              <a:t>83</a:t>
            </a:r>
            <a:endParaRPr lang="en-US" sz="1800" dirty="0"/>
          </a:p>
        </p:txBody>
      </p:sp>
      <p:sp>
        <p:nvSpPr>
          <p:cNvPr id="65" name="Shape 63"/>
          <p:cNvSpPr/>
          <p:nvPr/>
        </p:nvSpPr>
        <p:spPr>
          <a:xfrm>
            <a:off x="2141220" y="7475220"/>
            <a:ext cx="323850" cy="628650"/>
          </a:xfrm>
          <a:prstGeom prst="rect">
            <a:avLst/>
          </a:prstGeom>
          <a:solidFill>
            <a:srgbClr val="D3A518"/>
          </a:solidFill>
          <a:ln/>
        </p:spPr>
        <p:txBody>
          <a:bodyPr/>
          <a:lstStyle/>
          <a:p>
            <a:endParaRPr lang="en-IN"/>
          </a:p>
        </p:txBody>
      </p:sp>
      <p:sp>
        <p:nvSpPr>
          <p:cNvPr id="66" name="Text 64"/>
          <p:cNvSpPr/>
          <p:nvPr/>
        </p:nvSpPr>
        <p:spPr>
          <a:xfrm>
            <a:off x="21705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70000"/>
                  </a:srgbClr>
                </a:solidFill>
                <a:latin typeface="Abadi" panose="020B0604020104020204" pitchFamily="34" charset="0"/>
                <a:ea typeface="Lato" pitchFamily="34" charset="-122"/>
                <a:cs typeface="Lato" pitchFamily="34" charset="-120"/>
              </a:rPr>
              <a:t>81</a:t>
            </a:r>
            <a:endParaRPr lang="en-US" sz="1800" dirty="0"/>
          </a:p>
        </p:txBody>
      </p:sp>
      <p:sp>
        <p:nvSpPr>
          <p:cNvPr id="67" name="Shape 65"/>
          <p:cNvSpPr/>
          <p:nvPr/>
        </p:nvSpPr>
        <p:spPr>
          <a:xfrm>
            <a:off x="2598420" y="7627620"/>
            <a:ext cx="323850" cy="476250"/>
          </a:xfrm>
          <a:prstGeom prst="rect">
            <a:avLst/>
          </a:prstGeom>
          <a:solidFill>
            <a:srgbClr val="E8531A"/>
          </a:solidFill>
          <a:ln/>
        </p:spPr>
        <p:txBody>
          <a:bodyPr/>
          <a:lstStyle/>
          <a:p>
            <a:endParaRPr lang="en-IN"/>
          </a:p>
        </p:txBody>
      </p:sp>
      <p:sp>
        <p:nvSpPr>
          <p:cNvPr id="68" name="Text 66"/>
          <p:cNvSpPr/>
          <p:nvPr/>
        </p:nvSpPr>
        <p:spPr>
          <a:xfrm>
            <a:off x="2627709" y="8199120"/>
            <a:ext cx="341471"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78</a:t>
            </a:r>
            <a:endParaRPr lang="en-US" sz="1800" dirty="0"/>
          </a:p>
        </p:txBody>
      </p:sp>
      <p:sp>
        <p:nvSpPr>
          <p:cNvPr id="69" name="Text 67"/>
          <p:cNvSpPr/>
          <p:nvPr/>
        </p:nvSpPr>
        <p:spPr>
          <a:xfrm>
            <a:off x="3265170" y="7336155"/>
            <a:ext cx="7904619"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FFFFFF">
                    <a:alpha val="60000"/>
                  </a:srgbClr>
                </a:solidFill>
                <a:latin typeface="Abadi" panose="020B0604020104020204" pitchFamily="34" charset="0"/>
                <a:ea typeface="Lato" pitchFamily="34" charset="-122"/>
                <a:cs typeface="Lato" pitchFamily="34" charset="-120"/>
              </a:rPr>
              <a:t>LAST 30 DAYS · CLAIMS AGENT</a:t>
            </a:r>
            <a:endParaRPr lang="en-US" sz="1800" dirty="0"/>
          </a:p>
        </p:txBody>
      </p:sp>
      <p:sp>
        <p:nvSpPr>
          <p:cNvPr id="70" name="Text 68"/>
          <p:cNvSpPr/>
          <p:nvPr/>
        </p:nvSpPr>
        <p:spPr>
          <a:xfrm>
            <a:off x="3265170" y="7705725"/>
            <a:ext cx="7904619" cy="358140"/>
          </a:xfrm>
          <a:prstGeom prst="rect">
            <a:avLst/>
          </a:prstGeom>
          <a:noFill/>
          <a:ln/>
        </p:spPr>
        <p:txBody>
          <a:bodyPr wrap="square" lIns="25400" tIns="25400" rIns="25400" bIns="25400" rtlCol="0" anchor="t">
            <a:normAutofit/>
          </a:bodyPr>
          <a:lstStyle/>
          <a:p>
            <a:pPr marL="0" indent="0" algn="l">
              <a:lnSpc>
                <a:spcPct val="116667"/>
              </a:lnSpc>
              <a:buNone/>
            </a:pPr>
            <a:r>
              <a:rPr lang="en-US" sz="1800" dirty="0">
                <a:solidFill>
                  <a:srgbClr val="FFFFFF">
                    <a:alpha val="85000"/>
                  </a:srgbClr>
                </a:solidFill>
                <a:latin typeface="Abadi" panose="020B0604020104020204" pitchFamily="34" charset="0"/>
                <a:ea typeface="Lato" pitchFamily="34" charset="-122"/>
                <a:cs typeface="Lato" pitchFamily="34" charset="-120"/>
              </a:rPr>
              <a:t>Token cost ↑ 18% · Validation failures ↑ · Business output stable</a:t>
            </a:r>
            <a:endParaRPr lang="en-US" sz="1800" dirty="0"/>
          </a:p>
        </p:txBody>
      </p:sp>
      <p:sp>
        <p:nvSpPr>
          <p:cNvPr id="71" name="Text 69"/>
          <p:cNvSpPr/>
          <p:nvPr/>
        </p:nvSpPr>
        <p:spPr>
          <a:xfrm>
            <a:off x="3265170" y="8121015"/>
            <a:ext cx="7904619" cy="358140"/>
          </a:xfrm>
          <a:prstGeom prst="rect">
            <a:avLst/>
          </a:prstGeom>
          <a:noFill/>
          <a:ln/>
        </p:spPr>
        <p:txBody>
          <a:bodyPr wrap="square" lIns="25400" tIns="25400" rIns="25400" bIns="25400" rtlCol="0" anchor="t">
            <a:normAutofit/>
          </a:bodyPr>
          <a:lstStyle/>
          <a:p>
            <a:pPr marL="0" indent="0" algn="l">
              <a:lnSpc>
                <a:spcPct val="116667"/>
              </a:lnSpc>
              <a:buNone/>
            </a:pPr>
            <a:r>
              <a:rPr lang="en-US" sz="1800" b="1" dirty="0">
                <a:solidFill>
                  <a:srgbClr val="D3A518"/>
                </a:solidFill>
                <a:latin typeface="Abadi" panose="020B0604020104020204" pitchFamily="34" charset="0"/>
                <a:ea typeface="Lato" pitchFamily="34" charset="-122"/>
                <a:cs typeface="Lato" pitchFamily="34" charset="-120"/>
              </a:rPr>
              <a:t>The agent still works. But its efficiency and control are deteriorating.</a:t>
            </a:r>
            <a:endParaRPr lang="en-US" sz="1800" dirty="0"/>
          </a:p>
        </p:txBody>
      </p:sp>
      <p:sp>
        <p:nvSpPr>
          <p:cNvPr id="72" name="Shape 70"/>
          <p:cNvSpPr/>
          <p:nvPr/>
        </p:nvSpPr>
        <p:spPr>
          <a:xfrm>
            <a:off x="11030307" y="3028950"/>
            <a:ext cx="6305074" cy="6236970"/>
          </a:xfrm>
          <a:prstGeom prst="roundRect">
            <a:avLst>
              <a:gd name="adj" fmla="val 916"/>
            </a:avLst>
          </a:prstGeom>
          <a:solidFill>
            <a:srgbClr val="FFFFFF">
              <a:alpha val="6000"/>
            </a:srgbClr>
          </a:solidFill>
          <a:ln w="7620">
            <a:solidFill>
              <a:srgbClr val="FFFFFF">
                <a:alpha val="16000"/>
              </a:srgbClr>
            </a:solidFill>
            <a:prstDash val="solid"/>
          </a:ln>
        </p:spPr>
        <p:txBody>
          <a:bodyPr/>
          <a:lstStyle/>
          <a:p>
            <a:endParaRPr lang="en-IN"/>
          </a:p>
        </p:txBody>
      </p:sp>
      <p:sp>
        <p:nvSpPr>
          <p:cNvPr id="73" name="Text 71"/>
          <p:cNvSpPr/>
          <p:nvPr/>
        </p:nvSpPr>
        <p:spPr>
          <a:xfrm>
            <a:off x="11323677" y="3528060"/>
            <a:ext cx="1773186"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FFFFFF"/>
                </a:solidFill>
                <a:latin typeface="Abadi" panose="020B0604020104020204" pitchFamily="34" charset="0"/>
                <a:ea typeface="Lato" pitchFamily="34" charset="-122"/>
                <a:cs typeface="Lato" pitchFamily="34" charset="-120"/>
              </a:rPr>
              <a:t>Claims Agent</a:t>
            </a:r>
            <a:endParaRPr lang="en-US" sz="2100" dirty="0"/>
          </a:p>
        </p:txBody>
      </p:sp>
      <p:sp>
        <p:nvSpPr>
          <p:cNvPr id="74" name="Text 72"/>
          <p:cNvSpPr/>
          <p:nvPr/>
        </p:nvSpPr>
        <p:spPr>
          <a:xfrm>
            <a:off x="16423243" y="3322320"/>
            <a:ext cx="694968" cy="571500"/>
          </a:xfrm>
          <a:prstGeom prst="rect">
            <a:avLst/>
          </a:prstGeom>
          <a:noFill/>
          <a:ln/>
        </p:spPr>
        <p:txBody>
          <a:bodyPr wrap="square" lIns="25400" tIns="25400" rIns="25400" bIns="25400" rtlCol="0" anchor="t">
            <a:normAutofit fontScale="92500"/>
          </a:bodyPr>
          <a:lstStyle/>
          <a:p>
            <a:pPr marL="0" indent="0" algn="l">
              <a:lnSpc>
                <a:spcPct val="83333"/>
              </a:lnSpc>
              <a:buNone/>
            </a:pPr>
            <a:r>
              <a:rPr lang="en-US" sz="4200" b="1" dirty="0">
                <a:solidFill>
                  <a:srgbClr val="D3A518"/>
                </a:solidFill>
                <a:latin typeface="Abadi" panose="020B0604020104020204" pitchFamily="34" charset="0"/>
                <a:ea typeface="Lato" pitchFamily="34" charset="-122"/>
                <a:cs typeface="Lato" pitchFamily="34" charset="-120"/>
              </a:rPr>
              <a:t>78</a:t>
            </a:r>
            <a:endParaRPr lang="en-US" sz="4200" dirty="0"/>
          </a:p>
        </p:txBody>
      </p:sp>
      <p:sp>
        <p:nvSpPr>
          <p:cNvPr id="75" name="Shape 73"/>
          <p:cNvSpPr/>
          <p:nvPr/>
        </p:nvSpPr>
        <p:spPr>
          <a:xfrm>
            <a:off x="11323677" y="4415790"/>
            <a:ext cx="5718334" cy="9525"/>
          </a:xfrm>
          <a:prstGeom prst="rect">
            <a:avLst/>
          </a:prstGeom>
          <a:solidFill>
            <a:srgbClr val="FFFFFF">
              <a:alpha val="10000"/>
            </a:srgbClr>
          </a:solidFill>
          <a:ln/>
        </p:spPr>
        <p:txBody>
          <a:bodyPr/>
          <a:lstStyle/>
          <a:p>
            <a:endParaRPr lang="en-IN"/>
          </a:p>
        </p:txBody>
      </p:sp>
      <p:sp>
        <p:nvSpPr>
          <p:cNvPr id="76" name="Text 74"/>
          <p:cNvSpPr/>
          <p:nvPr/>
        </p:nvSpPr>
        <p:spPr>
          <a:xfrm>
            <a:off x="11323677" y="4046220"/>
            <a:ext cx="1431881"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Performance</a:t>
            </a:r>
            <a:endParaRPr lang="en-US" sz="1800" dirty="0"/>
          </a:p>
        </p:txBody>
      </p:sp>
      <p:sp>
        <p:nvSpPr>
          <p:cNvPr id="77" name="Text 75"/>
          <p:cNvSpPr/>
          <p:nvPr/>
        </p:nvSpPr>
        <p:spPr>
          <a:xfrm>
            <a:off x="16359188" y="4046220"/>
            <a:ext cx="75902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Strong</a:t>
            </a:r>
            <a:endParaRPr lang="en-US" sz="1800" dirty="0"/>
          </a:p>
        </p:txBody>
      </p:sp>
      <p:sp>
        <p:nvSpPr>
          <p:cNvPr id="78" name="Shape 76"/>
          <p:cNvSpPr/>
          <p:nvPr/>
        </p:nvSpPr>
        <p:spPr>
          <a:xfrm>
            <a:off x="11323677" y="4907280"/>
            <a:ext cx="5718334" cy="9525"/>
          </a:xfrm>
          <a:prstGeom prst="rect">
            <a:avLst/>
          </a:prstGeom>
          <a:solidFill>
            <a:srgbClr val="FFFFFF">
              <a:alpha val="10000"/>
            </a:srgbClr>
          </a:solidFill>
          <a:ln/>
        </p:spPr>
        <p:txBody>
          <a:bodyPr/>
          <a:lstStyle/>
          <a:p>
            <a:endParaRPr lang="en-IN"/>
          </a:p>
        </p:txBody>
      </p:sp>
      <p:sp>
        <p:nvSpPr>
          <p:cNvPr id="79" name="Text 77"/>
          <p:cNvSpPr/>
          <p:nvPr/>
        </p:nvSpPr>
        <p:spPr>
          <a:xfrm>
            <a:off x="11323677" y="4537710"/>
            <a:ext cx="821055"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Quality</a:t>
            </a:r>
            <a:endParaRPr lang="en-US" sz="1800" dirty="0"/>
          </a:p>
        </p:txBody>
      </p:sp>
      <p:sp>
        <p:nvSpPr>
          <p:cNvPr id="80" name="Text 78"/>
          <p:cNvSpPr/>
          <p:nvPr/>
        </p:nvSpPr>
        <p:spPr>
          <a:xfrm>
            <a:off x="16366927" y="4537710"/>
            <a:ext cx="751284"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Watch</a:t>
            </a:r>
            <a:endParaRPr lang="en-US" sz="1800" dirty="0"/>
          </a:p>
        </p:txBody>
      </p:sp>
      <p:sp>
        <p:nvSpPr>
          <p:cNvPr id="81" name="Shape 79"/>
          <p:cNvSpPr/>
          <p:nvPr/>
        </p:nvSpPr>
        <p:spPr>
          <a:xfrm>
            <a:off x="11323677" y="5398770"/>
            <a:ext cx="5718334" cy="9525"/>
          </a:xfrm>
          <a:prstGeom prst="rect">
            <a:avLst/>
          </a:prstGeom>
          <a:solidFill>
            <a:srgbClr val="FFFFFF">
              <a:alpha val="10000"/>
            </a:srgbClr>
          </a:solidFill>
          <a:ln/>
        </p:spPr>
        <p:txBody>
          <a:bodyPr/>
          <a:lstStyle/>
          <a:p>
            <a:endParaRPr lang="en-IN"/>
          </a:p>
        </p:txBody>
      </p:sp>
      <p:sp>
        <p:nvSpPr>
          <p:cNvPr id="82" name="Text 80"/>
          <p:cNvSpPr/>
          <p:nvPr/>
        </p:nvSpPr>
        <p:spPr>
          <a:xfrm>
            <a:off x="11323677" y="5029200"/>
            <a:ext cx="1765590"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Token efficiency</a:t>
            </a:r>
            <a:endParaRPr lang="en-US" sz="1800" dirty="0"/>
          </a:p>
        </p:txBody>
      </p:sp>
      <p:sp>
        <p:nvSpPr>
          <p:cNvPr id="83" name="Text 81"/>
          <p:cNvSpPr/>
          <p:nvPr/>
        </p:nvSpPr>
        <p:spPr>
          <a:xfrm>
            <a:off x="16359188" y="5029200"/>
            <a:ext cx="75902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Strong</a:t>
            </a:r>
            <a:endParaRPr lang="en-US" sz="1800" dirty="0"/>
          </a:p>
        </p:txBody>
      </p:sp>
      <p:sp>
        <p:nvSpPr>
          <p:cNvPr id="84" name="Shape 82"/>
          <p:cNvSpPr/>
          <p:nvPr/>
        </p:nvSpPr>
        <p:spPr>
          <a:xfrm>
            <a:off x="11323677" y="5890260"/>
            <a:ext cx="5718334" cy="9525"/>
          </a:xfrm>
          <a:prstGeom prst="rect">
            <a:avLst/>
          </a:prstGeom>
          <a:solidFill>
            <a:srgbClr val="FFFFFF">
              <a:alpha val="10000"/>
            </a:srgbClr>
          </a:solidFill>
          <a:ln/>
        </p:spPr>
        <p:txBody>
          <a:bodyPr/>
          <a:lstStyle/>
          <a:p>
            <a:endParaRPr lang="en-IN"/>
          </a:p>
        </p:txBody>
      </p:sp>
      <p:sp>
        <p:nvSpPr>
          <p:cNvPr id="85" name="Text 83"/>
          <p:cNvSpPr/>
          <p:nvPr/>
        </p:nvSpPr>
        <p:spPr>
          <a:xfrm>
            <a:off x="11323677" y="5520690"/>
            <a:ext cx="1069062"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Execution</a:t>
            </a:r>
            <a:endParaRPr lang="en-US" sz="1800" dirty="0"/>
          </a:p>
        </p:txBody>
      </p:sp>
      <p:sp>
        <p:nvSpPr>
          <p:cNvPr id="86" name="Text 84"/>
          <p:cNvSpPr/>
          <p:nvPr/>
        </p:nvSpPr>
        <p:spPr>
          <a:xfrm>
            <a:off x="16359188" y="5520690"/>
            <a:ext cx="75902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Strong</a:t>
            </a:r>
            <a:endParaRPr lang="en-US" sz="1800" dirty="0"/>
          </a:p>
        </p:txBody>
      </p:sp>
      <p:sp>
        <p:nvSpPr>
          <p:cNvPr id="87" name="Shape 85"/>
          <p:cNvSpPr/>
          <p:nvPr/>
        </p:nvSpPr>
        <p:spPr>
          <a:xfrm>
            <a:off x="11323677" y="6381750"/>
            <a:ext cx="5718334" cy="9525"/>
          </a:xfrm>
          <a:prstGeom prst="rect">
            <a:avLst/>
          </a:prstGeom>
          <a:solidFill>
            <a:srgbClr val="FFFFFF">
              <a:alpha val="10000"/>
            </a:srgbClr>
          </a:solidFill>
          <a:ln/>
        </p:spPr>
        <p:txBody>
          <a:bodyPr/>
          <a:lstStyle/>
          <a:p>
            <a:endParaRPr lang="en-IN"/>
          </a:p>
        </p:txBody>
      </p:sp>
      <p:sp>
        <p:nvSpPr>
          <p:cNvPr id="88" name="Text 86"/>
          <p:cNvSpPr/>
          <p:nvPr/>
        </p:nvSpPr>
        <p:spPr>
          <a:xfrm>
            <a:off x="11323677" y="6012180"/>
            <a:ext cx="904042"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Security</a:t>
            </a:r>
            <a:endParaRPr lang="en-US" sz="1800" dirty="0"/>
          </a:p>
        </p:txBody>
      </p:sp>
      <p:sp>
        <p:nvSpPr>
          <p:cNvPr id="89" name="Text 87"/>
          <p:cNvSpPr/>
          <p:nvPr/>
        </p:nvSpPr>
        <p:spPr>
          <a:xfrm>
            <a:off x="16366927" y="6012180"/>
            <a:ext cx="751284"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Watch</a:t>
            </a:r>
            <a:endParaRPr lang="en-US" sz="1800" dirty="0"/>
          </a:p>
        </p:txBody>
      </p:sp>
      <p:sp>
        <p:nvSpPr>
          <p:cNvPr id="90" name="Shape 88"/>
          <p:cNvSpPr/>
          <p:nvPr/>
        </p:nvSpPr>
        <p:spPr>
          <a:xfrm>
            <a:off x="11323677" y="6873240"/>
            <a:ext cx="5718334" cy="9525"/>
          </a:xfrm>
          <a:prstGeom prst="rect">
            <a:avLst/>
          </a:prstGeom>
          <a:solidFill>
            <a:srgbClr val="FFFFFF">
              <a:alpha val="10000"/>
            </a:srgbClr>
          </a:solidFill>
          <a:ln/>
        </p:spPr>
        <p:txBody>
          <a:bodyPr/>
          <a:lstStyle/>
          <a:p>
            <a:endParaRPr lang="en-IN"/>
          </a:p>
        </p:txBody>
      </p:sp>
      <p:sp>
        <p:nvSpPr>
          <p:cNvPr id="91" name="Text 89"/>
          <p:cNvSpPr/>
          <p:nvPr/>
        </p:nvSpPr>
        <p:spPr>
          <a:xfrm>
            <a:off x="11323677" y="6503670"/>
            <a:ext cx="1336012"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Governance</a:t>
            </a:r>
            <a:endParaRPr lang="en-US" sz="1800" dirty="0"/>
          </a:p>
        </p:txBody>
      </p:sp>
      <p:sp>
        <p:nvSpPr>
          <p:cNvPr id="92" name="Text 90"/>
          <p:cNvSpPr/>
          <p:nvPr/>
        </p:nvSpPr>
        <p:spPr>
          <a:xfrm>
            <a:off x="16229052" y="6503670"/>
            <a:ext cx="889159"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8FD4A5"/>
                </a:solidFill>
                <a:latin typeface="Abadi" panose="020B0604020104020204" pitchFamily="34" charset="0"/>
                <a:ea typeface="Lato" pitchFamily="34" charset="-122"/>
                <a:cs typeface="Lato" pitchFamily="34" charset="-120"/>
              </a:rPr>
              <a:t>Healthy</a:t>
            </a:r>
            <a:endParaRPr lang="en-US" sz="1800" dirty="0"/>
          </a:p>
        </p:txBody>
      </p:sp>
      <p:sp>
        <p:nvSpPr>
          <p:cNvPr id="93" name="Text 91"/>
          <p:cNvSpPr/>
          <p:nvPr/>
        </p:nvSpPr>
        <p:spPr>
          <a:xfrm>
            <a:off x="11323677" y="6995160"/>
            <a:ext cx="1093113" cy="31242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FFFFFF">
                    <a:alpha val="80000"/>
                  </a:srgbClr>
                </a:solidFill>
                <a:latin typeface="Abadi" panose="020B0604020104020204" pitchFamily="34" charset="0"/>
                <a:ea typeface="Lato" pitchFamily="34" charset="-122"/>
                <a:cs typeface="Lato" pitchFamily="34" charset="-120"/>
              </a:rPr>
              <a:t>Validation</a:t>
            </a:r>
            <a:endParaRPr lang="en-US" sz="1800" dirty="0"/>
          </a:p>
        </p:txBody>
      </p:sp>
      <p:sp>
        <p:nvSpPr>
          <p:cNvPr id="94" name="Text 92"/>
          <p:cNvSpPr/>
          <p:nvPr/>
        </p:nvSpPr>
        <p:spPr>
          <a:xfrm>
            <a:off x="16439436" y="6995160"/>
            <a:ext cx="678775"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E8531A"/>
                </a:solidFill>
                <a:latin typeface="Abadi" panose="020B0604020104020204" pitchFamily="34" charset="0"/>
                <a:ea typeface="Lato" pitchFamily="34" charset="-122"/>
                <a:cs typeface="Lato" pitchFamily="34" charset="-120"/>
              </a:rPr>
              <a:t>Weak</a:t>
            </a:r>
            <a:endParaRPr lang="en-US" sz="1800" dirty="0"/>
          </a:p>
        </p:txBody>
      </p:sp>
      <p:sp>
        <p:nvSpPr>
          <p:cNvPr id="95" name="Shape 93"/>
          <p:cNvSpPr/>
          <p:nvPr/>
        </p:nvSpPr>
        <p:spPr>
          <a:xfrm>
            <a:off x="11323677" y="7536180"/>
            <a:ext cx="5718334" cy="1436370"/>
          </a:xfrm>
          <a:prstGeom prst="roundRect">
            <a:avLst>
              <a:gd name="adj" fmla="val 3979"/>
            </a:avLst>
          </a:prstGeom>
          <a:solidFill>
            <a:srgbClr val="D3A518"/>
          </a:solidFill>
          <a:ln/>
        </p:spPr>
        <p:txBody>
          <a:bodyPr/>
          <a:lstStyle/>
          <a:p>
            <a:endParaRPr lang="en-IN"/>
          </a:p>
        </p:txBody>
      </p:sp>
      <p:sp>
        <p:nvSpPr>
          <p:cNvPr id="96" name="Text 94"/>
          <p:cNvSpPr/>
          <p:nvPr/>
        </p:nvSpPr>
        <p:spPr>
          <a:xfrm>
            <a:off x="11552277" y="7745730"/>
            <a:ext cx="5787248"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00051E">
                    <a:alpha val="70000"/>
                  </a:srgbClr>
                </a:solidFill>
                <a:latin typeface="Abadi" panose="020B0604020104020204" pitchFamily="34" charset="0"/>
                <a:ea typeface="Lato" pitchFamily="34" charset="-122"/>
                <a:cs typeface="Lato" pitchFamily="34" charset="-120"/>
              </a:rPr>
              <a:t>RECOMMENDED ACTION</a:t>
            </a:r>
            <a:endParaRPr lang="en-US" sz="1800" dirty="0"/>
          </a:p>
        </p:txBody>
      </p:sp>
      <p:sp>
        <p:nvSpPr>
          <p:cNvPr id="97" name="Text 95"/>
          <p:cNvSpPr/>
          <p:nvPr/>
        </p:nvSpPr>
        <p:spPr>
          <a:xfrm>
            <a:off x="11552277" y="8096250"/>
            <a:ext cx="5418968" cy="704850"/>
          </a:xfrm>
          <a:prstGeom prst="rect">
            <a:avLst/>
          </a:prstGeom>
          <a:noFill/>
          <a:ln/>
        </p:spPr>
        <p:txBody>
          <a:bodyPr wrap="square" lIns="25400" tIns="25400" rIns="25400" bIns="25400" rtlCol="0" anchor="t">
            <a:normAutofit/>
          </a:bodyPr>
          <a:lstStyle/>
          <a:p>
            <a:pPr marL="0" indent="0" algn="l">
              <a:lnSpc>
                <a:spcPct val="104167"/>
              </a:lnSpc>
              <a:buNone/>
            </a:pPr>
            <a:r>
              <a:rPr lang="en-US" sz="2100" b="1" dirty="0">
                <a:solidFill>
                  <a:srgbClr val="00051E"/>
                </a:solidFill>
                <a:latin typeface="Abadi" panose="020B0604020104020204" pitchFamily="34" charset="0"/>
                <a:ea typeface="Lato" pitchFamily="34" charset="-122"/>
                <a:cs typeface="Lato" pitchFamily="34" charset="-120"/>
              </a:rPr>
              <a:t>Improve validation before increasing autonomy.</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62050"/>
            <a:ext cx="1802130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6B7185"/>
                </a:solidFill>
                <a:latin typeface="Abadi" panose="020B0604020104020204" pitchFamily="34" charset="0"/>
                <a:ea typeface="Lato" pitchFamily="34" charset="-122"/>
                <a:cs typeface="Lato" pitchFamily="34" charset="-120"/>
              </a:rPr>
              <a:t>APPENDIX · IMPLEMENTATION</a:t>
            </a:r>
            <a:endParaRPr lang="en-US" sz="1800" dirty="0"/>
          </a:p>
        </p:txBody>
      </p:sp>
      <p:sp>
        <p:nvSpPr>
          <p:cNvPr id="4" name="Text 2"/>
          <p:cNvSpPr/>
          <p:nvPr/>
        </p:nvSpPr>
        <p:spPr>
          <a:xfrm>
            <a:off x="952500" y="1626870"/>
            <a:ext cx="18021300" cy="696397"/>
          </a:xfrm>
          <a:prstGeom prst="rect">
            <a:avLst/>
          </a:prstGeom>
          <a:noFill/>
          <a:ln/>
        </p:spPr>
        <p:txBody>
          <a:bodyPr wrap="square" lIns="25400" tIns="25400" rIns="25400" bIns="25400" rtlCol="0" anchor="t">
            <a:normAutofit lnSpcReduction="10000"/>
          </a:bodyPr>
          <a:lstStyle/>
          <a:p>
            <a:pPr marL="0" indent="0" algn="l">
              <a:lnSpc>
                <a:spcPct val="90000"/>
              </a:lnSpc>
              <a:buNone/>
            </a:pPr>
            <a:r>
              <a:rPr lang="en-US" sz="4800" b="1" kern="0" spc="-72" dirty="0">
                <a:solidFill>
                  <a:srgbClr val="00051E"/>
                </a:solidFill>
                <a:latin typeface="Abadi" panose="020B0604020104020204" pitchFamily="34" charset="0"/>
                <a:ea typeface="Lato" pitchFamily="34" charset="-122"/>
                <a:cs typeface="Lato" pitchFamily="34" charset="-120"/>
              </a:rPr>
              <a:t>Where the scoring layer sits.</a:t>
            </a:r>
            <a:endParaRPr lang="en-US" sz="4800" dirty="0"/>
          </a:p>
        </p:txBody>
      </p:sp>
      <p:sp>
        <p:nvSpPr>
          <p:cNvPr id="5" name="Shape 3"/>
          <p:cNvSpPr/>
          <p:nvPr/>
        </p:nvSpPr>
        <p:spPr>
          <a:xfrm>
            <a:off x="952500" y="2704267"/>
            <a:ext cx="8587859" cy="777240"/>
          </a:xfrm>
          <a:prstGeom prst="roundRect">
            <a:avLst>
              <a:gd name="adj" fmla="val 7353"/>
            </a:avLst>
          </a:prstGeom>
          <a:solidFill>
            <a:srgbClr val="FFFFFF"/>
          </a:solidFill>
          <a:ln/>
          <a:effectLst>
            <a:outerShdw blurRad="38100" dist="9525" dir="5400000" algn="bl" rotWithShape="0">
              <a:srgbClr val="00051E">
                <a:alpha val="8000"/>
              </a:srgbClr>
            </a:outerShdw>
          </a:effectLst>
        </p:spPr>
        <p:txBody>
          <a:bodyPr/>
          <a:lstStyle/>
          <a:p>
            <a:endParaRPr lang="en-IN"/>
          </a:p>
        </p:txBody>
      </p:sp>
      <p:sp>
        <p:nvSpPr>
          <p:cNvPr id="6" name="Text 4"/>
          <p:cNvSpPr/>
          <p:nvPr/>
        </p:nvSpPr>
        <p:spPr>
          <a:xfrm>
            <a:off x="1219200" y="2932867"/>
            <a:ext cx="8859905"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0051E"/>
                </a:solidFill>
                <a:latin typeface="Abadi" panose="020B0604020104020204" pitchFamily="34" charset="0"/>
                <a:ea typeface="Lato" pitchFamily="34" charset="-122"/>
                <a:cs typeface="Lato" pitchFamily="34" charset="-120"/>
              </a:rPr>
              <a:t>Existing AI agents</a:t>
            </a:r>
            <a:endParaRPr lang="en-US" sz="2100" dirty="0"/>
          </a:p>
        </p:txBody>
      </p:sp>
      <p:sp>
        <p:nvSpPr>
          <p:cNvPr id="7" name="Text 5"/>
          <p:cNvSpPr/>
          <p:nvPr/>
        </p:nvSpPr>
        <p:spPr>
          <a:xfrm>
            <a:off x="523107" y="359580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8" name="Shape 6"/>
          <p:cNvSpPr/>
          <p:nvPr/>
        </p:nvSpPr>
        <p:spPr>
          <a:xfrm>
            <a:off x="952500" y="4106347"/>
            <a:ext cx="8587859" cy="777240"/>
          </a:xfrm>
          <a:prstGeom prst="roundRect">
            <a:avLst>
              <a:gd name="adj" fmla="val 7353"/>
            </a:avLst>
          </a:prstGeom>
          <a:solidFill>
            <a:srgbClr val="FFFFFF"/>
          </a:solidFill>
          <a:ln/>
          <a:effectLst>
            <a:outerShdw blurRad="38100" dist="9525" dir="5400000" algn="bl" rotWithShape="0">
              <a:srgbClr val="00051E">
                <a:alpha val="8000"/>
              </a:srgbClr>
            </a:outerShdw>
          </a:effectLst>
        </p:spPr>
        <p:txBody>
          <a:bodyPr/>
          <a:lstStyle/>
          <a:p>
            <a:endParaRPr lang="en-IN"/>
          </a:p>
        </p:txBody>
      </p:sp>
      <p:sp>
        <p:nvSpPr>
          <p:cNvPr id="9" name="Text 7"/>
          <p:cNvSpPr/>
          <p:nvPr/>
        </p:nvSpPr>
        <p:spPr>
          <a:xfrm>
            <a:off x="1219200" y="4334947"/>
            <a:ext cx="8859905"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0051E"/>
                </a:solidFill>
                <a:latin typeface="Abadi" panose="020B0604020104020204" pitchFamily="34" charset="0"/>
                <a:ea typeface="Lato" pitchFamily="34" charset="-122"/>
                <a:cs typeface="Lato" pitchFamily="34" charset="-120"/>
              </a:rPr>
              <a:t>Existing orchestration / runtime</a:t>
            </a:r>
            <a:endParaRPr lang="en-US" sz="2100" dirty="0"/>
          </a:p>
        </p:txBody>
      </p:sp>
      <p:sp>
        <p:nvSpPr>
          <p:cNvPr id="10" name="Text 8"/>
          <p:cNvSpPr/>
          <p:nvPr/>
        </p:nvSpPr>
        <p:spPr>
          <a:xfrm>
            <a:off x="523107" y="499788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1" name="Shape 9"/>
          <p:cNvSpPr/>
          <p:nvPr/>
        </p:nvSpPr>
        <p:spPr>
          <a:xfrm>
            <a:off x="952500" y="5508427"/>
            <a:ext cx="8587859" cy="777240"/>
          </a:xfrm>
          <a:prstGeom prst="roundRect">
            <a:avLst>
              <a:gd name="adj" fmla="val 7353"/>
            </a:avLst>
          </a:prstGeom>
          <a:solidFill>
            <a:srgbClr val="FFFFFF"/>
          </a:solidFill>
          <a:ln/>
          <a:effectLst>
            <a:outerShdw blurRad="38100" dist="9525" dir="5400000" algn="bl" rotWithShape="0">
              <a:srgbClr val="00051E">
                <a:alpha val="8000"/>
              </a:srgbClr>
            </a:outerShdw>
          </a:effectLst>
        </p:spPr>
        <p:txBody>
          <a:bodyPr/>
          <a:lstStyle/>
          <a:p>
            <a:endParaRPr lang="en-IN"/>
          </a:p>
        </p:txBody>
      </p:sp>
      <p:sp>
        <p:nvSpPr>
          <p:cNvPr id="12" name="Text 10"/>
          <p:cNvSpPr/>
          <p:nvPr/>
        </p:nvSpPr>
        <p:spPr>
          <a:xfrm>
            <a:off x="1219200" y="5737027"/>
            <a:ext cx="8859905" cy="358140"/>
          </a:xfrm>
          <a:prstGeom prst="rect">
            <a:avLst/>
          </a:prstGeom>
          <a:noFill/>
          <a:ln/>
        </p:spPr>
        <p:txBody>
          <a:bodyPr wrap="square" lIns="25400" tIns="25400" rIns="25400" bIns="25400" rtlCol="0" anchor="t">
            <a:noAutofit/>
          </a:bodyPr>
          <a:lstStyle/>
          <a:p>
            <a:r>
              <a:rPr sz="2100" b="1" dirty="0"/>
              <a:t>API Interface (Open</a:t>
            </a:r>
            <a:r>
              <a:rPr lang="en-IN" sz="2100" b="1" dirty="0"/>
              <a:t> </a:t>
            </a:r>
            <a:r>
              <a:rPr sz="2100" b="1" dirty="0"/>
              <a:t>Telemetry, REST APIs, and MCP integrations)</a:t>
            </a:r>
          </a:p>
        </p:txBody>
      </p:sp>
      <p:sp>
        <p:nvSpPr>
          <p:cNvPr id="13" name="Text 11"/>
          <p:cNvSpPr/>
          <p:nvPr/>
        </p:nvSpPr>
        <p:spPr>
          <a:xfrm>
            <a:off x="523107" y="639996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4" name="Shape 12"/>
          <p:cNvSpPr/>
          <p:nvPr/>
        </p:nvSpPr>
        <p:spPr>
          <a:xfrm>
            <a:off x="952500" y="6910507"/>
            <a:ext cx="8587859" cy="1036320"/>
          </a:xfrm>
          <a:prstGeom prst="roundRect">
            <a:avLst>
              <a:gd name="adj" fmla="val 5515"/>
            </a:avLst>
          </a:prstGeom>
          <a:solidFill>
            <a:srgbClr val="00051E"/>
          </a:solidFill>
          <a:ln/>
          <a:effectLst>
            <a:outerShdw blurRad="304800" dist="76200" dir="5400000" algn="bl" rotWithShape="0">
              <a:srgbClr val="00051E">
                <a:alpha val="16000"/>
              </a:srgbClr>
            </a:outerShdw>
          </a:effectLst>
        </p:spPr>
        <p:txBody>
          <a:bodyPr/>
          <a:lstStyle/>
          <a:p>
            <a:endParaRPr lang="en-IN"/>
          </a:p>
        </p:txBody>
      </p:sp>
      <p:sp>
        <p:nvSpPr>
          <p:cNvPr id="15" name="Text 13"/>
          <p:cNvSpPr/>
          <p:nvPr/>
        </p:nvSpPr>
        <p:spPr>
          <a:xfrm>
            <a:off x="1219200" y="7177207"/>
            <a:ext cx="8859905" cy="541020"/>
          </a:xfrm>
          <a:prstGeom prst="rect">
            <a:avLst/>
          </a:prstGeom>
          <a:noFill/>
          <a:ln/>
        </p:spPr>
        <p:txBody>
          <a:bodyPr wrap="square" lIns="25400" tIns="25400" rIns="25400" bIns="25400" rtlCol="0" anchor="t">
            <a:normAutofit lnSpcReduction="10000"/>
          </a:bodyPr>
          <a:lstStyle/>
          <a:p>
            <a:pPr marL="0" indent="0" algn="l">
              <a:buNone/>
            </a:pPr>
            <a:r>
              <a:rPr lang="en-US" sz="3300" b="1" dirty="0">
                <a:solidFill>
                  <a:srgbClr val="D3A518"/>
                </a:solidFill>
                <a:latin typeface="Abadi" panose="020B0604020104020204" pitchFamily="34" charset="0"/>
                <a:ea typeface="Lato" pitchFamily="34" charset="-122"/>
                <a:cs typeface="Lato" pitchFamily="34" charset="-120"/>
              </a:rPr>
              <a:t>AGENT SCORING LAYER</a:t>
            </a:r>
            <a:endParaRPr lang="en-US" sz="3300" dirty="0"/>
          </a:p>
        </p:txBody>
      </p:sp>
      <p:sp>
        <p:nvSpPr>
          <p:cNvPr id="16" name="Text 14"/>
          <p:cNvSpPr/>
          <p:nvPr/>
        </p:nvSpPr>
        <p:spPr>
          <a:xfrm>
            <a:off x="523107" y="8061127"/>
            <a:ext cx="9446645" cy="434340"/>
          </a:xfrm>
          <a:prstGeom prst="rect">
            <a:avLst/>
          </a:prstGeom>
          <a:noFill/>
          <a:ln/>
        </p:spPr>
        <p:txBody>
          <a:bodyPr wrap="square" lIns="25400" tIns="25400" rIns="25400" bIns="25400" rtlCol="0" anchor="t">
            <a:normAutofit lnSpcReduction="10000"/>
          </a:bodyPr>
          <a:lstStyle/>
          <a:p>
            <a:pPr marL="0" indent="0" algn="ctr">
              <a:buNone/>
            </a:pPr>
            <a:r>
              <a:rPr lang="en-US" sz="2550"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7" name="Shape 15"/>
          <p:cNvSpPr/>
          <p:nvPr/>
        </p:nvSpPr>
        <p:spPr>
          <a:xfrm>
            <a:off x="952500" y="8571667"/>
            <a:ext cx="8587859" cy="807720"/>
          </a:xfrm>
          <a:prstGeom prst="roundRect">
            <a:avLst>
              <a:gd name="adj" fmla="val 7075"/>
            </a:avLst>
          </a:prstGeom>
          <a:solidFill>
            <a:srgbClr val="FFFFFF"/>
          </a:solidFill>
          <a:ln w="15240">
            <a:solidFill>
              <a:srgbClr val="D3A518"/>
            </a:solidFill>
            <a:prstDash val="solid"/>
          </a:ln>
        </p:spPr>
        <p:txBody>
          <a:bodyPr/>
          <a:lstStyle/>
          <a:p>
            <a:endParaRPr lang="en-IN"/>
          </a:p>
        </p:txBody>
      </p:sp>
      <p:sp>
        <p:nvSpPr>
          <p:cNvPr id="18" name="Text 16"/>
          <p:cNvSpPr/>
          <p:nvPr/>
        </p:nvSpPr>
        <p:spPr>
          <a:xfrm>
            <a:off x="1234440" y="8815507"/>
            <a:ext cx="8826377" cy="35814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00051E"/>
                </a:solidFill>
                <a:latin typeface="Abadi" panose="020B0604020104020204" pitchFamily="34" charset="0"/>
                <a:ea typeface="Lato" pitchFamily="34" charset="-122"/>
                <a:cs typeface="Lato" pitchFamily="34" charset="-120"/>
              </a:rPr>
              <a:t>Enterprise Agent Dashboard</a:t>
            </a:r>
            <a:endParaRPr lang="en-US" sz="2100" dirty="0"/>
          </a:p>
        </p:txBody>
      </p:sp>
      <p:sp>
        <p:nvSpPr>
          <p:cNvPr id="19" name="Text 17"/>
          <p:cNvSpPr/>
          <p:nvPr/>
        </p:nvSpPr>
        <p:spPr>
          <a:xfrm>
            <a:off x="10035660" y="2704267"/>
            <a:ext cx="8029694"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rgbClr val="6B7185"/>
                </a:solidFill>
                <a:latin typeface="Abadi" panose="020B0604020104020204" pitchFamily="34" charset="0"/>
                <a:ea typeface="Lato" pitchFamily="34" charset="-122"/>
                <a:cs typeface="Lato" pitchFamily="34" charset="-120"/>
              </a:rPr>
              <a:t>INGESTED EVIDENCE</a:t>
            </a:r>
            <a:endParaRPr lang="en-US" sz="1800" dirty="0"/>
          </a:p>
        </p:txBody>
      </p:sp>
      <p:sp>
        <p:nvSpPr>
          <p:cNvPr id="20" name="Text 18"/>
          <p:cNvSpPr/>
          <p:nvPr/>
        </p:nvSpPr>
        <p:spPr>
          <a:xfrm>
            <a:off x="10035660" y="3092887"/>
            <a:ext cx="7518714" cy="811530"/>
          </a:xfrm>
          <a:prstGeom prst="rect">
            <a:avLst/>
          </a:prstGeom>
          <a:noFill/>
          <a:ln/>
        </p:spPr>
        <p:txBody>
          <a:bodyPr wrap="square" lIns="25400" tIns="25400" rIns="25400" bIns="25400" rtlCol="0" anchor="t">
            <a:normAutofit/>
          </a:bodyPr>
          <a:lstStyle/>
          <a:p>
            <a:pPr marL="0" indent="0" algn="l">
              <a:lnSpc>
                <a:spcPct val="120833"/>
              </a:lnSpc>
              <a:buNone/>
            </a:pPr>
            <a:r>
              <a:rPr lang="en-US" sz="2100" dirty="0">
                <a:solidFill>
                  <a:srgbClr val="00051E"/>
                </a:solidFill>
                <a:latin typeface="Abadi" panose="020B0604020104020204" pitchFamily="34" charset="0"/>
                <a:ea typeface="Lato" pitchFamily="34" charset="-122"/>
                <a:cs typeface="Lato" pitchFamily="34" charset="-120"/>
              </a:rPr>
              <a:t>Tool calls, LLM traces, quality evaluations, policy events, incidents and cloud / AI cost.</a:t>
            </a:r>
            <a:endParaRPr lang="en-US" sz="2100" dirty="0"/>
          </a:p>
        </p:txBody>
      </p:sp>
      <p:sp>
        <p:nvSpPr>
          <p:cNvPr id="21" name="Shape 19"/>
          <p:cNvSpPr/>
          <p:nvPr/>
        </p:nvSpPr>
        <p:spPr>
          <a:xfrm>
            <a:off x="10035660" y="4133017"/>
            <a:ext cx="38100" cy="1232535"/>
          </a:xfrm>
          <a:prstGeom prst="rect">
            <a:avLst/>
          </a:prstGeom>
          <a:solidFill>
            <a:srgbClr val="D3A518"/>
          </a:solidFill>
          <a:ln/>
        </p:spPr>
        <p:txBody>
          <a:bodyPr/>
          <a:lstStyle/>
          <a:p>
            <a:endParaRPr lang="en-IN"/>
          </a:p>
        </p:txBody>
      </p:sp>
      <p:sp>
        <p:nvSpPr>
          <p:cNvPr id="22" name="Text 20"/>
          <p:cNvSpPr/>
          <p:nvPr/>
        </p:nvSpPr>
        <p:spPr>
          <a:xfrm>
            <a:off x="10321410" y="4133017"/>
            <a:ext cx="7715369" cy="398145"/>
          </a:xfrm>
          <a:prstGeom prst="rect">
            <a:avLst/>
          </a:prstGeom>
          <a:noFill/>
          <a:ln/>
        </p:spPr>
        <p:txBody>
          <a:bodyPr wrap="square" lIns="25400" tIns="25400" rIns="25400" bIns="25400" rtlCol="0" anchor="t">
            <a:normAutofit/>
          </a:bodyPr>
          <a:lstStyle/>
          <a:p>
            <a:pPr marL="0" indent="0" algn="l">
              <a:lnSpc>
                <a:spcPct val="112500"/>
              </a:lnSpc>
              <a:buNone/>
            </a:pPr>
            <a:r>
              <a:rPr lang="en-US" sz="2100" dirty="0">
                <a:solidFill>
                  <a:srgbClr val="5A6079"/>
                </a:solidFill>
                <a:latin typeface="Abadi" panose="020B0604020104020204" pitchFamily="34" charset="0"/>
                <a:ea typeface="Lato" pitchFamily="34" charset="-122"/>
                <a:cs typeface="Lato" pitchFamily="34" charset="-120"/>
              </a:rPr>
              <a:t>We are not proposing another observability stack.</a:t>
            </a:r>
            <a:endParaRPr lang="en-US" sz="2100" dirty="0"/>
          </a:p>
        </p:txBody>
      </p:sp>
      <p:sp>
        <p:nvSpPr>
          <p:cNvPr id="23" name="Text 21"/>
          <p:cNvSpPr/>
          <p:nvPr/>
        </p:nvSpPr>
        <p:spPr>
          <a:xfrm>
            <a:off x="10321410" y="4645462"/>
            <a:ext cx="7224391" cy="758190"/>
          </a:xfrm>
          <a:prstGeom prst="rect">
            <a:avLst/>
          </a:prstGeom>
          <a:noFill/>
          <a:ln/>
        </p:spPr>
        <p:txBody>
          <a:bodyPr wrap="square" lIns="25400" tIns="25400" rIns="25400" bIns="25400" rtlCol="0" anchor="t">
            <a:normAutofit/>
          </a:bodyPr>
          <a:lstStyle/>
          <a:p>
            <a:pPr marL="0" indent="0" algn="l">
              <a:lnSpc>
                <a:spcPct val="112500"/>
              </a:lnSpc>
              <a:buNone/>
            </a:pPr>
            <a:r>
              <a:rPr lang="en-US" sz="2100" b="1" dirty="0">
                <a:solidFill>
                  <a:srgbClr val="00051E"/>
                </a:solidFill>
                <a:latin typeface="Abadi" panose="020B0604020104020204" pitchFamily="34" charset="0"/>
                <a:ea typeface="Lato" pitchFamily="34" charset="-122"/>
                <a:cs typeface="Lato" pitchFamily="34" charset="-120"/>
              </a:rPr>
              <a:t>We are proposing an interpretation layer across the evidence enterprises already generate.</a:t>
            </a:r>
            <a:endParaRPr lang="en-US" sz="2100" dirty="0"/>
          </a:p>
        </p:txBody>
      </p:sp>
      <p:sp>
        <p:nvSpPr>
          <p:cNvPr id="24" name="Text 22"/>
          <p:cNvSpPr/>
          <p:nvPr/>
        </p:nvSpPr>
        <p:spPr>
          <a:xfrm>
            <a:off x="10035660" y="5632252"/>
            <a:ext cx="7518714" cy="701040"/>
          </a:xfrm>
          <a:prstGeom prst="rect">
            <a:avLst/>
          </a:prstGeom>
          <a:noFill/>
          <a:ln/>
        </p:spPr>
        <p:txBody>
          <a:bodyPr wrap="square" lIns="25400" tIns="25400" rIns="25400" bIns="25400" rtlCol="0" anchor="t">
            <a:normAutofit/>
          </a:bodyPr>
          <a:lstStyle/>
          <a:p>
            <a:pPr marL="0" indent="0" algn="l">
              <a:lnSpc>
                <a:spcPct val="120833"/>
              </a:lnSpc>
              <a:buNone/>
            </a:pPr>
            <a:r>
              <a:rPr lang="en-US" sz="1800" dirty="0">
                <a:solidFill>
                  <a:srgbClr val="5A6079"/>
                </a:solidFill>
                <a:latin typeface="Abadi" panose="020B0604020104020204" pitchFamily="34" charset="0"/>
                <a:ea typeface="Lato" pitchFamily="34" charset="-122"/>
                <a:cs typeface="Lato" pitchFamily="34" charset="-120"/>
              </a:rPr>
              <a:t>Designed to work with existing observability, validation, security, governance and cost tooling rather than replacing it.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3033594"/>
            <a:ext cx="838200" cy="57150"/>
          </a:xfrm>
          <a:prstGeom prst="rect">
            <a:avLst/>
          </a:prstGeom>
          <a:solidFill>
            <a:srgbClr val="D3A518"/>
          </a:solidFill>
          <a:ln/>
        </p:spPr>
        <p:txBody>
          <a:bodyPr/>
          <a:lstStyle/>
          <a:p>
            <a:endParaRPr lang="en-IN"/>
          </a:p>
        </p:txBody>
      </p:sp>
      <p:sp>
        <p:nvSpPr>
          <p:cNvPr id="3" name="Text 1"/>
          <p:cNvSpPr/>
          <p:nvPr/>
        </p:nvSpPr>
        <p:spPr>
          <a:xfrm>
            <a:off x="952500" y="3338394"/>
            <a:ext cx="7575495" cy="320040"/>
          </a:xfrm>
          <a:prstGeom prst="rect">
            <a:avLst/>
          </a:prstGeom>
          <a:noFill/>
          <a:ln/>
        </p:spPr>
        <p:txBody>
          <a:bodyPr wrap="square" lIns="25400" tIns="25400" rIns="25400" bIns="25400" rtlCol="0" anchor="t">
            <a:normAutofit lnSpcReduction="10000"/>
          </a:bodyPr>
          <a:lstStyle/>
          <a:p>
            <a:pPr marL="0" indent="0" algn="l">
              <a:buNone/>
            </a:pPr>
            <a:r>
              <a:rPr dirty="0"/>
              <a:t>ACTIONABLE INTELLIGENCE: MEASURE → DECIDE → IMPROVE</a:t>
            </a:r>
            <a:endParaRPr lang="en-US" sz="1800" dirty="0"/>
          </a:p>
        </p:txBody>
      </p:sp>
      <p:sp>
        <p:nvSpPr>
          <p:cNvPr id="4" name="Text 2"/>
          <p:cNvSpPr/>
          <p:nvPr/>
        </p:nvSpPr>
        <p:spPr>
          <a:xfrm>
            <a:off x="952500" y="4350583"/>
            <a:ext cx="7093418" cy="1354693"/>
          </a:xfrm>
          <a:prstGeom prst="rect">
            <a:avLst/>
          </a:prstGeom>
          <a:noFill/>
          <a:ln/>
        </p:spPr>
        <p:txBody>
          <a:bodyPr wrap="square" lIns="25400" tIns="25400" rIns="25400" bIns="25400" rtlCol="0" anchor="t">
            <a:normAutofit fontScale="62500" lnSpcReduction="20000"/>
          </a:bodyPr>
          <a:lstStyle/>
          <a:p>
            <a:r>
              <a:rPr lang="en-IN" sz="4800" spc="300" dirty="0">
                <a:latin typeface="Abadi" panose="020B0604020104020204" pitchFamily="34" charset="0"/>
              </a:rPr>
              <a:t>Measurement should shape agent behaviour and drive continuous improvement beyond dashboards.</a:t>
            </a:r>
            <a:endParaRPr lang="en-US" sz="4800" spc="300" dirty="0">
              <a:latin typeface="Abadi" panose="020B0604020104020204" pitchFamily="34" charset="0"/>
            </a:endParaRPr>
          </a:p>
        </p:txBody>
      </p:sp>
      <p:sp>
        <p:nvSpPr>
          <p:cNvPr id="6" name="Shape 4"/>
          <p:cNvSpPr/>
          <p:nvPr/>
        </p:nvSpPr>
        <p:spPr>
          <a:xfrm>
            <a:off x="952500" y="6154221"/>
            <a:ext cx="38100" cy="1213485"/>
          </a:xfrm>
          <a:prstGeom prst="rect">
            <a:avLst/>
          </a:prstGeom>
          <a:solidFill>
            <a:srgbClr val="D3A518"/>
          </a:solidFill>
          <a:ln/>
        </p:spPr>
        <p:txBody>
          <a:bodyPr/>
          <a:lstStyle/>
          <a:p>
            <a:endParaRPr lang="en-IN"/>
          </a:p>
        </p:txBody>
      </p:sp>
      <p:sp>
        <p:nvSpPr>
          <p:cNvPr id="7" name="Text 5"/>
          <p:cNvSpPr/>
          <p:nvPr/>
        </p:nvSpPr>
        <p:spPr>
          <a:xfrm>
            <a:off x="1257300" y="6154221"/>
            <a:ext cx="7240215" cy="398145"/>
          </a:xfrm>
          <a:prstGeom prst="rect">
            <a:avLst/>
          </a:prstGeom>
          <a:noFill/>
          <a:ln/>
        </p:spPr>
        <p:txBody>
          <a:bodyPr wrap="square" lIns="25400" tIns="25400" rIns="25400" bIns="25400" rtlCol="0" anchor="t">
            <a:normAutofit/>
          </a:bodyPr>
          <a:lstStyle/>
          <a:p>
            <a:pPr marL="0" indent="0" algn="l">
              <a:lnSpc>
                <a:spcPct val="112500"/>
              </a:lnSpc>
              <a:buNone/>
            </a:pPr>
            <a:r>
              <a:rPr lang="en-US" sz="2100" dirty="0">
                <a:solidFill>
                  <a:srgbClr val="5A6079"/>
                </a:solidFill>
                <a:latin typeface="Abadi" panose="020B0604020104020204" pitchFamily="34" charset="0"/>
                <a:ea typeface="Lato" pitchFamily="34" charset="-122"/>
                <a:cs typeface="Lato" pitchFamily="34" charset="-120"/>
              </a:rPr>
              <a:t>The purpose of scoring is not ranking agents.</a:t>
            </a:r>
            <a:endParaRPr lang="en-US" sz="2100" dirty="0"/>
          </a:p>
        </p:txBody>
      </p:sp>
      <p:sp>
        <p:nvSpPr>
          <p:cNvPr id="8" name="Text 6"/>
          <p:cNvSpPr/>
          <p:nvPr/>
        </p:nvSpPr>
        <p:spPr>
          <a:xfrm>
            <a:off x="1257300" y="6647617"/>
            <a:ext cx="6779474" cy="758190"/>
          </a:xfrm>
          <a:prstGeom prst="rect">
            <a:avLst/>
          </a:prstGeom>
          <a:noFill/>
          <a:ln/>
        </p:spPr>
        <p:txBody>
          <a:bodyPr wrap="square" lIns="25400" tIns="25400" rIns="25400" bIns="25400" rtlCol="0" anchor="t">
            <a:normAutofit/>
          </a:bodyPr>
          <a:lstStyle/>
          <a:p>
            <a:pPr marL="0" indent="0" algn="l">
              <a:lnSpc>
                <a:spcPct val="112500"/>
              </a:lnSpc>
              <a:buNone/>
            </a:pPr>
            <a:r>
              <a:rPr lang="en-US" sz="2100" b="1" dirty="0">
                <a:solidFill>
                  <a:srgbClr val="00051E"/>
                </a:solidFill>
                <a:latin typeface="Abadi" panose="020B0604020104020204" pitchFamily="34" charset="0"/>
                <a:ea typeface="Lato" pitchFamily="34" charset="-122"/>
                <a:cs typeface="Lato" pitchFamily="34" charset="-120"/>
              </a:rPr>
              <a:t>The purpose is deciding what responsibility an agent has earned.</a:t>
            </a:r>
            <a:endParaRPr lang="en-US" sz="2100" dirty="0"/>
          </a:p>
        </p:txBody>
      </p:sp>
      <p:sp>
        <p:nvSpPr>
          <p:cNvPr id="9" name="Shape 7"/>
          <p:cNvSpPr/>
          <p:nvPr/>
        </p:nvSpPr>
        <p:spPr>
          <a:xfrm>
            <a:off x="8506063" y="2550795"/>
            <a:ext cx="2828806" cy="1809750"/>
          </a:xfrm>
          <a:prstGeom prst="roundRect">
            <a:avLst>
              <a:gd name="adj" fmla="val 3158"/>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0" name="Text 8"/>
          <p:cNvSpPr/>
          <p:nvPr/>
        </p:nvSpPr>
        <p:spPr>
          <a:xfrm>
            <a:off x="8753713" y="2798445"/>
            <a:ext cx="256685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01 · OBSERVE</a:t>
            </a:r>
            <a:endParaRPr lang="en-US" sz="1800" dirty="0"/>
          </a:p>
        </p:txBody>
      </p:sp>
      <p:sp>
        <p:nvSpPr>
          <p:cNvPr id="11" name="Text 9"/>
          <p:cNvSpPr/>
          <p:nvPr/>
        </p:nvSpPr>
        <p:spPr>
          <a:xfrm>
            <a:off x="8753713" y="3187065"/>
            <a:ext cx="2409706" cy="96393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Telemetry, outcomes, cost, security, quality, governance.</a:t>
            </a:r>
            <a:endParaRPr lang="en-US" sz="1800" dirty="0"/>
          </a:p>
        </p:txBody>
      </p:sp>
      <p:sp>
        <p:nvSpPr>
          <p:cNvPr id="12" name="Shape 10"/>
          <p:cNvSpPr/>
          <p:nvPr/>
        </p:nvSpPr>
        <p:spPr>
          <a:xfrm>
            <a:off x="11506320" y="2550795"/>
            <a:ext cx="2828806" cy="1809750"/>
          </a:xfrm>
          <a:prstGeom prst="roundRect">
            <a:avLst>
              <a:gd name="adj" fmla="val 3158"/>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3" name="Text 11"/>
          <p:cNvSpPr/>
          <p:nvPr/>
        </p:nvSpPr>
        <p:spPr>
          <a:xfrm>
            <a:off x="11753970" y="2798445"/>
            <a:ext cx="256685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02 · SCORE</a:t>
            </a:r>
            <a:endParaRPr lang="en-US" sz="1800" dirty="0"/>
          </a:p>
        </p:txBody>
      </p:sp>
      <p:sp>
        <p:nvSpPr>
          <p:cNvPr id="14" name="Text 12"/>
          <p:cNvSpPr/>
          <p:nvPr/>
        </p:nvSpPr>
        <p:spPr>
          <a:xfrm>
            <a:off x="11753970" y="3187065"/>
            <a:ext cx="2409706" cy="96393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Convert evidence into comparable dimensions.</a:t>
            </a:r>
            <a:endParaRPr lang="en-US" sz="1800" dirty="0"/>
          </a:p>
        </p:txBody>
      </p:sp>
      <p:sp>
        <p:nvSpPr>
          <p:cNvPr id="15" name="Shape 13"/>
          <p:cNvSpPr/>
          <p:nvPr/>
        </p:nvSpPr>
        <p:spPr>
          <a:xfrm>
            <a:off x="14506575" y="2550795"/>
            <a:ext cx="2828925" cy="1809750"/>
          </a:xfrm>
          <a:prstGeom prst="roundRect">
            <a:avLst>
              <a:gd name="adj" fmla="val 3158"/>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16" name="Text 14"/>
          <p:cNvSpPr/>
          <p:nvPr/>
        </p:nvSpPr>
        <p:spPr>
          <a:xfrm>
            <a:off x="14754225" y="2798445"/>
            <a:ext cx="2566988"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03 · EXPLAIN</a:t>
            </a:r>
            <a:endParaRPr lang="en-US" sz="1800" dirty="0"/>
          </a:p>
        </p:txBody>
      </p:sp>
      <p:sp>
        <p:nvSpPr>
          <p:cNvPr id="17" name="Text 15"/>
          <p:cNvSpPr/>
          <p:nvPr/>
        </p:nvSpPr>
        <p:spPr>
          <a:xfrm>
            <a:off x="14754225" y="3187065"/>
            <a:ext cx="2409825"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Show what is driving the score.</a:t>
            </a:r>
            <a:endParaRPr lang="en-US" sz="1800" dirty="0"/>
          </a:p>
        </p:txBody>
      </p:sp>
      <p:sp>
        <p:nvSpPr>
          <p:cNvPr id="18" name="Shape 16"/>
          <p:cNvSpPr/>
          <p:nvPr/>
        </p:nvSpPr>
        <p:spPr>
          <a:xfrm>
            <a:off x="8506063" y="4531995"/>
            <a:ext cx="8829437" cy="1645920"/>
          </a:xfrm>
          <a:prstGeom prst="roundRect">
            <a:avLst>
              <a:gd name="adj" fmla="val 3472"/>
            </a:avLst>
          </a:prstGeom>
          <a:solidFill>
            <a:srgbClr val="00051E"/>
          </a:solidFill>
          <a:ln/>
        </p:spPr>
        <p:txBody>
          <a:bodyPr/>
          <a:lstStyle/>
          <a:p>
            <a:endParaRPr lang="en-IN"/>
          </a:p>
        </p:txBody>
      </p:sp>
      <p:sp>
        <p:nvSpPr>
          <p:cNvPr id="19" name="Text 17"/>
          <p:cNvSpPr/>
          <p:nvPr/>
        </p:nvSpPr>
        <p:spPr>
          <a:xfrm>
            <a:off x="8791813" y="5217795"/>
            <a:ext cx="1363516" cy="312420"/>
          </a:xfrm>
          <a:prstGeom prst="rect">
            <a:avLst/>
          </a:prstGeom>
          <a:noFill/>
          <a:ln/>
        </p:spPr>
        <p:txBody>
          <a:bodyPr wrap="non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04 · DECIDE</a:t>
            </a:r>
            <a:endParaRPr lang="en-US" sz="1800" dirty="0"/>
          </a:p>
        </p:txBody>
      </p:sp>
      <p:sp>
        <p:nvSpPr>
          <p:cNvPr id="20" name="Shape 18"/>
          <p:cNvSpPr/>
          <p:nvPr/>
        </p:nvSpPr>
        <p:spPr>
          <a:xfrm>
            <a:off x="10374273" y="4817745"/>
            <a:ext cx="1007983"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1" name="Text 19"/>
          <p:cNvSpPr/>
          <p:nvPr/>
        </p:nvSpPr>
        <p:spPr>
          <a:xfrm>
            <a:off x="10610493" y="4920615"/>
            <a:ext cx="611743"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Scale</a:t>
            </a:r>
            <a:endParaRPr lang="en-US" sz="1800" dirty="0"/>
          </a:p>
        </p:txBody>
      </p:sp>
      <p:sp>
        <p:nvSpPr>
          <p:cNvPr id="22" name="Shape 20"/>
          <p:cNvSpPr/>
          <p:nvPr/>
        </p:nvSpPr>
        <p:spPr>
          <a:xfrm>
            <a:off x="11496556" y="4817745"/>
            <a:ext cx="1418868"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3" name="Text 21"/>
          <p:cNvSpPr/>
          <p:nvPr/>
        </p:nvSpPr>
        <p:spPr>
          <a:xfrm>
            <a:off x="11732776" y="4920615"/>
            <a:ext cx="1022628"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Optimize</a:t>
            </a:r>
            <a:endParaRPr lang="en-US" sz="1800" dirty="0"/>
          </a:p>
        </p:txBody>
      </p:sp>
      <p:sp>
        <p:nvSpPr>
          <p:cNvPr id="24" name="Shape 22"/>
          <p:cNvSpPr/>
          <p:nvPr/>
        </p:nvSpPr>
        <p:spPr>
          <a:xfrm>
            <a:off x="13029724" y="4817745"/>
            <a:ext cx="1285637"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5" name="Text 23"/>
          <p:cNvSpPr/>
          <p:nvPr/>
        </p:nvSpPr>
        <p:spPr>
          <a:xfrm>
            <a:off x="13265944" y="4920615"/>
            <a:ext cx="88939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Restrict</a:t>
            </a:r>
            <a:endParaRPr lang="en-US" sz="1800" dirty="0"/>
          </a:p>
        </p:txBody>
      </p:sp>
      <p:sp>
        <p:nvSpPr>
          <p:cNvPr id="26" name="Shape 24"/>
          <p:cNvSpPr/>
          <p:nvPr/>
        </p:nvSpPr>
        <p:spPr>
          <a:xfrm>
            <a:off x="14429661" y="4817745"/>
            <a:ext cx="1609487"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7" name="Text 25"/>
          <p:cNvSpPr/>
          <p:nvPr/>
        </p:nvSpPr>
        <p:spPr>
          <a:xfrm>
            <a:off x="14665881" y="4920615"/>
            <a:ext cx="121324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Investigate</a:t>
            </a:r>
            <a:endParaRPr lang="en-US" sz="1800" dirty="0"/>
          </a:p>
        </p:txBody>
      </p:sp>
      <p:sp>
        <p:nvSpPr>
          <p:cNvPr id="28" name="Shape 26"/>
          <p:cNvSpPr/>
          <p:nvPr/>
        </p:nvSpPr>
        <p:spPr>
          <a:xfrm>
            <a:off x="10374273" y="5412105"/>
            <a:ext cx="2653308" cy="480060"/>
          </a:xfrm>
          <a:prstGeom prst="roundRect">
            <a:avLst>
              <a:gd name="adj" fmla="val 50000"/>
            </a:avLst>
          </a:prstGeom>
          <a:ln w="7620">
            <a:solidFill>
              <a:srgbClr val="FFFFFF">
                <a:alpha val="40000"/>
              </a:srgbClr>
            </a:solidFill>
            <a:prstDash val="solid"/>
          </a:ln>
        </p:spPr>
        <p:txBody>
          <a:bodyPr/>
          <a:lstStyle/>
          <a:p>
            <a:endParaRPr lang="en-IN"/>
          </a:p>
        </p:txBody>
      </p:sp>
      <p:sp>
        <p:nvSpPr>
          <p:cNvPr id="29" name="Text 27"/>
          <p:cNvSpPr/>
          <p:nvPr/>
        </p:nvSpPr>
        <p:spPr>
          <a:xfrm>
            <a:off x="10610493" y="5514975"/>
            <a:ext cx="226046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FFFFFF"/>
                </a:solidFill>
                <a:latin typeface="Abadi" panose="020B0604020104020204" pitchFamily="34" charset="0"/>
                <a:ea typeface="Lato" pitchFamily="34" charset="-122"/>
                <a:cs typeface="Lato" pitchFamily="34" charset="-120"/>
              </a:rPr>
              <a:t>Retrain / Reconfigure</a:t>
            </a:r>
            <a:endParaRPr lang="en-US" sz="1800" dirty="0"/>
          </a:p>
        </p:txBody>
      </p:sp>
      <p:sp>
        <p:nvSpPr>
          <p:cNvPr id="30" name="Shape 28"/>
          <p:cNvSpPr/>
          <p:nvPr/>
        </p:nvSpPr>
        <p:spPr>
          <a:xfrm>
            <a:off x="8506063" y="6349365"/>
            <a:ext cx="2828806" cy="1501140"/>
          </a:xfrm>
          <a:prstGeom prst="roundRect">
            <a:avLst>
              <a:gd name="adj" fmla="val 3807"/>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31" name="Text 29"/>
          <p:cNvSpPr/>
          <p:nvPr/>
        </p:nvSpPr>
        <p:spPr>
          <a:xfrm>
            <a:off x="8753713" y="6597015"/>
            <a:ext cx="2566857"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05 · IMPROVE</a:t>
            </a:r>
            <a:endParaRPr lang="en-US" sz="1800" dirty="0"/>
          </a:p>
        </p:txBody>
      </p:sp>
      <p:sp>
        <p:nvSpPr>
          <p:cNvPr id="32" name="Text 30"/>
          <p:cNvSpPr/>
          <p:nvPr/>
        </p:nvSpPr>
        <p:spPr>
          <a:xfrm>
            <a:off x="8753713" y="6985635"/>
            <a:ext cx="2409706" cy="655320"/>
          </a:xfrm>
          <a:prstGeom prst="rect">
            <a:avLst/>
          </a:prstGeom>
          <a:noFill/>
          <a:ln/>
        </p:spPr>
        <p:txBody>
          <a:bodyPr wrap="square" lIns="25400" tIns="25400" rIns="25400" bIns="25400" rtlCol="0" anchor="t">
            <a:normAutofit/>
          </a:bodyPr>
          <a:lstStyle/>
          <a:p>
            <a:pPr marL="0" indent="0" algn="l">
              <a:lnSpc>
                <a:spcPct val="112500"/>
              </a:lnSpc>
              <a:buNone/>
            </a:pPr>
            <a:r>
              <a:rPr lang="en-US" sz="1800" dirty="0">
                <a:solidFill>
                  <a:srgbClr val="5A6079"/>
                </a:solidFill>
                <a:latin typeface="Abadi" panose="020B0604020104020204" pitchFamily="34" charset="0"/>
                <a:ea typeface="Lato" pitchFamily="34" charset="-122"/>
                <a:cs typeface="Lato" pitchFamily="34" charset="-120"/>
              </a:rPr>
              <a:t>Agent configuration changes.</a:t>
            </a:r>
            <a:endParaRPr lang="en-US" sz="1800" dirty="0"/>
          </a:p>
        </p:txBody>
      </p:sp>
      <p:sp>
        <p:nvSpPr>
          <p:cNvPr id="33" name="Shape 31"/>
          <p:cNvSpPr/>
          <p:nvPr/>
        </p:nvSpPr>
        <p:spPr>
          <a:xfrm>
            <a:off x="11506320" y="6349365"/>
            <a:ext cx="5829181" cy="1501140"/>
          </a:xfrm>
          <a:prstGeom prst="roundRect">
            <a:avLst>
              <a:gd name="adj" fmla="val 3807"/>
            </a:avLst>
          </a:prstGeom>
          <a:ln w="15240">
            <a:solidFill>
              <a:srgbClr val="D3A518"/>
            </a:solidFill>
            <a:prstDash val="solid"/>
          </a:ln>
        </p:spPr>
        <p:txBody>
          <a:bodyPr/>
          <a:lstStyle/>
          <a:p>
            <a:endParaRPr lang="en-IN"/>
          </a:p>
        </p:txBody>
      </p:sp>
      <p:sp>
        <p:nvSpPr>
          <p:cNvPr id="34" name="Text 32"/>
          <p:cNvSpPr/>
          <p:nvPr/>
        </p:nvSpPr>
        <p:spPr>
          <a:xfrm>
            <a:off x="11769210" y="6739890"/>
            <a:ext cx="583374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6B7185"/>
                </a:solidFill>
                <a:latin typeface="Abadi" panose="020B0604020104020204" pitchFamily="34" charset="0"/>
                <a:ea typeface="Lato" pitchFamily="34" charset="-122"/>
                <a:cs typeface="Lato" pitchFamily="34" charset="-120"/>
              </a:rPr>
              <a:t>↻ Return to observe</a:t>
            </a:r>
            <a:endParaRPr lang="en-US" sz="1800" dirty="0"/>
          </a:p>
        </p:txBody>
      </p:sp>
      <p:sp>
        <p:nvSpPr>
          <p:cNvPr id="35" name="Text 33"/>
          <p:cNvSpPr/>
          <p:nvPr/>
        </p:nvSpPr>
        <p:spPr>
          <a:xfrm>
            <a:off x="11769210" y="7139940"/>
            <a:ext cx="5833741" cy="35814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2100" b="1" dirty="0">
                <a:solidFill>
                  <a:srgbClr val="00051E"/>
                </a:solidFill>
                <a:latin typeface="Abadi" panose="020B0604020104020204" pitchFamily="34" charset="0"/>
                <a:ea typeface="Lato" pitchFamily="34" charset="-122"/>
                <a:cs typeface="Lato" pitchFamily="34" charset="-120"/>
              </a:rPr>
              <a:t>Continuous Agent Assurance</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E8EFFF"/>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62050"/>
            <a:ext cx="18021300"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6B7185"/>
                </a:solidFill>
                <a:latin typeface="Abadi" panose="020B0604020104020204" pitchFamily="34" charset="0"/>
                <a:ea typeface="Lato" pitchFamily="34" charset="-122"/>
                <a:cs typeface="Lato" pitchFamily="34" charset="-120"/>
              </a:rPr>
              <a:t>APPENDIX · THREE IDEAS TO REMEMBER</a:t>
            </a:r>
            <a:endParaRPr lang="en-US" sz="1800" dirty="0"/>
          </a:p>
        </p:txBody>
      </p:sp>
      <p:sp>
        <p:nvSpPr>
          <p:cNvPr id="4" name="Text 2"/>
          <p:cNvSpPr/>
          <p:nvPr/>
        </p:nvSpPr>
        <p:spPr>
          <a:xfrm>
            <a:off x="952500" y="1626870"/>
            <a:ext cx="18021300" cy="696397"/>
          </a:xfrm>
          <a:prstGeom prst="rect">
            <a:avLst/>
          </a:prstGeom>
          <a:noFill/>
          <a:ln/>
        </p:spPr>
        <p:txBody>
          <a:bodyPr wrap="square" lIns="25400" tIns="25400" rIns="25400" bIns="25400" rtlCol="0" anchor="t">
            <a:normAutofit lnSpcReduction="10000"/>
          </a:bodyPr>
          <a:lstStyle/>
          <a:p>
            <a:pPr marL="0" indent="0" algn="l">
              <a:lnSpc>
                <a:spcPct val="90000"/>
              </a:lnSpc>
              <a:buNone/>
            </a:pPr>
            <a:r>
              <a:rPr lang="en-US" sz="4800" b="1" kern="0" spc="-72" dirty="0">
                <a:solidFill>
                  <a:srgbClr val="00051E"/>
                </a:solidFill>
                <a:latin typeface="Abadi" panose="020B0604020104020204" pitchFamily="34" charset="0"/>
                <a:ea typeface="Lato" pitchFamily="34" charset="-122"/>
                <a:cs typeface="Lato" pitchFamily="34" charset="-120"/>
              </a:rPr>
              <a:t>What the audience should take away.</a:t>
            </a:r>
            <a:endParaRPr lang="en-US" sz="4800" dirty="0"/>
          </a:p>
        </p:txBody>
      </p:sp>
      <p:sp>
        <p:nvSpPr>
          <p:cNvPr id="5" name="Shape 3"/>
          <p:cNvSpPr/>
          <p:nvPr/>
        </p:nvSpPr>
        <p:spPr>
          <a:xfrm>
            <a:off x="952500" y="2780467"/>
            <a:ext cx="5283161" cy="3939540"/>
          </a:xfrm>
          <a:prstGeom prst="roundRect">
            <a:avLst>
              <a:gd name="adj" fmla="val 1451"/>
            </a:avLst>
          </a:prstGeom>
          <a:solidFill>
            <a:srgbClr val="FFFFFF"/>
          </a:solidFill>
          <a:ln/>
          <a:effectLst>
            <a:outerShdw blurRad="114300" dist="19050" dir="5400000" algn="bl" rotWithShape="0">
              <a:srgbClr val="00051E">
                <a:alpha val="10000"/>
              </a:srgbClr>
            </a:outerShdw>
          </a:effectLst>
        </p:spPr>
        <p:txBody>
          <a:bodyPr/>
          <a:lstStyle/>
          <a:p>
            <a:endParaRPr lang="en-IN"/>
          </a:p>
        </p:txBody>
      </p:sp>
      <p:sp>
        <p:nvSpPr>
          <p:cNvPr id="6" name="Text 4"/>
          <p:cNvSpPr/>
          <p:nvPr/>
        </p:nvSpPr>
        <p:spPr>
          <a:xfrm>
            <a:off x="1314450" y="3199567"/>
            <a:ext cx="5015186" cy="861060"/>
          </a:xfrm>
          <a:prstGeom prst="rect">
            <a:avLst/>
          </a:prstGeom>
          <a:noFill/>
          <a:ln/>
        </p:spPr>
        <p:txBody>
          <a:bodyPr wrap="square" lIns="25400" tIns="25400" rIns="25400" bIns="25400" rtlCol="0" anchor="t">
            <a:normAutofit lnSpcReduction="10000"/>
          </a:bodyPr>
          <a:lstStyle/>
          <a:p>
            <a:pPr marL="0" indent="0" algn="l">
              <a:lnSpc>
                <a:spcPct val="75000"/>
              </a:lnSpc>
              <a:buNone/>
            </a:pPr>
            <a:r>
              <a:rPr lang="en-US" sz="7200" b="1" dirty="0">
                <a:solidFill>
                  <a:srgbClr val="D3A518"/>
                </a:solidFill>
                <a:latin typeface="Abadi" panose="020B0604020104020204" pitchFamily="34" charset="0"/>
                <a:ea typeface="Lato" pitchFamily="34" charset="-122"/>
                <a:cs typeface="Lato" pitchFamily="34" charset="-120"/>
              </a:rPr>
              <a:t>1</a:t>
            </a:r>
            <a:endParaRPr lang="en-US" sz="7200" dirty="0"/>
          </a:p>
        </p:txBody>
      </p:sp>
      <p:sp>
        <p:nvSpPr>
          <p:cNvPr id="7" name="Text 5"/>
          <p:cNvSpPr/>
          <p:nvPr/>
        </p:nvSpPr>
        <p:spPr>
          <a:xfrm>
            <a:off x="1314450" y="4289227"/>
            <a:ext cx="4591050" cy="1546860"/>
          </a:xfrm>
          <a:prstGeom prst="rect">
            <a:avLst/>
          </a:prstGeom>
          <a:noFill/>
          <a:ln/>
        </p:spPr>
        <p:txBody>
          <a:bodyPr wrap="square" lIns="25400" tIns="25400" rIns="25400" bIns="25400" rtlCol="0" anchor="ctr">
            <a:normAutofit/>
          </a:bodyPr>
          <a:lstStyle/>
          <a:p>
            <a:pPr marL="0" indent="0">
              <a:lnSpc>
                <a:spcPct val="100000"/>
              </a:lnSpc>
              <a:buNone/>
            </a:pPr>
            <a:r>
              <a:rPr lang="en-US" sz="2800" b="1" dirty="0">
                <a:solidFill>
                  <a:srgbClr val="00051E"/>
                </a:solidFill>
                <a:latin typeface="Abadi" panose="020B0604020104020204" pitchFamily="34" charset="0"/>
                <a:ea typeface="Lato" pitchFamily="34" charset="-122"/>
                <a:cs typeface="Lato" pitchFamily="34" charset="-120"/>
              </a:rPr>
              <a:t>Every agent needs a measurable performance contract.</a:t>
            </a:r>
            <a:endParaRPr lang="en-US" sz="2800" dirty="0"/>
          </a:p>
        </p:txBody>
      </p:sp>
      <p:sp>
        <p:nvSpPr>
          <p:cNvPr id="8" name="Shape 6"/>
          <p:cNvSpPr/>
          <p:nvPr/>
        </p:nvSpPr>
        <p:spPr>
          <a:xfrm>
            <a:off x="6502361" y="2780467"/>
            <a:ext cx="5283161" cy="3939540"/>
          </a:xfrm>
          <a:prstGeom prst="roundRect">
            <a:avLst>
              <a:gd name="adj" fmla="val 1451"/>
            </a:avLst>
          </a:prstGeom>
          <a:solidFill>
            <a:schemeClr val="accent5">
              <a:lumMod val="20000"/>
              <a:lumOff val="80000"/>
            </a:schemeClr>
          </a:solidFill>
          <a:ln/>
          <a:effectLst>
            <a:outerShdw blurRad="114300" dist="19050" dir="5400000" algn="bl" rotWithShape="0">
              <a:srgbClr val="00051E">
                <a:alpha val="10000"/>
              </a:srgbClr>
            </a:outerShdw>
          </a:effectLst>
        </p:spPr>
        <p:txBody>
          <a:bodyPr/>
          <a:lstStyle/>
          <a:p>
            <a:endParaRPr lang="en-IN"/>
          </a:p>
        </p:txBody>
      </p:sp>
      <p:sp>
        <p:nvSpPr>
          <p:cNvPr id="9" name="Text 7"/>
          <p:cNvSpPr/>
          <p:nvPr/>
        </p:nvSpPr>
        <p:spPr>
          <a:xfrm>
            <a:off x="6864311" y="3199567"/>
            <a:ext cx="5015186" cy="861060"/>
          </a:xfrm>
          <a:prstGeom prst="rect">
            <a:avLst/>
          </a:prstGeom>
          <a:noFill/>
          <a:ln/>
        </p:spPr>
        <p:txBody>
          <a:bodyPr wrap="square" lIns="25400" tIns="25400" rIns="25400" bIns="25400" rtlCol="0" anchor="t">
            <a:normAutofit lnSpcReduction="10000"/>
          </a:bodyPr>
          <a:lstStyle/>
          <a:p>
            <a:pPr marL="0" indent="0" algn="l">
              <a:lnSpc>
                <a:spcPct val="75000"/>
              </a:lnSpc>
              <a:buNone/>
            </a:pPr>
            <a:r>
              <a:rPr lang="en-US" sz="7200" b="1" dirty="0">
                <a:solidFill>
                  <a:srgbClr val="D3A518"/>
                </a:solidFill>
                <a:latin typeface="Abadi" panose="020B0604020104020204" pitchFamily="34" charset="0"/>
                <a:ea typeface="Lato" pitchFamily="34" charset="-122"/>
                <a:cs typeface="Lato" pitchFamily="34" charset="-120"/>
              </a:rPr>
              <a:t>2</a:t>
            </a:r>
            <a:endParaRPr lang="en-US" sz="7200" dirty="0"/>
          </a:p>
        </p:txBody>
      </p:sp>
      <p:sp>
        <p:nvSpPr>
          <p:cNvPr id="10" name="Text 8"/>
          <p:cNvSpPr/>
          <p:nvPr/>
        </p:nvSpPr>
        <p:spPr>
          <a:xfrm>
            <a:off x="6864311" y="4289227"/>
            <a:ext cx="4696038" cy="2049780"/>
          </a:xfrm>
          <a:prstGeom prst="rect">
            <a:avLst/>
          </a:prstGeom>
          <a:noFill/>
          <a:ln/>
        </p:spPr>
        <p:txBody>
          <a:bodyPr wrap="square" lIns="25400" tIns="25400" rIns="25400" bIns="25400" rtlCol="0" anchor="ctr">
            <a:normAutofit/>
          </a:bodyPr>
          <a:lstStyle/>
          <a:p>
            <a:pPr marL="0" indent="0">
              <a:lnSpc>
                <a:spcPct val="100000"/>
              </a:lnSpc>
              <a:buNone/>
            </a:pPr>
            <a:r>
              <a:rPr lang="en-US" sz="2800" b="1" dirty="0">
                <a:solidFill>
                  <a:srgbClr val="00051E"/>
                </a:solidFill>
                <a:latin typeface="Abadi" panose="020B0604020104020204" pitchFamily="34" charset="0"/>
                <a:ea typeface="Lato" pitchFamily="34" charset="-122"/>
                <a:cs typeface="Lato" pitchFamily="34" charset="-120"/>
              </a:rPr>
              <a:t>Agent health must be visible at enterprise level, not buried inside technical telemetry.</a:t>
            </a:r>
            <a:endParaRPr lang="en-US" sz="2800" dirty="0"/>
          </a:p>
        </p:txBody>
      </p:sp>
      <p:sp>
        <p:nvSpPr>
          <p:cNvPr id="11" name="Shape 9"/>
          <p:cNvSpPr/>
          <p:nvPr/>
        </p:nvSpPr>
        <p:spPr>
          <a:xfrm>
            <a:off x="12052221" y="2780467"/>
            <a:ext cx="5283161" cy="3939540"/>
          </a:xfrm>
          <a:prstGeom prst="roundRect">
            <a:avLst>
              <a:gd name="adj" fmla="val 1451"/>
            </a:avLst>
          </a:prstGeom>
          <a:solidFill>
            <a:srgbClr val="00051E"/>
          </a:solidFill>
          <a:ln/>
        </p:spPr>
        <p:txBody>
          <a:bodyPr/>
          <a:lstStyle/>
          <a:p>
            <a:endParaRPr lang="en-IN"/>
          </a:p>
        </p:txBody>
      </p:sp>
      <p:sp>
        <p:nvSpPr>
          <p:cNvPr id="12" name="Text 10"/>
          <p:cNvSpPr/>
          <p:nvPr/>
        </p:nvSpPr>
        <p:spPr>
          <a:xfrm>
            <a:off x="12414171" y="3199567"/>
            <a:ext cx="5015186" cy="861060"/>
          </a:xfrm>
          <a:prstGeom prst="rect">
            <a:avLst/>
          </a:prstGeom>
          <a:noFill/>
          <a:ln/>
        </p:spPr>
        <p:txBody>
          <a:bodyPr wrap="square" lIns="25400" tIns="25400" rIns="25400" bIns="25400" rtlCol="0" anchor="t">
            <a:normAutofit lnSpcReduction="10000"/>
          </a:bodyPr>
          <a:lstStyle/>
          <a:p>
            <a:pPr marL="0" indent="0" algn="l">
              <a:lnSpc>
                <a:spcPct val="75000"/>
              </a:lnSpc>
              <a:buNone/>
            </a:pPr>
            <a:r>
              <a:rPr lang="en-US" sz="7200" b="1" dirty="0">
                <a:solidFill>
                  <a:srgbClr val="D3A518"/>
                </a:solidFill>
                <a:latin typeface="Abadi" panose="020B0604020104020204" pitchFamily="34" charset="0"/>
                <a:ea typeface="Lato" pitchFamily="34" charset="-122"/>
                <a:cs typeface="Lato" pitchFamily="34" charset="-120"/>
              </a:rPr>
              <a:t>3</a:t>
            </a:r>
            <a:endParaRPr lang="en-US" sz="7200" dirty="0"/>
          </a:p>
        </p:txBody>
      </p:sp>
      <p:sp>
        <p:nvSpPr>
          <p:cNvPr id="13" name="Text 11"/>
          <p:cNvSpPr/>
          <p:nvPr/>
        </p:nvSpPr>
        <p:spPr>
          <a:xfrm>
            <a:off x="12414171" y="4289227"/>
            <a:ext cx="4696038" cy="1546860"/>
          </a:xfrm>
          <a:prstGeom prst="rect">
            <a:avLst/>
          </a:prstGeom>
          <a:noFill/>
          <a:ln/>
        </p:spPr>
        <p:txBody>
          <a:bodyPr wrap="square" lIns="25400" tIns="25400" rIns="25400" bIns="25400" rtlCol="0" anchor="ctr">
            <a:normAutofit/>
          </a:bodyPr>
          <a:lstStyle/>
          <a:p>
            <a:pPr marL="0" indent="0">
              <a:lnSpc>
                <a:spcPct val="100000"/>
              </a:lnSpc>
              <a:buNone/>
            </a:pPr>
            <a:r>
              <a:rPr lang="en-US" sz="2800" b="1" dirty="0">
                <a:solidFill>
                  <a:srgbClr val="FFFFFF"/>
                </a:solidFill>
                <a:latin typeface="Abadi" panose="020B0604020104020204" pitchFamily="34" charset="0"/>
                <a:ea typeface="Lato" pitchFamily="34" charset="-122"/>
                <a:cs typeface="Lato" pitchFamily="34" charset="-120"/>
              </a:rPr>
              <a:t>Greater autonomy should be earned through evidence.</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852617"/>
            <a:ext cx="1047750" cy="76200"/>
          </a:xfrm>
          <a:prstGeom prst="rect">
            <a:avLst/>
          </a:prstGeom>
          <a:solidFill>
            <a:srgbClr val="D3A518"/>
          </a:solidFill>
          <a:ln/>
        </p:spPr>
        <p:txBody>
          <a:bodyPr/>
          <a:lstStyle/>
          <a:p>
            <a:endParaRPr lang="en-IN"/>
          </a:p>
        </p:txBody>
      </p:sp>
      <p:sp>
        <p:nvSpPr>
          <p:cNvPr id="3" name="Text 1"/>
          <p:cNvSpPr/>
          <p:nvPr/>
        </p:nvSpPr>
        <p:spPr>
          <a:xfrm>
            <a:off x="952500" y="1359243"/>
            <a:ext cx="16344900" cy="561975"/>
          </a:xfrm>
          <a:prstGeom prst="rect">
            <a:avLst/>
          </a:prstGeom>
          <a:noFill/>
          <a:ln/>
        </p:spPr>
        <p:txBody>
          <a:bodyPr wrap="square" lIns="25400" tIns="25400" rIns="25400" bIns="25400" rtlCol="0" anchor="t">
            <a:normAutofit/>
          </a:bodyPr>
          <a:lstStyle/>
          <a:p>
            <a:pPr marL="0" indent="0" algn="l">
              <a:lnSpc>
                <a:spcPct val="104167"/>
              </a:lnSpc>
              <a:buNone/>
            </a:pPr>
            <a:r>
              <a:rPr lang="en-US" sz="3300" dirty="0">
                <a:solidFill>
                  <a:srgbClr val="FFFFFF">
                    <a:alpha val="80000"/>
                  </a:srgbClr>
                </a:solidFill>
                <a:latin typeface="Abadi" panose="020B0604020104020204" pitchFamily="34" charset="0"/>
                <a:ea typeface="Lato" pitchFamily="34" charset="-122"/>
                <a:cs typeface="Lato" pitchFamily="34" charset="-120"/>
              </a:rPr>
              <a:t>The future of enterprise AI will not be measured by how many agents we deploy.</a:t>
            </a:r>
            <a:endParaRPr lang="en-US" sz="3300" dirty="0"/>
          </a:p>
        </p:txBody>
      </p:sp>
      <p:sp>
        <p:nvSpPr>
          <p:cNvPr id="4" name="Text 2"/>
          <p:cNvSpPr/>
          <p:nvPr/>
        </p:nvSpPr>
        <p:spPr>
          <a:xfrm>
            <a:off x="952500" y="2264118"/>
            <a:ext cx="15304770" cy="1085850"/>
          </a:xfrm>
          <a:prstGeom prst="rect">
            <a:avLst/>
          </a:prstGeom>
          <a:noFill/>
          <a:ln/>
        </p:spPr>
        <p:txBody>
          <a:bodyPr wrap="square" lIns="25400" tIns="25400" rIns="25400" bIns="25400" rtlCol="0" anchor="t">
            <a:normAutofit/>
          </a:bodyPr>
          <a:lstStyle/>
          <a:p>
            <a:pPr marL="0" indent="0" algn="l">
              <a:lnSpc>
                <a:spcPct val="104167"/>
              </a:lnSpc>
              <a:buNone/>
            </a:pPr>
            <a:r>
              <a:rPr lang="en-US" sz="3300" b="1" dirty="0">
                <a:solidFill>
                  <a:srgbClr val="FFFFFF"/>
                </a:solidFill>
                <a:latin typeface="Abadi" panose="020B0604020104020204" pitchFamily="34" charset="0"/>
                <a:ea typeface="Lato" pitchFamily="34" charset="-122"/>
                <a:cs typeface="Lato" pitchFamily="34" charset="-120"/>
              </a:rPr>
              <a:t>It will be measured by how confidently we can decide which agents to trust, optimize, restrict and scale.</a:t>
            </a:r>
            <a:endParaRPr lang="en-US" sz="3300" dirty="0"/>
          </a:p>
        </p:txBody>
      </p:sp>
      <p:sp>
        <p:nvSpPr>
          <p:cNvPr id="5" name="Text 3"/>
          <p:cNvSpPr/>
          <p:nvPr/>
        </p:nvSpPr>
        <p:spPr>
          <a:xfrm>
            <a:off x="952500" y="7898130"/>
            <a:ext cx="9681210" cy="952500"/>
          </a:xfrm>
          <a:prstGeom prst="rect">
            <a:avLst/>
          </a:prstGeom>
          <a:noFill/>
          <a:ln/>
        </p:spPr>
        <p:txBody>
          <a:bodyPr wrap="square" lIns="25400" tIns="25400" rIns="25400" bIns="25400" rtlCol="0" anchor="ctr">
            <a:normAutofit lnSpcReduction="10000"/>
          </a:bodyPr>
          <a:lstStyle/>
          <a:p>
            <a:pPr marL="0" indent="0" algn="l">
              <a:lnSpc>
                <a:spcPct val="83333"/>
              </a:lnSpc>
              <a:buNone/>
            </a:pPr>
            <a:r>
              <a:rPr lang="en-US" sz="7200" b="1" kern="0" spc="300" dirty="0">
                <a:solidFill>
                  <a:srgbClr val="FFFFFF"/>
                </a:solidFill>
                <a:latin typeface="Abadi" panose="020B0604020104020204" pitchFamily="34" charset="0"/>
                <a:ea typeface="Lato" pitchFamily="34" charset="-122"/>
                <a:cs typeface="Lato" pitchFamily="34" charset="-120"/>
              </a:rPr>
              <a:t>BEYOND AGENTS</a:t>
            </a:r>
            <a:endParaRPr lang="en-US" sz="7200" spc="300" dirty="0"/>
          </a:p>
        </p:txBody>
      </p:sp>
      <p:sp>
        <p:nvSpPr>
          <p:cNvPr id="6" name="Text 4"/>
          <p:cNvSpPr/>
          <p:nvPr/>
        </p:nvSpPr>
        <p:spPr>
          <a:xfrm>
            <a:off x="952500" y="8983980"/>
            <a:ext cx="9681210" cy="541020"/>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3300" dirty="0">
                <a:solidFill>
                  <a:srgbClr val="D3A518"/>
                </a:solidFill>
                <a:latin typeface="Abadi" panose="020B0604020104020204" pitchFamily="34" charset="0"/>
                <a:ea typeface="Lato" pitchFamily="34" charset="-122"/>
                <a:cs typeface="Lato" pitchFamily="34" charset="-120"/>
              </a:rPr>
              <a:t>Measure Intelligence Before You Scale Autonomy.</a:t>
            </a:r>
            <a:endParaRPr lang="en-US" sz="3300" dirty="0"/>
          </a:p>
        </p:txBody>
      </p:sp>
      <p:pic>
        <p:nvPicPr>
          <p:cNvPr id="7" name="Image 0" descr="preencoded.png"/>
          <p:cNvPicPr>
            <a:picLocks noChangeAspect="1"/>
          </p:cNvPicPr>
          <p:nvPr/>
        </p:nvPicPr>
        <p:blipFill>
          <a:blip r:embed="rId3"/>
          <a:srcRect t="-3" b="-3"/>
          <a:stretch/>
        </p:blipFill>
        <p:spPr>
          <a:xfrm>
            <a:off x="15588853" y="8839200"/>
            <a:ext cx="1746647" cy="647700"/>
          </a:xfrm>
          <a:prstGeom prst="rect">
            <a:avLst/>
          </a:prstGeom>
        </p:spPr>
      </p:pic>
      <p:sp>
        <p:nvSpPr>
          <p:cNvPr id="9" name="Shape 12">
            <a:extLst>
              <a:ext uri="{FF2B5EF4-FFF2-40B4-BE49-F238E27FC236}">
                <a16:creationId xmlns:a16="http://schemas.microsoft.com/office/drawing/2014/main" id="{0880D2B6-48C3-2F5E-46E5-149863760C7B}"/>
              </a:ext>
            </a:extLst>
          </p:cNvPr>
          <p:cNvSpPr/>
          <p:nvPr/>
        </p:nvSpPr>
        <p:spPr>
          <a:xfrm>
            <a:off x="952500" y="3918364"/>
            <a:ext cx="16383000" cy="3105150"/>
          </a:xfrm>
          <a:prstGeom prst="roundRect">
            <a:avLst>
              <a:gd name="adj" fmla="val 1840"/>
            </a:avLst>
          </a:prstGeom>
          <a:solidFill>
            <a:srgbClr val="2E3349"/>
          </a:solidFill>
          <a:ln/>
        </p:spPr>
        <p:txBody>
          <a:bodyPr/>
          <a:lstStyle/>
          <a:p>
            <a:endParaRPr lang="en-IN"/>
          </a:p>
        </p:txBody>
      </p:sp>
      <p:sp>
        <p:nvSpPr>
          <p:cNvPr id="11" name="Text 13">
            <a:extLst>
              <a:ext uri="{FF2B5EF4-FFF2-40B4-BE49-F238E27FC236}">
                <a16:creationId xmlns:a16="http://schemas.microsoft.com/office/drawing/2014/main" id="{B6F4352C-1BE6-C5F8-0059-E722C9F4AFA9}"/>
              </a:ext>
            </a:extLst>
          </p:cNvPr>
          <p:cNvSpPr/>
          <p:nvPr/>
        </p:nvSpPr>
        <p:spPr>
          <a:xfrm>
            <a:off x="1447800" y="4870864"/>
            <a:ext cx="7184535" cy="1238250"/>
          </a:xfrm>
          <a:prstGeom prst="rect">
            <a:avLst/>
          </a:prstGeom>
          <a:noFill/>
          <a:ln/>
        </p:spPr>
        <p:txBody>
          <a:bodyPr wrap="square" lIns="25400" tIns="25400" rIns="25400" bIns="25400" rtlCol="0" anchor="ctr">
            <a:normAutofit lnSpcReduction="10000"/>
          </a:bodyPr>
          <a:lstStyle/>
          <a:p>
            <a:pPr marL="0" indent="0" algn="l">
              <a:lnSpc>
                <a:spcPct val="87500"/>
              </a:lnSpc>
              <a:buNone/>
            </a:pPr>
            <a:r>
              <a:rPr lang="en-US" sz="4500" b="1" kern="0" spc="300" dirty="0">
                <a:solidFill>
                  <a:srgbClr val="FFFFFF"/>
                </a:solidFill>
                <a:latin typeface="Abadi" panose="020B0604020104020204" pitchFamily="34" charset="0"/>
                <a:ea typeface="Lato" pitchFamily="34" charset="-122"/>
                <a:cs typeface="Lato" pitchFamily="34" charset="-120"/>
              </a:rPr>
              <a:t>THE MEASURABLE AI ENTERPRISE</a:t>
            </a:r>
            <a:endParaRPr lang="en-US" sz="4500" spc="300" dirty="0"/>
          </a:p>
        </p:txBody>
      </p:sp>
      <p:sp>
        <p:nvSpPr>
          <p:cNvPr id="13" name="Text 14">
            <a:extLst>
              <a:ext uri="{FF2B5EF4-FFF2-40B4-BE49-F238E27FC236}">
                <a16:creationId xmlns:a16="http://schemas.microsoft.com/office/drawing/2014/main" id="{A15750C8-6E5E-A554-A87C-E5C186756B21}"/>
              </a:ext>
            </a:extLst>
          </p:cNvPr>
          <p:cNvSpPr/>
          <p:nvPr/>
        </p:nvSpPr>
        <p:spPr>
          <a:xfrm>
            <a:off x="9089827" y="433746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agent observable.</a:t>
            </a:r>
            <a:endParaRPr lang="en-US" sz="2100" dirty="0"/>
          </a:p>
        </p:txBody>
      </p:sp>
      <p:sp>
        <p:nvSpPr>
          <p:cNvPr id="15" name="Text 15">
            <a:extLst>
              <a:ext uri="{FF2B5EF4-FFF2-40B4-BE49-F238E27FC236}">
                <a16:creationId xmlns:a16="http://schemas.microsoft.com/office/drawing/2014/main" id="{A73E6EFC-3DED-38BD-A66D-AD326F41F9B0}"/>
              </a:ext>
            </a:extLst>
          </p:cNvPr>
          <p:cNvSpPr/>
          <p:nvPr/>
        </p:nvSpPr>
        <p:spPr>
          <a:xfrm>
            <a:off x="9089827" y="481752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score explainable.</a:t>
            </a:r>
            <a:endParaRPr lang="en-US" sz="2100" dirty="0"/>
          </a:p>
        </p:txBody>
      </p:sp>
      <p:sp>
        <p:nvSpPr>
          <p:cNvPr id="17" name="Text 16">
            <a:extLst>
              <a:ext uri="{FF2B5EF4-FFF2-40B4-BE49-F238E27FC236}">
                <a16:creationId xmlns:a16="http://schemas.microsoft.com/office/drawing/2014/main" id="{9F84130B-F55B-32BD-8406-A435BC98AE20}"/>
              </a:ext>
            </a:extLst>
          </p:cNvPr>
          <p:cNvSpPr/>
          <p:nvPr/>
        </p:nvSpPr>
        <p:spPr>
          <a:xfrm>
            <a:off x="9089827" y="529758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risk visible.</a:t>
            </a:r>
            <a:endParaRPr lang="en-US" sz="2100" dirty="0"/>
          </a:p>
        </p:txBody>
      </p:sp>
      <p:sp>
        <p:nvSpPr>
          <p:cNvPr id="19" name="Text 17">
            <a:extLst>
              <a:ext uri="{FF2B5EF4-FFF2-40B4-BE49-F238E27FC236}">
                <a16:creationId xmlns:a16="http://schemas.microsoft.com/office/drawing/2014/main" id="{02C3267D-D817-BE31-F46B-720E0AF23B67}"/>
              </a:ext>
            </a:extLst>
          </p:cNvPr>
          <p:cNvSpPr/>
          <p:nvPr/>
        </p:nvSpPr>
        <p:spPr>
          <a:xfrm>
            <a:off x="9089827" y="5777644"/>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optimization evidence-based.</a:t>
            </a:r>
            <a:endParaRPr lang="en-US" sz="2100" dirty="0"/>
          </a:p>
        </p:txBody>
      </p:sp>
      <p:sp>
        <p:nvSpPr>
          <p:cNvPr id="21" name="Text 18">
            <a:extLst>
              <a:ext uri="{FF2B5EF4-FFF2-40B4-BE49-F238E27FC236}">
                <a16:creationId xmlns:a16="http://schemas.microsoft.com/office/drawing/2014/main" id="{2C78BDFB-016C-C6F2-C2D4-B9CB1E462E54}"/>
              </a:ext>
            </a:extLst>
          </p:cNvPr>
          <p:cNvSpPr/>
          <p:nvPr/>
        </p:nvSpPr>
        <p:spPr>
          <a:xfrm>
            <a:off x="9089827" y="6257703"/>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b="1" dirty="0">
                <a:solidFill>
                  <a:srgbClr val="D3A518"/>
                </a:solidFill>
                <a:latin typeface="Abadi" panose="020B0604020104020204" pitchFamily="34" charset="0"/>
                <a:ea typeface="Lato" pitchFamily="34" charset="-122"/>
                <a:cs typeface="Lato" pitchFamily="34" charset="-120"/>
              </a:rPr>
              <a:t>Every increase in autonomy deliberate.</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a:extLst>
            <a:ext uri="{FF2B5EF4-FFF2-40B4-BE49-F238E27FC236}">
              <a16:creationId xmlns:a16="http://schemas.microsoft.com/office/drawing/2014/main" id="{AE2FABB6-5527-B1DD-3EC9-2326505D4AD5}"/>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E29A486C-9E1F-CA7B-DB62-02328CD1CA65}"/>
              </a:ext>
            </a:extLst>
          </p:cNvPr>
          <p:cNvSpPr txBox="1"/>
          <p:nvPr/>
        </p:nvSpPr>
        <p:spPr>
          <a:xfrm>
            <a:off x="1943100" y="1828800"/>
            <a:ext cx="14401800" cy="1569660"/>
          </a:xfrm>
          <a:prstGeom prst="rect">
            <a:avLst/>
          </a:prstGeom>
          <a:noFill/>
        </p:spPr>
        <p:txBody>
          <a:bodyPr wrap="square" rtlCol="0">
            <a:spAutoFit/>
          </a:bodyPr>
          <a:lstStyle/>
          <a:p>
            <a:pPr algn="ctr"/>
            <a:r>
              <a:rPr lang="en-IN" sz="9600" b="1" spc="300" dirty="0">
                <a:solidFill>
                  <a:schemeClr val="bg1"/>
                </a:solidFill>
                <a:latin typeface="Abadi" panose="020B0604020104020204" pitchFamily="34" charset="0"/>
              </a:rPr>
              <a:t>Thank You !</a:t>
            </a:r>
          </a:p>
        </p:txBody>
      </p:sp>
      <p:pic>
        <p:nvPicPr>
          <p:cNvPr id="16" name="Image 0" descr="preencoded.png">
            <a:extLst>
              <a:ext uri="{FF2B5EF4-FFF2-40B4-BE49-F238E27FC236}">
                <a16:creationId xmlns:a16="http://schemas.microsoft.com/office/drawing/2014/main" id="{E564AB75-0B81-B9DC-58A7-663432DDD65C}"/>
              </a:ext>
            </a:extLst>
          </p:cNvPr>
          <p:cNvPicPr>
            <a:picLocks noChangeAspect="1"/>
          </p:cNvPicPr>
          <p:nvPr/>
        </p:nvPicPr>
        <p:blipFill>
          <a:blip r:embed="rId3"/>
          <a:srcRect t="-3" b="-3"/>
          <a:stretch/>
        </p:blipFill>
        <p:spPr>
          <a:xfrm>
            <a:off x="1279848" y="3978632"/>
            <a:ext cx="15728304" cy="5819818"/>
          </a:xfrm>
          <a:prstGeom prst="rect">
            <a:avLst/>
          </a:prstGeom>
        </p:spPr>
      </p:pic>
    </p:spTree>
    <p:extLst>
      <p:ext uri="{BB962C8B-B14F-4D97-AF65-F5344CB8AC3E}">
        <p14:creationId xmlns:p14="http://schemas.microsoft.com/office/powerpoint/2010/main" val="2258375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914400"/>
            <a:ext cx="838200" cy="57150"/>
          </a:xfrm>
          <a:prstGeom prst="rect">
            <a:avLst/>
          </a:prstGeom>
          <a:solidFill>
            <a:srgbClr val="D3A518"/>
          </a:solidFill>
          <a:ln/>
        </p:spPr>
        <p:txBody>
          <a:bodyPr/>
          <a:lstStyle/>
          <a:p>
            <a:endParaRPr lang="en-IN"/>
          </a:p>
        </p:txBody>
      </p:sp>
      <p:sp>
        <p:nvSpPr>
          <p:cNvPr id="3" name="Text 1"/>
          <p:cNvSpPr/>
          <p:nvPr/>
        </p:nvSpPr>
        <p:spPr>
          <a:xfrm>
            <a:off x="952500" y="1162050"/>
            <a:ext cx="18021300" cy="696397"/>
          </a:xfrm>
          <a:prstGeom prst="rect">
            <a:avLst/>
          </a:prstGeom>
          <a:noFill/>
          <a:ln/>
        </p:spPr>
        <p:txBody>
          <a:bodyPr wrap="square" lIns="25400" tIns="25400" rIns="25400" bIns="25400" rtlCol="0" anchor="t">
            <a:normAutofit lnSpcReduction="10000"/>
          </a:bodyPr>
          <a:lstStyle/>
          <a:p>
            <a:pPr marL="0" indent="0" algn="l">
              <a:lnSpc>
                <a:spcPct val="90000"/>
              </a:lnSpc>
              <a:buNone/>
            </a:pPr>
            <a:r>
              <a:rPr lang="en-US" sz="4800" b="1" kern="0" spc="-72" dirty="0">
                <a:solidFill>
                  <a:srgbClr val="FFFFFF"/>
                </a:solidFill>
                <a:latin typeface="Abadi" panose="020B0604020104020204" pitchFamily="34" charset="0"/>
                <a:ea typeface="Lato" pitchFamily="34" charset="-122"/>
                <a:cs typeface="Lato" pitchFamily="34" charset="-120"/>
              </a:rPr>
              <a:t>We are building an AI workforce.</a:t>
            </a:r>
            <a:endParaRPr lang="en-US" sz="4800" dirty="0"/>
          </a:p>
        </p:txBody>
      </p:sp>
      <p:sp>
        <p:nvSpPr>
          <p:cNvPr id="4" name="Text 2"/>
          <p:cNvSpPr/>
          <p:nvPr/>
        </p:nvSpPr>
        <p:spPr>
          <a:xfrm>
            <a:off x="952500" y="2010847"/>
            <a:ext cx="18021300" cy="520065"/>
          </a:xfrm>
          <a:prstGeom prst="rect">
            <a:avLst/>
          </a:prstGeom>
          <a:noFill/>
          <a:ln/>
        </p:spPr>
        <p:txBody>
          <a:bodyPr wrap="square" lIns="25400" tIns="25400" rIns="25400" bIns="25400" rtlCol="0" anchor="t">
            <a:normAutofit lnSpcReduction="10000"/>
          </a:bodyPr>
          <a:lstStyle/>
          <a:p>
            <a:pPr marL="0" indent="0" algn="l">
              <a:lnSpc>
                <a:spcPct val="95833"/>
              </a:lnSpc>
              <a:buNone/>
            </a:pPr>
            <a:r>
              <a:rPr lang="en-US" sz="3300" dirty="0">
                <a:solidFill>
                  <a:srgbClr val="D3A518"/>
                </a:solidFill>
                <a:latin typeface="Abadi" panose="020B0604020104020204" pitchFamily="34" charset="0"/>
                <a:ea typeface="Lato" pitchFamily="34" charset="-122"/>
                <a:cs typeface="Lato" pitchFamily="34" charset="-120"/>
              </a:rPr>
              <a:t>Every workforce needs performance management.</a:t>
            </a:r>
            <a:endParaRPr lang="en-US" sz="3300" dirty="0"/>
          </a:p>
        </p:txBody>
      </p:sp>
      <p:sp>
        <p:nvSpPr>
          <p:cNvPr id="5" name="Shape 3"/>
          <p:cNvSpPr/>
          <p:nvPr/>
        </p:nvSpPr>
        <p:spPr>
          <a:xfrm>
            <a:off x="952500" y="3026212"/>
            <a:ext cx="5283161" cy="15240"/>
          </a:xfrm>
          <a:prstGeom prst="rect">
            <a:avLst/>
          </a:prstGeom>
          <a:solidFill>
            <a:srgbClr val="FFFFFF">
              <a:alpha val="25000"/>
            </a:srgbClr>
          </a:solidFill>
          <a:ln/>
        </p:spPr>
        <p:txBody>
          <a:bodyPr/>
          <a:lstStyle/>
          <a:p>
            <a:endParaRPr lang="en-IN"/>
          </a:p>
        </p:txBody>
      </p:sp>
      <p:sp>
        <p:nvSpPr>
          <p:cNvPr id="6" name="Text 4"/>
          <p:cNvSpPr/>
          <p:nvPr/>
        </p:nvSpPr>
        <p:spPr>
          <a:xfrm>
            <a:off x="952500" y="3270052"/>
            <a:ext cx="5811477"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52" dirty="0">
                <a:solidFill>
                  <a:srgbClr val="FFFFFF">
                    <a:alpha val="55000"/>
                  </a:srgbClr>
                </a:solidFill>
                <a:latin typeface="Abadi" panose="020B0604020104020204" pitchFamily="34" charset="0"/>
                <a:ea typeface="Lato" pitchFamily="34" charset="-122"/>
                <a:cs typeface="Lato" pitchFamily="34" charset="-120"/>
              </a:rPr>
              <a:t>YESTERDAY</a:t>
            </a:r>
            <a:endParaRPr lang="en-US" sz="1800" dirty="0"/>
          </a:p>
        </p:txBody>
      </p:sp>
      <p:sp>
        <p:nvSpPr>
          <p:cNvPr id="7" name="Text 5"/>
          <p:cNvSpPr/>
          <p:nvPr/>
        </p:nvSpPr>
        <p:spPr>
          <a:xfrm>
            <a:off x="952500" y="3677722"/>
            <a:ext cx="5811477" cy="371475"/>
          </a:xfrm>
          <a:prstGeom prst="rect">
            <a:avLst/>
          </a:prstGeom>
          <a:noFill/>
          <a:ln/>
        </p:spPr>
        <p:txBody>
          <a:bodyPr wrap="square" lIns="25400" tIns="25400" rIns="25400" bIns="25400" rtlCol="0" anchor="ctr">
            <a:normAutofit/>
          </a:bodyPr>
          <a:lstStyle/>
          <a:p>
            <a:pPr marL="0" indent="0" algn="l">
              <a:lnSpc>
                <a:spcPct val="104167"/>
              </a:lnSpc>
              <a:buNone/>
            </a:pPr>
            <a:r>
              <a:rPr lang="en-US" sz="2100" dirty="0">
                <a:solidFill>
                  <a:srgbClr val="FFFFFF">
                    <a:alpha val="80000"/>
                  </a:srgbClr>
                </a:solidFill>
                <a:latin typeface="Abadi" panose="020B0604020104020204" pitchFamily="34" charset="0"/>
                <a:ea typeface="Lato" pitchFamily="34" charset="-122"/>
                <a:cs typeface="Lato" pitchFamily="34" charset="-120"/>
              </a:rPr>
              <a:t>Can AI do the work?</a:t>
            </a:r>
            <a:endParaRPr lang="en-US" sz="2100" dirty="0"/>
          </a:p>
        </p:txBody>
      </p:sp>
      <p:sp>
        <p:nvSpPr>
          <p:cNvPr id="8" name="Shape 6"/>
          <p:cNvSpPr/>
          <p:nvPr/>
        </p:nvSpPr>
        <p:spPr>
          <a:xfrm>
            <a:off x="6502361" y="3026212"/>
            <a:ext cx="5283161" cy="15240"/>
          </a:xfrm>
          <a:prstGeom prst="rect">
            <a:avLst/>
          </a:prstGeom>
          <a:solidFill>
            <a:srgbClr val="FFFFFF">
              <a:alpha val="25000"/>
            </a:srgbClr>
          </a:solidFill>
          <a:ln/>
        </p:spPr>
        <p:txBody>
          <a:bodyPr/>
          <a:lstStyle/>
          <a:p>
            <a:endParaRPr lang="en-IN"/>
          </a:p>
        </p:txBody>
      </p:sp>
      <p:sp>
        <p:nvSpPr>
          <p:cNvPr id="9" name="Text 7"/>
          <p:cNvSpPr/>
          <p:nvPr/>
        </p:nvSpPr>
        <p:spPr>
          <a:xfrm>
            <a:off x="6502361" y="3270052"/>
            <a:ext cx="5811477" cy="312420"/>
          </a:xfrm>
          <a:prstGeom prst="rect">
            <a:avLst/>
          </a:prstGeom>
          <a:noFill/>
          <a:ln/>
        </p:spPr>
        <p:txBody>
          <a:bodyPr wrap="square" lIns="25400" tIns="25400" rIns="25400" bIns="25400" rtlCol="0" anchor="ctr">
            <a:normAutofit lnSpcReduction="10000"/>
          </a:bodyPr>
          <a:lstStyle/>
          <a:p>
            <a:pPr marL="0" indent="0" algn="l">
              <a:buNone/>
            </a:pPr>
            <a:r>
              <a:rPr lang="en-US" sz="1800" b="1" kern="0" spc="252" dirty="0">
                <a:solidFill>
                  <a:srgbClr val="FFFFFF">
                    <a:alpha val="55000"/>
                  </a:srgbClr>
                </a:solidFill>
                <a:latin typeface="Abadi" panose="020B0604020104020204" pitchFamily="34" charset="0"/>
                <a:ea typeface="Lato" pitchFamily="34" charset="-122"/>
                <a:cs typeface="Lato" pitchFamily="34" charset="-120"/>
              </a:rPr>
              <a:t>TODAY</a:t>
            </a:r>
            <a:endParaRPr lang="en-US" sz="1800" dirty="0"/>
          </a:p>
        </p:txBody>
      </p:sp>
      <p:sp>
        <p:nvSpPr>
          <p:cNvPr id="10" name="Text 8"/>
          <p:cNvSpPr/>
          <p:nvPr/>
        </p:nvSpPr>
        <p:spPr>
          <a:xfrm>
            <a:off x="6502361" y="3677722"/>
            <a:ext cx="5811477" cy="371475"/>
          </a:xfrm>
          <a:prstGeom prst="rect">
            <a:avLst/>
          </a:prstGeom>
          <a:noFill/>
          <a:ln/>
        </p:spPr>
        <p:txBody>
          <a:bodyPr wrap="square" lIns="25400" tIns="25400" rIns="25400" bIns="25400" rtlCol="0" anchor="ctr">
            <a:normAutofit/>
          </a:bodyPr>
          <a:lstStyle/>
          <a:p>
            <a:pPr marL="0" indent="0" algn="l">
              <a:lnSpc>
                <a:spcPct val="104167"/>
              </a:lnSpc>
              <a:buNone/>
            </a:pPr>
            <a:r>
              <a:rPr lang="en-US" sz="2100" dirty="0">
                <a:solidFill>
                  <a:srgbClr val="FFFFFF">
                    <a:alpha val="80000"/>
                  </a:srgbClr>
                </a:solidFill>
                <a:latin typeface="Abadi" panose="020B0604020104020204" pitchFamily="34" charset="0"/>
                <a:ea typeface="Lato" pitchFamily="34" charset="-122"/>
                <a:cs typeface="Lato" pitchFamily="34" charset="-120"/>
              </a:rPr>
              <a:t>Can agents execute the work?</a:t>
            </a:r>
            <a:endParaRPr lang="en-US" sz="2100" dirty="0"/>
          </a:p>
        </p:txBody>
      </p:sp>
      <p:sp>
        <p:nvSpPr>
          <p:cNvPr id="11" name="Shape 9"/>
          <p:cNvSpPr/>
          <p:nvPr/>
        </p:nvSpPr>
        <p:spPr>
          <a:xfrm>
            <a:off x="12052221" y="3026212"/>
            <a:ext cx="5283161" cy="15240"/>
          </a:xfrm>
          <a:prstGeom prst="rect">
            <a:avLst/>
          </a:prstGeom>
          <a:solidFill>
            <a:srgbClr val="D3A518"/>
          </a:solidFill>
          <a:ln/>
        </p:spPr>
        <p:txBody>
          <a:bodyPr/>
          <a:lstStyle/>
          <a:p>
            <a:endParaRPr lang="en-IN"/>
          </a:p>
        </p:txBody>
      </p:sp>
      <p:sp>
        <p:nvSpPr>
          <p:cNvPr id="12" name="Text 10"/>
          <p:cNvSpPr/>
          <p:nvPr/>
        </p:nvSpPr>
        <p:spPr>
          <a:xfrm>
            <a:off x="12052221" y="3270052"/>
            <a:ext cx="5811477"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3A518"/>
                </a:solidFill>
                <a:latin typeface="Abadi" panose="020B0604020104020204" pitchFamily="34" charset="0"/>
                <a:ea typeface="Lato" pitchFamily="34" charset="-122"/>
                <a:cs typeface="Lato" pitchFamily="34" charset="-120"/>
              </a:rPr>
              <a:t>TOMORROW</a:t>
            </a:r>
            <a:endParaRPr lang="en-US" sz="1800" dirty="0"/>
          </a:p>
        </p:txBody>
      </p:sp>
      <p:sp>
        <p:nvSpPr>
          <p:cNvPr id="13" name="Text 11"/>
          <p:cNvSpPr/>
          <p:nvPr/>
        </p:nvSpPr>
        <p:spPr>
          <a:xfrm>
            <a:off x="12052221" y="3677722"/>
            <a:ext cx="5811477" cy="499110"/>
          </a:xfrm>
          <a:prstGeom prst="rect">
            <a:avLst/>
          </a:prstGeom>
          <a:noFill/>
          <a:ln/>
        </p:spPr>
        <p:txBody>
          <a:bodyPr wrap="square" lIns="25400" tIns="25400" rIns="25400" bIns="25400" rtlCol="0" anchor="t">
            <a:normAutofit lnSpcReduction="10000"/>
          </a:bodyPr>
          <a:lstStyle/>
          <a:p>
            <a:pPr marL="0" indent="0" algn="l">
              <a:lnSpc>
                <a:spcPct val="91667"/>
              </a:lnSpc>
              <a:buNone/>
            </a:pPr>
            <a:r>
              <a:rPr lang="en-US" sz="3300" b="1" dirty="0">
                <a:solidFill>
                  <a:srgbClr val="FFFFFF"/>
                </a:solidFill>
                <a:latin typeface="Abadi" panose="020B0604020104020204" pitchFamily="34" charset="0"/>
                <a:ea typeface="Lato" pitchFamily="34" charset="-122"/>
                <a:cs typeface="Lato" pitchFamily="34" charset="-120"/>
              </a:rPr>
              <a:t>Can we prove they should?</a:t>
            </a:r>
            <a:endParaRPr lang="en-US" sz="3300" dirty="0"/>
          </a:p>
        </p:txBody>
      </p:sp>
      <p:sp>
        <p:nvSpPr>
          <p:cNvPr id="14" name="Shape 12"/>
          <p:cNvSpPr/>
          <p:nvPr/>
        </p:nvSpPr>
        <p:spPr>
          <a:xfrm>
            <a:off x="952500" y="4672132"/>
            <a:ext cx="16383000" cy="3105150"/>
          </a:xfrm>
          <a:prstGeom prst="roundRect">
            <a:avLst>
              <a:gd name="adj" fmla="val 1840"/>
            </a:avLst>
          </a:prstGeom>
          <a:solidFill>
            <a:srgbClr val="2E3349"/>
          </a:solidFill>
          <a:ln/>
        </p:spPr>
        <p:txBody>
          <a:bodyPr/>
          <a:lstStyle/>
          <a:p>
            <a:endParaRPr lang="en-IN"/>
          </a:p>
        </p:txBody>
      </p:sp>
      <p:sp>
        <p:nvSpPr>
          <p:cNvPr id="15" name="Text 13"/>
          <p:cNvSpPr/>
          <p:nvPr/>
        </p:nvSpPr>
        <p:spPr>
          <a:xfrm>
            <a:off x="1447800" y="5624632"/>
            <a:ext cx="7184535" cy="1238250"/>
          </a:xfrm>
          <a:prstGeom prst="rect">
            <a:avLst/>
          </a:prstGeom>
          <a:noFill/>
          <a:ln/>
        </p:spPr>
        <p:txBody>
          <a:bodyPr wrap="square" lIns="25400" tIns="25400" rIns="25400" bIns="25400" rtlCol="0" anchor="ctr">
            <a:normAutofit lnSpcReduction="10000"/>
          </a:bodyPr>
          <a:lstStyle/>
          <a:p>
            <a:pPr marL="0" indent="0" algn="l">
              <a:lnSpc>
                <a:spcPct val="87500"/>
              </a:lnSpc>
              <a:buNone/>
            </a:pPr>
            <a:r>
              <a:rPr lang="en-US" sz="4500" b="1" kern="0" spc="300" dirty="0">
                <a:solidFill>
                  <a:srgbClr val="FFFFFF"/>
                </a:solidFill>
                <a:latin typeface="Abadi" panose="020B0604020104020204" pitchFamily="34" charset="0"/>
                <a:ea typeface="Lato" pitchFamily="34" charset="-122"/>
                <a:cs typeface="Lato" pitchFamily="34" charset="-120"/>
              </a:rPr>
              <a:t>THE MEASURABLE AI ENTERPRISE</a:t>
            </a:r>
            <a:endParaRPr lang="en-US" sz="4500" spc="300" dirty="0"/>
          </a:p>
        </p:txBody>
      </p:sp>
      <p:sp>
        <p:nvSpPr>
          <p:cNvPr id="16" name="Text 14"/>
          <p:cNvSpPr/>
          <p:nvPr/>
        </p:nvSpPr>
        <p:spPr>
          <a:xfrm>
            <a:off x="9089827" y="5091232"/>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agent observable.</a:t>
            </a:r>
            <a:endParaRPr lang="en-US" sz="2100" dirty="0"/>
          </a:p>
        </p:txBody>
      </p:sp>
      <p:sp>
        <p:nvSpPr>
          <p:cNvPr id="17" name="Text 15"/>
          <p:cNvSpPr/>
          <p:nvPr/>
        </p:nvSpPr>
        <p:spPr>
          <a:xfrm>
            <a:off x="9089827" y="5571292"/>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score explainable.</a:t>
            </a:r>
            <a:endParaRPr lang="en-US" sz="2100" dirty="0"/>
          </a:p>
        </p:txBody>
      </p:sp>
      <p:sp>
        <p:nvSpPr>
          <p:cNvPr id="18" name="Text 16"/>
          <p:cNvSpPr/>
          <p:nvPr/>
        </p:nvSpPr>
        <p:spPr>
          <a:xfrm>
            <a:off x="9089827" y="6051352"/>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risk visible.</a:t>
            </a:r>
            <a:endParaRPr lang="en-US" sz="2100" dirty="0"/>
          </a:p>
        </p:txBody>
      </p:sp>
      <p:sp>
        <p:nvSpPr>
          <p:cNvPr id="19" name="Text 17"/>
          <p:cNvSpPr/>
          <p:nvPr/>
        </p:nvSpPr>
        <p:spPr>
          <a:xfrm>
            <a:off x="9089827" y="6531412"/>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dirty="0">
                <a:solidFill>
                  <a:srgbClr val="FFFFFF"/>
                </a:solidFill>
                <a:latin typeface="Abadi" panose="020B0604020104020204" pitchFamily="34" charset="0"/>
                <a:ea typeface="Lato" pitchFamily="34" charset="-122"/>
                <a:cs typeface="Lato" pitchFamily="34" charset="-120"/>
              </a:rPr>
              <a:t>Every optimization evidence-based.</a:t>
            </a:r>
            <a:endParaRPr lang="en-US" sz="2100" dirty="0"/>
          </a:p>
        </p:txBody>
      </p:sp>
      <p:sp>
        <p:nvSpPr>
          <p:cNvPr id="20" name="Text 18"/>
          <p:cNvSpPr/>
          <p:nvPr/>
        </p:nvSpPr>
        <p:spPr>
          <a:xfrm>
            <a:off x="9089827" y="7011471"/>
            <a:ext cx="8525411" cy="384810"/>
          </a:xfrm>
          <a:prstGeom prst="rect">
            <a:avLst/>
          </a:prstGeom>
          <a:noFill/>
          <a:ln/>
        </p:spPr>
        <p:txBody>
          <a:bodyPr wrap="square" lIns="25400" tIns="25400" rIns="25400" bIns="25400" rtlCol="0" anchor="t">
            <a:normAutofit/>
          </a:bodyPr>
          <a:lstStyle/>
          <a:p>
            <a:pPr marL="0" indent="0" algn="l">
              <a:lnSpc>
                <a:spcPct val="108333"/>
              </a:lnSpc>
              <a:buNone/>
            </a:pPr>
            <a:r>
              <a:rPr lang="en-US" sz="2100" b="1" dirty="0">
                <a:solidFill>
                  <a:srgbClr val="D3A518"/>
                </a:solidFill>
                <a:latin typeface="Abadi" panose="020B0604020104020204" pitchFamily="34" charset="0"/>
                <a:ea typeface="Lato" pitchFamily="34" charset="-122"/>
                <a:cs typeface="Lato" pitchFamily="34" charset="-120"/>
              </a:rPr>
              <a:t>Every increase in autonomy deliberate.</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51E"/>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EE94D8D-BC47-413E-91AB-A2FCCE172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4"/>
          <p:cNvSpPr/>
          <p:nvPr/>
        </p:nvSpPr>
        <p:spPr>
          <a:xfrm>
            <a:off x="1257300" y="5676103"/>
            <a:ext cx="15773400" cy="1638075"/>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4000" b="1" kern="1200" spc="300" dirty="0">
                <a:solidFill>
                  <a:schemeClr val="bg1"/>
                </a:solidFill>
                <a:latin typeface="Abadi" panose="020B0604020104020204" pitchFamily="34" charset="0"/>
                <a:ea typeface="+mj-ea"/>
                <a:cs typeface="+mj-cs"/>
              </a:rPr>
              <a:t>Measure Intelligence Before You Scale Autonomy</a:t>
            </a:r>
            <a:endParaRPr lang="en-US" sz="4000" kern="1200" spc="300" dirty="0">
              <a:solidFill>
                <a:schemeClr val="bg1"/>
              </a:solidFill>
              <a:latin typeface="Abadi" panose="020B0604020104020204" pitchFamily="34" charset="0"/>
              <a:ea typeface="+mj-ea"/>
              <a:cs typeface="+mj-cs"/>
            </a:endParaRPr>
          </a:p>
        </p:txBody>
      </p:sp>
      <p:sp useBgFill="1">
        <p:nvSpPr>
          <p:cNvPr id="15" name="Rectangle 14">
            <a:extLst>
              <a:ext uri="{FF2B5EF4-FFF2-40B4-BE49-F238E27FC236}">
                <a16:creationId xmlns:a16="http://schemas.microsoft.com/office/drawing/2014/main" id="{284A8429-F65A-490D-96E4-1158D3E8A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7298" y="8162656"/>
            <a:ext cx="15773399" cy="1234440"/>
          </a:xfrm>
          <a:prstGeom prst="rect">
            <a:avLst/>
          </a:prstGeom>
          <a:ln w="12700">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AC89EF63-DABE-E3DA-6AC5-8054A83CF776}"/>
              </a:ext>
            </a:extLst>
          </p:cNvPr>
          <p:cNvSpPr txBox="1"/>
          <p:nvPr/>
        </p:nvSpPr>
        <p:spPr>
          <a:xfrm>
            <a:off x="1830133" y="8336484"/>
            <a:ext cx="14627735" cy="873918"/>
          </a:xfrm>
          <a:prstGeom prst="rect">
            <a:avLst/>
          </a:prstGeom>
        </p:spPr>
        <p:txBody>
          <a:bodyPr vert="horz" lIns="91440" tIns="45720" rIns="91440" bIns="45720" rtlCol="0" anchor="ctr">
            <a:normAutofit/>
          </a:bodyPr>
          <a:lstStyle/>
          <a:p>
            <a:pPr algn="ctr">
              <a:lnSpc>
                <a:spcPct val="90000"/>
              </a:lnSpc>
              <a:spcBef>
                <a:spcPts val="1000"/>
              </a:spcBef>
            </a:pPr>
            <a:r>
              <a:rPr lang="en-US" sz="3600" b="1" i="1" kern="1200" spc="300" dirty="0">
                <a:solidFill>
                  <a:schemeClr val="bg1"/>
                </a:solidFill>
                <a:latin typeface="+mn-lt"/>
                <a:ea typeface="+mn-ea"/>
                <a:cs typeface="+mn-cs"/>
              </a:rPr>
              <a:t>Speaker – PVR,  CEO &amp; Managing Director </a:t>
            </a:r>
            <a:r>
              <a:rPr lang="en-US" sz="3600" b="1" kern="1200" spc="300" dirty="0">
                <a:solidFill>
                  <a:srgbClr val="FF0000"/>
                </a:solidFill>
                <a:latin typeface="+mn-lt"/>
                <a:ea typeface="+mn-ea"/>
                <a:cs typeface="+mn-cs"/>
              </a:rPr>
              <a:t>|</a:t>
            </a:r>
            <a:r>
              <a:rPr lang="en-US" sz="3600" b="1" i="1" kern="1200" spc="300" dirty="0">
                <a:solidFill>
                  <a:schemeClr val="bg1"/>
                </a:solidFill>
                <a:latin typeface="+mn-lt"/>
                <a:ea typeface="+mn-ea"/>
                <a:cs typeface="+mn-cs"/>
              </a:rPr>
              <a:t> </a:t>
            </a:r>
            <a:r>
              <a:rPr lang="en-US" sz="3600" b="1" kern="1200" spc="300" dirty="0">
                <a:solidFill>
                  <a:schemeClr val="bg1"/>
                </a:solidFill>
                <a:latin typeface="+mn-lt"/>
                <a:ea typeface="+mn-ea"/>
                <a:cs typeface="+mn-cs"/>
              </a:rPr>
              <a:t>Intelligenz IT</a:t>
            </a:r>
          </a:p>
        </p:txBody>
      </p:sp>
      <p:pic>
        <p:nvPicPr>
          <p:cNvPr id="2" name="Image 0" descr="preencoded.png"/>
          <p:cNvPicPr>
            <a:picLocks noChangeAspect="1"/>
          </p:cNvPicPr>
          <p:nvPr/>
        </p:nvPicPr>
        <p:blipFill>
          <a:blip r:embed="rId3"/>
          <a:srcRect t="-3" b="-3"/>
          <a:stretch/>
        </p:blipFill>
        <p:spPr>
          <a:xfrm>
            <a:off x="1279845" y="429903"/>
            <a:ext cx="15728304" cy="5819818"/>
          </a:xfrm>
          <a:prstGeom prst="rect">
            <a:avLst/>
          </a:prstGeom>
        </p:spPr>
      </p:pic>
      <p:sp>
        <p:nvSpPr>
          <p:cNvPr id="17" name="Rectangle 16">
            <a:extLst>
              <a:ext uri="{FF2B5EF4-FFF2-40B4-BE49-F238E27FC236}">
                <a16:creationId xmlns:a16="http://schemas.microsoft.com/office/drawing/2014/main" id="{0F022291-A82B-4D23-A1E0-5F9BD68466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061704" y="8858564"/>
            <a:ext cx="164592" cy="1097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00051E"/>
        </a:solidFill>
        <a:effectLst/>
      </p:bgPr>
    </p:bg>
    <p:spTree>
      <p:nvGrpSpPr>
        <p:cNvPr id="1" name=""/>
        <p:cNvGrpSpPr/>
        <p:nvPr/>
      </p:nvGrpSpPr>
      <p:grpSpPr>
        <a:xfrm>
          <a:off x="0" y="0"/>
          <a:ext cx="0" cy="0"/>
          <a:chOff x="0" y="0"/>
          <a:chExt cx="0" cy="0"/>
        </a:xfrm>
      </p:grpSpPr>
      <p:sp>
        <p:nvSpPr>
          <p:cNvPr id="2" name="Shape 0"/>
          <p:cNvSpPr/>
          <p:nvPr/>
        </p:nvSpPr>
        <p:spPr>
          <a:xfrm>
            <a:off x="952500" y="1977088"/>
            <a:ext cx="838200" cy="57150"/>
          </a:xfrm>
          <a:prstGeom prst="rect">
            <a:avLst/>
          </a:prstGeom>
          <a:solidFill>
            <a:srgbClr val="D3A518"/>
          </a:solidFill>
          <a:ln/>
        </p:spPr>
        <p:txBody>
          <a:bodyPr/>
          <a:lstStyle/>
          <a:p>
            <a:endParaRPr lang="en-IN"/>
          </a:p>
        </p:txBody>
      </p:sp>
      <p:sp>
        <p:nvSpPr>
          <p:cNvPr id="3" name="Text 1"/>
          <p:cNvSpPr/>
          <p:nvPr/>
        </p:nvSpPr>
        <p:spPr>
          <a:xfrm>
            <a:off x="952500" y="2300938"/>
            <a:ext cx="7741825" cy="312420"/>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D3A518"/>
                </a:solidFill>
                <a:latin typeface="Abadi" panose="020B0604020104020204" pitchFamily="34" charset="0"/>
                <a:ea typeface="Lato" pitchFamily="34" charset="-122"/>
                <a:cs typeface="Lato" pitchFamily="34" charset="-120"/>
              </a:rPr>
              <a:t>THE QUESTION AFTER AGENTIC AI</a:t>
            </a:r>
            <a:endParaRPr lang="en-US" sz="1800" dirty="0"/>
          </a:p>
        </p:txBody>
      </p:sp>
      <p:sp>
        <p:nvSpPr>
          <p:cNvPr id="4" name="Text 2"/>
          <p:cNvSpPr/>
          <p:nvPr/>
        </p:nvSpPr>
        <p:spPr>
          <a:xfrm>
            <a:off x="952500" y="2841958"/>
            <a:ext cx="7249163" cy="1354693"/>
          </a:xfrm>
          <a:prstGeom prst="rect">
            <a:avLst/>
          </a:prstGeom>
          <a:noFill/>
          <a:ln/>
        </p:spPr>
        <p:txBody>
          <a:bodyPr wrap="square" lIns="25400" tIns="25400" rIns="25400" bIns="25400" rtlCol="0" anchor="ctr">
            <a:normAutofit lnSpcReduction="10000"/>
          </a:bodyPr>
          <a:lstStyle/>
          <a:p>
            <a:pPr marL="0" indent="0" algn="l">
              <a:lnSpc>
                <a:spcPct val="90000"/>
              </a:lnSpc>
              <a:buNone/>
            </a:pPr>
            <a:r>
              <a:rPr lang="en-US" sz="4800" b="1" kern="0" spc="-72" dirty="0">
                <a:solidFill>
                  <a:srgbClr val="FFFFFF"/>
                </a:solidFill>
                <a:latin typeface="Abadi" panose="020B0604020104020204" pitchFamily="34" charset="0"/>
                <a:ea typeface="Lato" pitchFamily="34" charset="-122"/>
                <a:cs typeface="Lato" pitchFamily="34" charset="-120"/>
              </a:rPr>
              <a:t>We know how to build AI agents.</a:t>
            </a:r>
            <a:endParaRPr lang="en-US" sz="4800" dirty="0"/>
          </a:p>
        </p:txBody>
      </p:sp>
      <p:sp>
        <p:nvSpPr>
          <p:cNvPr id="5" name="Text 3"/>
          <p:cNvSpPr/>
          <p:nvPr/>
        </p:nvSpPr>
        <p:spPr>
          <a:xfrm>
            <a:off x="952500" y="4425251"/>
            <a:ext cx="7249163" cy="1354693"/>
          </a:xfrm>
          <a:prstGeom prst="rect">
            <a:avLst/>
          </a:prstGeom>
          <a:noFill/>
          <a:ln/>
        </p:spPr>
        <p:txBody>
          <a:bodyPr wrap="square" lIns="25400" tIns="25400" rIns="25400" bIns="25400" rtlCol="0" anchor="ctr">
            <a:normAutofit fontScale="92500" lnSpcReduction="10000"/>
          </a:bodyPr>
          <a:lstStyle/>
          <a:p>
            <a:r>
              <a:rPr lang="en-IN" sz="4800" dirty="0">
                <a:solidFill>
                  <a:srgbClr val="FFC000"/>
                </a:solidFill>
              </a:rPr>
              <a:t>The question is: do we know how to measure them?</a:t>
            </a:r>
            <a:endParaRPr lang="en-US" sz="4800" dirty="0">
              <a:solidFill>
                <a:srgbClr val="FFC000"/>
              </a:solidFill>
            </a:endParaRPr>
          </a:p>
        </p:txBody>
      </p:sp>
      <p:sp>
        <p:nvSpPr>
          <p:cNvPr id="6" name="Shape 4"/>
          <p:cNvSpPr/>
          <p:nvPr/>
        </p:nvSpPr>
        <p:spPr>
          <a:xfrm>
            <a:off x="952500" y="6199044"/>
            <a:ext cx="7038023" cy="9525"/>
          </a:xfrm>
          <a:prstGeom prst="rect">
            <a:avLst/>
          </a:prstGeom>
          <a:solidFill>
            <a:srgbClr val="FFFFFF">
              <a:alpha val="18000"/>
            </a:srgbClr>
          </a:solidFill>
          <a:ln/>
        </p:spPr>
        <p:txBody>
          <a:bodyPr/>
          <a:lstStyle/>
          <a:p>
            <a:endParaRPr lang="en-IN"/>
          </a:p>
        </p:txBody>
      </p:sp>
      <p:sp>
        <p:nvSpPr>
          <p:cNvPr id="7" name="Text 5"/>
          <p:cNvSpPr/>
          <p:nvPr/>
        </p:nvSpPr>
        <p:spPr>
          <a:xfrm>
            <a:off x="952500" y="6473364"/>
            <a:ext cx="7741825" cy="411480"/>
          </a:xfrm>
          <a:prstGeom prst="rect">
            <a:avLst/>
          </a:prstGeom>
          <a:noFill/>
          <a:ln/>
        </p:spPr>
        <p:txBody>
          <a:bodyPr wrap="square" lIns="25400" tIns="25400" rIns="25400" bIns="25400" rtlCol="0" anchor="ctr">
            <a:normAutofit/>
          </a:bodyPr>
          <a:lstStyle/>
          <a:p>
            <a:pPr marL="0" indent="0" algn="l">
              <a:lnSpc>
                <a:spcPct val="116667"/>
              </a:lnSpc>
              <a:buNone/>
            </a:pPr>
            <a:r>
              <a:rPr lang="en-US" sz="2100" dirty="0">
                <a:solidFill>
                  <a:srgbClr val="FFFFFF">
                    <a:alpha val="70000"/>
                  </a:srgbClr>
                </a:solidFill>
                <a:latin typeface="Abadi" panose="020B0604020104020204" pitchFamily="34" charset="0"/>
                <a:ea typeface="Lato" pitchFamily="34" charset="-122"/>
                <a:cs typeface="Lato" pitchFamily="34" charset="-120"/>
              </a:rPr>
              <a:t>Deployment tells us the agent exists.</a:t>
            </a:r>
            <a:endParaRPr lang="en-US" sz="2100" dirty="0"/>
          </a:p>
        </p:txBody>
      </p:sp>
      <p:sp>
        <p:nvSpPr>
          <p:cNvPr id="8" name="Text 6"/>
          <p:cNvSpPr/>
          <p:nvPr/>
        </p:nvSpPr>
        <p:spPr>
          <a:xfrm>
            <a:off x="952500" y="6980094"/>
            <a:ext cx="7800023" cy="784860"/>
          </a:xfrm>
          <a:prstGeom prst="rect">
            <a:avLst/>
          </a:prstGeom>
          <a:noFill/>
          <a:ln/>
        </p:spPr>
        <p:txBody>
          <a:bodyPr wrap="square" lIns="25400" tIns="25400" rIns="25400" bIns="25400" rtlCol="0" anchor="ctr">
            <a:normAutofit/>
          </a:bodyPr>
          <a:lstStyle/>
          <a:p>
            <a:pPr marL="0" indent="0" algn="l">
              <a:lnSpc>
                <a:spcPct val="116667"/>
              </a:lnSpc>
              <a:buNone/>
            </a:pPr>
            <a:r>
              <a:rPr lang="en-US" sz="2100" b="1" dirty="0">
                <a:solidFill>
                  <a:srgbClr val="FFFFFF"/>
                </a:solidFill>
                <a:latin typeface="Abadi" panose="020B0604020104020204" pitchFamily="34" charset="0"/>
                <a:ea typeface="Lato" pitchFamily="34" charset="-122"/>
                <a:cs typeface="Lato" pitchFamily="34" charset="-120"/>
              </a:rPr>
              <a:t>Measurement tells us whether it deserves more responsibility.</a:t>
            </a:r>
            <a:endParaRPr lang="en-US" sz="2100" dirty="0"/>
          </a:p>
        </p:txBody>
      </p:sp>
      <p:sp>
        <p:nvSpPr>
          <p:cNvPr id="9" name="Shape 7"/>
          <p:cNvSpPr/>
          <p:nvPr/>
        </p:nvSpPr>
        <p:spPr>
          <a:xfrm>
            <a:off x="8752523" y="197708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10" name="Text 8"/>
          <p:cNvSpPr/>
          <p:nvPr/>
        </p:nvSpPr>
        <p:spPr>
          <a:xfrm>
            <a:off x="8931593" y="219425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Finance Agent</a:t>
            </a:r>
            <a:endParaRPr lang="en-US" sz="1800" dirty="0"/>
          </a:p>
        </p:txBody>
      </p:sp>
      <p:sp>
        <p:nvSpPr>
          <p:cNvPr id="11" name="Text 9"/>
          <p:cNvSpPr/>
          <p:nvPr/>
        </p:nvSpPr>
        <p:spPr>
          <a:xfrm>
            <a:off x="8931593" y="261335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2" name="Shape 10"/>
          <p:cNvSpPr/>
          <p:nvPr/>
        </p:nvSpPr>
        <p:spPr>
          <a:xfrm>
            <a:off x="10941130" y="197708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13" name="Text 11"/>
          <p:cNvSpPr/>
          <p:nvPr/>
        </p:nvSpPr>
        <p:spPr>
          <a:xfrm>
            <a:off x="11120199" y="2194258"/>
            <a:ext cx="1735217" cy="60960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Procurement Agent</a:t>
            </a:r>
            <a:endParaRPr lang="en-US" sz="1800" dirty="0"/>
          </a:p>
        </p:txBody>
      </p:sp>
      <p:sp>
        <p:nvSpPr>
          <p:cNvPr id="14" name="Text 12"/>
          <p:cNvSpPr/>
          <p:nvPr/>
        </p:nvSpPr>
        <p:spPr>
          <a:xfrm>
            <a:off x="11120199" y="289910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5" name="Shape 13"/>
          <p:cNvSpPr/>
          <p:nvPr/>
        </p:nvSpPr>
        <p:spPr>
          <a:xfrm>
            <a:off x="13129737" y="197708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16" name="Text 14"/>
          <p:cNvSpPr/>
          <p:nvPr/>
        </p:nvSpPr>
        <p:spPr>
          <a:xfrm>
            <a:off x="13308806" y="219425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Service Agent</a:t>
            </a:r>
            <a:endParaRPr lang="en-US" sz="1800" dirty="0"/>
          </a:p>
        </p:txBody>
      </p:sp>
      <p:sp>
        <p:nvSpPr>
          <p:cNvPr id="17" name="Text 15"/>
          <p:cNvSpPr/>
          <p:nvPr/>
        </p:nvSpPr>
        <p:spPr>
          <a:xfrm>
            <a:off x="13308806" y="261335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18" name="Shape 16"/>
          <p:cNvSpPr/>
          <p:nvPr/>
        </p:nvSpPr>
        <p:spPr>
          <a:xfrm>
            <a:off x="15318343" y="197708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19" name="Text 17"/>
          <p:cNvSpPr/>
          <p:nvPr/>
        </p:nvSpPr>
        <p:spPr>
          <a:xfrm>
            <a:off x="15497413" y="219425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Cloud Agent</a:t>
            </a:r>
            <a:endParaRPr lang="en-US" sz="1800" dirty="0"/>
          </a:p>
        </p:txBody>
      </p:sp>
      <p:sp>
        <p:nvSpPr>
          <p:cNvPr id="20" name="Text 18"/>
          <p:cNvSpPr/>
          <p:nvPr/>
        </p:nvSpPr>
        <p:spPr>
          <a:xfrm>
            <a:off x="15497413" y="261335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21" name="Shape 19"/>
          <p:cNvSpPr/>
          <p:nvPr/>
        </p:nvSpPr>
        <p:spPr>
          <a:xfrm>
            <a:off x="8752523" y="367634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22" name="Text 20"/>
          <p:cNvSpPr/>
          <p:nvPr/>
        </p:nvSpPr>
        <p:spPr>
          <a:xfrm>
            <a:off x="8931593" y="389351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HR Agent</a:t>
            </a:r>
            <a:endParaRPr lang="en-US" sz="1800" dirty="0"/>
          </a:p>
        </p:txBody>
      </p:sp>
      <p:sp>
        <p:nvSpPr>
          <p:cNvPr id="23" name="Text 21"/>
          <p:cNvSpPr/>
          <p:nvPr/>
        </p:nvSpPr>
        <p:spPr>
          <a:xfrm>
            <a:off x="8931593" y="431261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24" name="Shape 22"/>
          <p:cNvSpPr/>
          <p:nvPr/>
        </p:nvSpPr>
        <p:spPr>
          <a:xfrm>
            <a:off x="10941130" y="367634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25" name="Text 23"/>
          <p:cNvSpPr/>
          <p:nvPr/>
        </p:nvSpPr>
        <p:spPr>
          <a:xfrm>
            <a:off x="11120199" y="3893518"/>
            <a:ext cx="1824919" cy="32385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Security Agent</a:t>
            </a:r>
            <a:endParaRPr lang="en-US" sz="1800" dirty="0"/>
          </a:p>
        </p:txBody>
      </p:sp>
      <p:sp>
        <p:nvSpPr>
          <p:cNvPr id="26" name="Text 24"/>
          <p:cNvSpPr/>
          <p:nvPr/>
        </p:nvSpPr>
        <p:spPr>
          <a:xfrm>
            <a:off x="11120199" y="431261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27" name="Shape 25"/>
          <p:cNvSpPr/>
          <p:nvPr/>
        </p:nvSpPr>
        <p:spPr>
          <a:xfrm>
            <a:off x="13129737" y="367634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28" name="Text 26"/>
          <p:cNvSpPr/>
          <p:nvPr/>
        </p:nvSpPr>
        <p:spPr>
          <a:xfrm>
            <a:off x="13308806" y="3893518"/>
            <a:ext cx="1735217" cy="60960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Supply Chain Agent</a:t>
            </a:r>
            <a:endParaRPr lang="en-US" sz="1800" dirty="0"/>
          </a:p>
        </p:txBody>
      </p:sp>
      <p:sp>
        <p:nvSpPr>
          <p:cNvPr id="29" name="Text 27"/>
          <p:cNvSpPr/>
          <p:nvPr/>
        </p:nvSpPr>
        <p:spPr>
          <a:xfrm>
            <a:off x="13308806" y="459836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30" name="Shape 28"/>
          <p:cNvSpPr/>
          <p:nvPr/>
        </p:nvSpPr>
        <p:spPr>
          <a:xfrm>
            <a:off x="15318343" y="3676348"/>
            <a:ext cx="2017157" cy="1527810"/>
          </a:xfrm>
          <a:prstGeom prst="roundRect">
            <a:avLst>
              <a:gd name="adj" fmla="val 3741"/>
            </a:avLst>
          </a:prstGeom>
          <a:solidFill>
            <a:srgbClr val="FFFFFF">
              <a:alpha val="4000"/>
            </a:srgbClr>
          </a:solidFill>
          <a:ln w="7620">
            <a:solidFill>
              <a:srgbClr val="FFFFFF">
                <a:alpha val="16000"/>
              </a:srgbClr>
            </a:solidFill>
            <a:prstDash val="solid"/>
          </a:ln>
        </p:spPr>
        <p:txBody>
          <a:bodyPr/>
          <a:lstStyle/>
          <a:p>
            <a:endParaRPr lang="en-IN"/>
          </a:p>
        </p:txBody>
      </p:sp>
      <p:sp>
        <p:nvSpPr>
          <p:cNvPr id="31" name="Text 29"/>
          <p:cNvSpPr/>
          <p:nvPr/>
        </p:nvSpPr>
        <p:spPr>
          <a:xfrm>
            <a:off x="15497413" y="3893518"/>
            <a:ext cx="1735217" cy="609600"/>
          </a:xfrm>
          <a:prstGeom prst="rect">
            <a:avLst/>
          </a:prstGeom>
          <a:noFill/>
          <a:ln/>
        </p:spPr>
        <p:txBody>
          <a:bodyPr wrap="square" lIns="25400" tIns="25400" rIns="25400" bIns="25400" rtlCol="0" anchor="t">
            <a:normAutofit lnSpcReduction="10000"/>
          </a:bodyPr>
          <a:lstStyle/>
          <a:p>
            <a:pPr marL="0" indent="0" algn="l">
              <a:lnSpc>
                <a:spcPct val="104167"/>
              </a:lnSpc>
              <a:buNone/>
            </a:pPr>
            <a:r>
              <a:rPr lang="en-US" sz="1800" b="1" dirty="0">
                <a:solidFill>
                  <a:srgbClr val="FFFFFF"/>
                </a:solidFill>
                <a:latin typeface="Abadi" panose="020B0604020104020204" pitchFamily="34" charset="0"/>
                <a:ea typeface="Lato" pitchFamily="34" charset="-122"/>
                <a:cs typeface="Lato" pitchFamily="34" charset="-120"/>
              </a:rPr>
              <a:t>Compliance Agent</a:t>
            </a:r>
            <a:endParaRPr lang="en-US" sz="1800" dirty="0"/>
          </a:p>
        </p:txBody>
      </p:sp>
      <p:sp>
        <p:nvSpPr>
          <p:cNvPr id="32" name="Text 30"/>
          <p:cNvSpPr/>
          <p:nvPr/>
        </p:nvSpPr>
        <p:spPr>
          <a:xfrm>
            <a:off x="15497413" y="4598368"/>
            <a:ext cx="1824919" cy="42672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D3A518"/>
                </a:solidFill>
                <a:latin typeface="Abadi" panose="020B0604020104020204" pitchFamily="34" charset="0"/>
                <a:ea typeface="Lato" pitchFamily="34" charset="-122"/>
                <a:cs typeface="Lato" pitchFamily="34" charset="-120"/>
              </a:rPr>
              <a:t>?</a:t>
            </a:r>
            <a:endParaRPr lang="en-US" sz="2550" dirty="0"/>
          </a:p>
        </p:txBody>
      </p:sp>
      <p:sp>
        <p:nvSpPr>
          <p:cNvPr id="33" name="Shape 31"/>
          <p:cNvSpPr/>
          <p:nvPr/>
        </p:nvSpPr>
        <p:spPr>
          <a:xfrm>
            <a:off x="8752523" y="5547058"/>
            <a:ext cx="1805940" cy="518160"/>
          </a:xfrm>
          <a:prstGeom prst="roundRect">
            <a:avLst>
              <a:gd name="adj" fmla="val 50000"/>
            </a:avLst>
          </a:prstGeom>
          <a:ln w="7620">
            <a:solidFill>
              <a:srgbClr val="D3A518"/>
            </a:solidFill>
            <a:prstDash val="solid"/>
          </a:ln>
        </p:spPr>
        <p:txBody>
          <a:bodyPr/>
          <a:lstStyle/>
          <a:p>
            <a:endParaRPr lang="en-IN"/>
          </a:p>
        </p:txBody>
      </p:sp>
      <p:sp>
        <p:nvSpPr>
          <p:cNvPr id="34" name="Text 32"/>
          <p:cNvSpPr/>
          <p:nvPr/>
        </p:nvSpPr>
        <p:spPr>
          <a:xfrm>
            <a:off x="9026843" y="5668978"/>
            <a:ext cx="1333500"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Performing?</a:t>
            </a:r>
            <a:endParaRPr lang="en-US" sz="1800" dirty="0"/>
          </a:p>
        </p:txBody>
      </p:sp>
      <p:sp>
        <p:nvSpPr>
          <p:cNvPr id="35" name="Shape 33"/>
          <p:cNvSpPr/>
          <p:nvPr/>
        </p:nvSpPr>
        <p:spPr>
          <a:xfrm>
            <a:off x="10710863" y="5547058"/>
            <a:ext cx="1344216" cy="518160"/>
          </a:xfrm>
          <a:prstGeom prst="roundRect">
            <a:avLst>
              <a:gd name="adj" fmla="val 50000"/>
            </a:avLst>
          </a:prstGeom>
          <a:ln w="7620">
            <a:solidFill>
              <a:srgbClr val="D3A518"/>
            </a:solidFill>
            <a:prstDash val="solid"/>
          </a:ln>
        </p:spPr>
        <p:txBody>
          <a:bodyPr/>
          <a:lstStyle/>
          <a:p>
            <a:endParaRPr lang="en-IN"/>
          </a:p>
        </p:txBody>
      </p:sp>
      <p:sp>
        <p:nvSpPr>
          <p:cNvPr id="36" name="Text 34"/>
          <p:cNvSpPr/>
          <p:nvPr/>
        </p:nvSpPr>
        <p:spPr>
          <a:xfrm>
            <a:off x="10985183" y="5668978"/>
            <a:ext cx="871776"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Secure?</a:t>
            </a:r>
            <a:endParaRPr lang="en-US" sz="1800" dirty="0"/>
          </a:p>
        </p:txBody>
      </p:sp>
      <p:sp>
        <p:nvSpPr>
          <p:cNvPr id="37" name="Shape 35"/>
          <p:cNvSpPr/>
          <p:nvPr/>
        </p:nvSpPr>
        <p:spPr>
          <a:xfrm>
            <a:off x="12207478" y="5547058"/>
            <a:ext cx="2049780" cy="518160"/>
          </a:xfrm>
          <a:prstGeom prst="roundRect">
            <a:avLst>
              <a:gd name="adj" fmla="val 50000"/>
            </a:avLst>
          </a:prstGeom>
          <a:ln w="7620">
            <a:solidFill>
              <a:srgbClr val="D3A518"/>
            </a:solidFill>
            <a:prstDash val="solid"/>
          </a:ln>
        </p:spPr>
        <p:txBody>
          <a:bodyPr/>
          <a:lstStyle/>
          <a:p>
            <a:endParaRPr lang="en-IN"/>
          </a:p>
        </p:txBody>
      </p:sp>
      <p:sp>
        <p:nvSpPr>
          <p:cNvPr id="38" name="Text 36"/>
          <p:cNvSpPr/>
          <p:nvPr/>
        </p:nvSpPr>
        <p:spPr>
          <a:xfrm>
            <a:off x="12481798" y="5668978"/>
            <a:ext cx="1577340"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Cost-efficient?</a:t>
            </a:r>
            <a:endParaRPr lang="en-US" sz="1800" dirty="0"/>
          </a:p>
        </p:txBody>
      </p:sp>
      <p:sp>
        <p:nvSpPr>
          <p:cNvPr id="39" name="Shape 37"/>
          <p:cNvSpPr/>
          <p:nvPr/>
        </p:nvSpPr>
        <p:spPr>
          <a:xfrm>
            <a:off x="14409659" y="5547058"/>
            <a:ext cx="1711762" cy="518160"/>
          </a:xfrm>
          <a:prstGeom prst="roundRect">
            <a:avLst>
              <a:gd name="adj" fmla="val 50000"/>
            </a:avLst>
          </a:prstGeom>
          <a:ln w="7620">
            <a:solidFill>
              <a:srgbClr val="D3A518"/>
            </a:solidFill>
            <a:prstDash val="solid"/>
          </a:ln>
        </p:spPr>
        <p:txBody>
          <a:bodyPr/>
          <a:lstStyle/>
          <a:p>
            <a:endParaRPr lang="en-IN"/>
          </a:p>
        </p:txBody>
      </p:sp>
      <p:sp>
        <p:nvSpPr>
          <p:cNvPr id="40" name="Text 38"/>
          <p:cNvSpPr/>
          <p:nvPr/>
        </p:nvSpPr>
        <p:spPr>
          <a:xfrm>
            <a:off x="14683979" y="5668978"/>
            <a:ext cx="1239322"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Compliant?</a:t>
            </a:r>
            <a:endParaRPr lang="en-US" sz="1800" dirty="0"/>
          </a:p>
        </p:txBody>
      </p:sp>
      <p:sp>
        <p:nvSpPr>
          <p:cNvPr id="41" name="Shape 39"/>
          <p:cNvSpPr/>
          <p:nvPr/>
        </p:nvSpPr>
        <p:spPr>
          <a:xfrm>
            <a:off x="8752523" y="6217618"/>
            <a:ext cx="1474708" cy="518160"/>
          </a:xfrm>
          <a:prstGeom prst="roundRect">
            <a:avLst>
              <a:gd name="adj" fmla="val 50000"/>
            </a:avLst>
          </a:prstGeom>
          <a:ln w="7620">
            <a:solidFill>
              <a:srgbClr val="D3A518"/>
            </a:solidFill>
            <a:prstDash val="solid"/>
          </a:ln>
        </p:spPr>
        <p:txBody>
          <a:bodyPr/>
          <a:lstStyle/>
          <a:p>
            <a:endParaRPr lang="en-IN"/>
          </a:p>
        </p:txBody>
      </p:sp>
      <p:sp>
        <p:nvSpPr>
          <p:cNvPr id="42" name="Text 40"/>
          <p:cNvSpPr/>
          <p:nvPr/>
        </p:nvSpPr>
        <p:spPr>
          <a:xfrm>
            <a:off x="9026843" y="6339538"/>
            <a:ext cx="1002268" cy="31242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Reliable?</a:t>
            </a:r>
            <a:endParaRPr lang="en-US" sz="1800" dirty="0"/>
          </a:p>
        </p:txBody>
      </p:sp>
      <p:sp>
        <p:nvSpPr>
          <p:cNvPr id="43" name="Shape 41"/>
          <p:cNvSpPr/>
          <p:nvPr/>
        </p:nvSpPr>
        <p:spPr>
          <a:xfrm>
            <a:off x="10379630" y="6217618"/>
            <a:ext cx="2108121" cy="518160"/>
          </a:xfrm>
          <a:prstGeom prst="roundRect">
            <a:avLst>
              <a:gd name="adj" fmla="val 50000"/>
            </a:avLst>
          </a:prstGeom>
          <a:ln w="7620">
            <a:solidFill>
              <a:srgbClr val="D3A518"/>
            </a:solidFill>
            <a:prstDash val="solid"/>
          </a:ln>
        </p:spPr>
        <p:txBody>
          <a:bodyPr/>
          <a:lstStyle/>
          <a:p>
            <a:endParaRPr lang="en-IN"/>
          </a:p>
        </p:txBody>
      </p:sp>
      <p:sp>
        <p:nvSpPr>
          <p:cNvPr id="44" name="Text 42"/>
          <p:cNvSpPr/>
          <p:nvPr/>
        </p:nvSpPr>
        <p:spPr>
          <a:xfrm>
            <a:off x="10653950" y="6339538"/>
            <a:ext cx="1635681" cy="312420"/>
          </a:xfrm>
          <a:prstGeom prst="rect">
            <a:avLst/>
          </a:prstGeom>
          <a:noFill/>
          <a:ln/>
        </p:spPr>
        <p:txBody>
          <a:bodyPr wrap="square" lIns="25400" tIns="25400" rIns="25400" bIns="25400" rtlCol="0" anchor="t">
            <a:normAutofit fontScale="92500"/>
          </a:bodyPr>
          <a:lstStyle/>
          <a:p>
            <a:pPr marL="0" indent="0" algn="l">
              <a:buNone/>
            </a:pPr>
            <a:r>
              <a:rPr lang="en-US" sz="1800" b="1" dirty="0">
                <a:solidFill>
                  <a:srgbClr val="D3A518"/>
                </a:solidFill>
                <a:latin typeface="Abadi" panose="020B0604020104020204" pitchFamily="34" charset="0"/>
                <a:ea typeface="Lato" pitchFamily="34" charset="-122"/>
                <a:cs typeface="Lato" pitchFamily="34" charset="-120"/>
              </a:rPr>
              <a:t>Ready to scale?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1096</TotalTime>
  <Words>1589</Words>
  <Application>Microsoft Office PowerPoint</Application>
  <PresentationFormat>Custom</PresentationFormat>
  <Paragraphs>289</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Abadi</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Vinay Vijesh (Intelligenz IT)</cp:lastModifiedBy>
  <cp:revision>20</cp:revision>
  <dcterms:created xsi:type="dcterms:W3CDTF">2026-09-17T13:53:28Z</dcterms:created>
  <dcterms:modified xsi:type="dcterms:W3CDTF">2026-09-22T09:11:57Z</dcterms:modified>
</cp:coreProperties>
</file>